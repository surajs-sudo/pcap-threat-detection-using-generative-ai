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31" name="Google Shape;33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Shape 15"/>
        <p:cNvGrpSpPr/>
        <p:nvPr/>
      </p:nvGrpSpPr>
      <p:grpSpPr>
        <a:xfrm>
          <a:off x="0" y="0"/>
          <a:ext cx="0" cy="0"/>
          <a:chOff x="0" y="0"/>
          <a:chExt cx="0" cy="0"/>
        </a:xfrm>
      </p:grpSpPr>
      <p:sp>
        <p:nvSpPr>
          <p:cNvPr id="16" name="Google Shape;16;p3"/>
          <p:cNvSpPr/>
          <p:nvPr/>
        </p:nvSpPr>
        <p:spPr>
          <a:xfrm>
            <a:off x="8412480" y="548640"/>
            <a:ext cx="45720" cy="45720"/>
          </a:xfrm>
          <a:prstGeom prst="ellipse">
            <a:avLst/>
          </a:prstGeom>
          <a:solidFill>
            <a:srgbClr val="35C6F4">
              <a:alpha val="12157"/>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9052560" y="1005840"/>
            <a:ext cx="64008" cy="64008"/>
          </a:xfrm>
          <a:prstGeom prst="ellipse">
            <a:avLst/>
          </a:prstGeom>
          <a:solidFill>
            <a:srgbClr val="35C6F4">
              <a:alpha val="12157"/>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8686800" y="1737360"/>
            <a:ext cx="36576" cy="36576"/>
          </a:xfrm>
          <a:prstGeom prst="ellipse">
            <a:avLst/>
          </a:prstGeom>
          <a:solidFill>
            <a:srgbClr val="35C6F4">
              <a:alpha val="12157"/>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9509760" y="1371600"/>
            <a:ext cx="54864" cy="54864"/>
          </a:xfrm>
          <a:prstGeom prst="ellipse">
            <a:avLst/>
          </a:prstGeom>
          <a:solidFill>
            <a:srgbClr val="35C6F4">
              <a:alpha val="12157"/>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10149840" y="2011680"/>
            <a:ext cx="45720" cy="45720"/>
          </a:xfrm>
          <a:prstGeom prst="ellipse">
            <a:avLst/>
          </a:prstGeom>
          <a:solidFill>
            <a:srgbClr val="35C6F4">
              <a:alpha val="12157"/>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9784080" y="2743200"/>
            <a:ext cx="64008" cy="64008"/>
          </a:xfrm>
          <a:prstGeom prst="ellipse">
            <a:avLst/>
          </a:prstGeom>
          <a:solidFill>
            <a:srgbClr val="35C6F4">
              <a:alpha val="12157"/>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10515600" y="3200400"/>
            <a:ext cx="36576" cy="36576"/>
          </a:xfrm>
          <a:prstGeom prst="ellipse">
            <a:avLst/>
          </a:prstGeom>
          <a:solidFill>
            <a:srgbClr val="35C6F4">
              <a:alpha val="12157"/>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11064240" y="2468880"/>
            <a:ext cx="45720" cy="45720"/>
          </a:xfrm>
          <a:prstGeom prst="ellipse">
            <a:avLst/>
          </a:prstGeom>
          <a:solidFill>
            <a:srgbClr val="35C6F4">
              <a:alpha val="12157"/>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8046720" y="5120640"/>
            <a:ext cx="45720" cy="45720"/>
          </a:xfrm>
          <a:prstGeom prst="ellipse">
            <a:avLst/>
          </a:prstGeom>
          <a:solidFill>
            <a:srgbClr val="35C6F4">
              <a:alpha val="12157"/>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8595360" y="5669280"/>
            <a:ext cx="54864" cy="54864"/>
          </a:xfrm>
          <a:prstGeom prst="ellipse">
            <a:avLst/>
          </a:prstGeom>
          <a:solidFill>
            <a:srgbClr val="35C6F4">
              <a:alpha val="12157"/>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7589520" y="6035040"/>
            <a:ext cx="36576" cy="36576"/>
          </a:xfrm>
          <a:prstGeom prst="ellipse">
            <a:avLst/>
          </a:prstGeom>
          <a:solidFill>
            <a:srgbClr val="35C6F4">
              <a:alpha val="12157"/>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 name="Google Shape;27;p3"/>
          <p:cNvCxnSpPr/>
          <p:nvPr/>
        </p:nvCxnSpPr>
        <p:spPr>
          <a:xfrm>
            <a:off x="8435340" y="571500"/>
            <a:ext cx="649224" cy="466344"/>
          </a:xfrm>
          <a:prstGeom prst="straightConnector1">
            <a:avLst/>
          </a:prstGeom>
          <a:noFill/>
          <a:ln w="9525" cap="flat" cmpd="sng">
            <a:solidFill>
              <a:srgbClr val="35C6F4">
                <a:alpha val="12157"/>
              </a:srgbClr>
            </a:solidFill>
            <a:prstDash val="solid"/>
            <a:round/>
            <a:headEnd type="none" w="sm" len="sm"/>
            <a:tailEnd type="none" w="sm" len="sm"/>
          </a:ln>
        </p:spPr>
      </p:cxnSp>
      <p:cxnSp>
        <p:nvCxnSpPr>
          <p:cNvPr id="28" name="Google Shape;28;p3"/>
          <p:cNvCxnSpPr/>
          <p:nvPr/>
        </p:nvCxnSpPr>
        <p:spPr>
          <a:xfrm flipH="1">
            <a:off x="8705088" y="1037844"/>
            <a:ext cx="379476" cy="717804"/>
          </a:xfrm>
          <a:prstGeom prst="straightConnector1">
            <a:avLst/>
          </a:prstGeom>
          <a:noFill/>
          <a:ln w="9525" cap="flat" cmpd="sng">
            <a:solidFill>
              <a:srgbClr val="35C6F4">
                <a:alpha val="12157"/>
              </a:srgbClr>
            </a:solidFill>
            <a:prstDash val="solid"/>
            <a:round/>
            <a:headEnd type="none" w="sm" len="sm"/>
            <a:tailEnd type="none" w="sm" len="sm"/>
          </a:ln>
        </p:spPr>
      </p:cxnSp>
      <p:cxnSp>
        <p:nvCxnSpPr>
          <p:cNvPr id="29" name="Google Shape;29;p3"/>
          <p:cNvCxnSpPr/>
          <p:nvPr/>
        </p:nvCxnSpPr>
        <p:spPr>
          <a:xfrm rot="10800000" flipH="1">
            <a:off x="8705088" y="1399032"/>
            <a:ext cx="832104" cy="356616"/>
          </a:xfrm>
          <a:prstGeom prst="straightConnector1">
            <a:avLst/>
          </a:prstGeom>
          <a:noFill/>
          <a:ln w="9525" cap="flat" cmpd="sng">
            <a:solidFill>
              <a:srgbClr val="35C6F4">
                <a:alpha val="12157"/>
              </a:srgbClr>
            </a:solidFill>
            <a:prstDash val="solid"/>
            <a:round/>
            <a:headEnd type="none" w="sm" len="sm"/>
            <a:tailEnd type="none" w="sm" len="sm"/>
          </a:ln>
        </p:spPr>
      </p:cxnSp>
      <p:cxnSp>
        <p:nvCxnSpPr>
          <p:cNvPr id="30" name="Google Shape;30;p3"/>
          <p:cNvCxnSpPr/>
          <p:nvPr/>
        </p:nvCxnSpPr>
        <p:spPr>
          <a:xfrm>
            <a:off x="9537192" y="1399032"/>
            <a:ext cx="635508" cy="635508"/>
          </a:xfrm>
          <a:prstGeom prst="straightConnector1">
            <a:avLst/>
          </a:prstGeom>
          <a:noFill/>
          <a:ln w="9525" cap="flat" cmpd="sng">
            <a:solidFill>
              <a:srgbClr val="35C6F4">
                <a:alpha val="12157"/>
              </a:srgbClr>
            </a:solidFill>
            <a:prstDash val="solid"/>
            <a:round/>
            <a:headEnd type="none" w="sm" len="sm"/>
            <a:tailEnd type="none" w="sm" len="sm"/>
          </a:ln>
        </p:spPr>
      </p:cxnSp>
      <p:cxnSp>
        <p:nvCxnSpPr>
          <p:cNvPr id="31" name="Google Shape;31;p3"/>
          <p:cNvCxnSpPr/>
          <p:nvPr/>
        </p:nvCxnSpPr>
        <p:spPr>
          <a:xfrm flipH="1">
            <a:off x="9816084" y="2034540"/>
            <a:ext cx="356616" cy="740664"/>
          </a:xfrm>
          <a:prstGeom prst="straightConnector1">
            <a:avLst/>
          </a:prstGeom>
          <a:noFill/>
          <a:ln w="9525" cap="flat" cmpd="sng">
            <a:solidFill>
              <a:srgbClr val="35C6F4">
                <a:alpha val="12157"/>
              </a:srgbClr>
            </a:solidFill>
            <a:prstDash val="solid"/>
            <a:round/>
            <a:headEnd type="none" w="sm" len="sm"/>
            <a:tailEnd type="none" w="sm" len="sm"/>
          </a:ln>
        </p:spPr>
      </p:cxnSp>
      <p:cxnSp>
        <p:nvCxnSpPr>
          <p:cNvPr id="32" name="Google Shape;32;p3"/>
          <p:cNvCxnSpPr/>
          <p:nvPr/>
        </p:nvCxnSpPr>
        <p:spPr>
          <a:xfrm>
            <a:off x="9816084" y="2775204"/>
            <a:ext cx="717804" cy="443484"/>
          </a:xfrm>
          <a:prstGeom prst="straightConnector1">
            <a:avLst/>
          </a:prstGeom>
          <a:noFill/>
          <a:ln w="9525" cap="flat" cmpd="sng">
            <a:solidFill>
              <a:srgbClr val="35C6F4">
                <a:alpha val="12157"/>
              </a:srgbClr>
            </a:solidFill>
            <a:prstDash val="solid"/>
            <a:round/>
            <a:headEnd type="none" w="sm" len="sm"/>
            <a:tailEnd type="none" w="sm" len="sm"/>
          </a:ln>
        </p:spPr>
      </p:cxnSp>
      <p:cxnSp>
        <p:nvCxnSpPr>
          <p:cNvPr id="33" name="Google Shape;33;p3"/>
          <p:cNvCxnSpPr/>
          <p:nvPr/>
        </p:nvCxnSpPr>
        <p:spPr>
          <a:xfrm rot="10800000" flipH="1">
            <a:off x="10533888" y="2491740"/>
            <a:ext cx="553212" cy="726948"/>
          </a:xfrm>
          <a:prstGeom prst="straightConnector1">
            <a:avLst/>
          </a:prstGeom>
          <a:noFill/>
          <a:ln w="9525" cap="flat" cmpd="sng">
            <a:solidFill>
              <a:srgbClr val="35C6F4">
                <a:alpha val="12157"/>
              </a:srgbClr>
            </a:solidFill>
            <a:prstDash val="solid"/>
            <a:round/>
            <a:headEnd type="none" w="sm" len="sm"/>
            <a:tailEnd type="none" w="sm" len="sm"/>
          </a:ln>
        </p:spPr>
      </p:cxnSp>
      <p:cxnSp>
        <p:nvCxnSpPr>
          <p:cNvPr id="34" name="Google Shape;34;p3"/>
          <p:cNvCxnSpPr/>
          <p:nvPr/>
        </p:nvCxnSpPr>
        <p:spPr>
          <a:xfrm flipH="1">
            <a:off x="8069580" y="2491740"/>
            <a:ext cx="3017520" cy="2651760"/>
          </a:xfrm>
          <a:prstGeom prst="straightConnector1">
            <a:avLst/>
          </a:prstGeom>
          <a:noFill/>
          <a:ln w="9525" cap="flat" cmpd="sng">
            <a:solidFill>
              <a:srgbClr val="35C6F4">
                <a:alpha val="12157"/>
              </a:srgbClr>
            </a:solidFill>
            <a:prstDash val="solid"/>
            <a:round/>
            <a:headEnd type="none" w="sm" len="sm"/>
            <a:tailEnd type="none" w="sm" len="sm"/>
          </a:ln>
        </p:spPr>
      </p:cxnSp>
      <p:cxnSp>
        <p:nvCxnSpPr>
          <p:cNvPr id="35" name="Google Shape;35;p3"/>
          <p:cNvCxnSpPr/>
          <p:nvPr/>
        </p:nvCxnSpPr>
        <p:spPr>
          <a:xfrm>
            <a:off x="8069580" y="5143500"/>
            <a:ext cx="553212" cy="553212"/>
          </a:xfrm>
          <a:prstGeom prst="straightConnector1">
            <a:avLst/>
          </a:prstGeom>
          <a:noFill/>
          <a:ln w="9525" cap="flat" cmpd="sng">
            <a:solidFill>
              <a:srgbClr val="35C6F4">
                <a:alpha val="12157"/>
              </a:srgbClr>
            </a:solidFill>
            <a:prstDash val="solid"/>
            <a:round/>
            <a:headEnd type="none" w="sm" len="sm"/>
            <a:tailEnd type="none" w="sm" len="sm"/>
          </a:ln>
        </p:spPr>
      </p:cxnSp>
      <p:cxnSp>
        <p:nvCxnSpPr>
          <p:cNvPr id="36" name="Google Shape;36;p3"/>
          <p:cNvCxnSpPr/>
          <p:nvPr/>
        </p:nvCxnSpPr>
        <p:spPr>
          <a:xfrm flipH="1">
            <a:off x="7607808" y="5696712"/>
            <a:ext cx="1014984" cy="356616"/>
          </a:xfrm>
          <a:prstGeom prst="straightConnector1">
            <a:avLst/>
          </a:prstGeom>
          <a:noFill/>
          <a:ln w="9525" cap="flat" cmpd="sng">
            <a:solidFill>
              <a:srgbClr val="35C6F4">
                <a:alpha val="12157"/>
              </a:srgbClr>
            </a:solidFill>
            <a:prstDash val="solid"/>
            <a:round/>
            <a:headEnd type="none" w="sm" len="sm"/>
            <a:tailEnd type="none" w="sm" len="sm"/>
          </a:ln>
        </p:spPr>
      </p:cxnSp>
      <p:sp>
        <p:nvSpPr>
          <p:cNvPr id="37" name="Google Shape;37;p3"/>
          <p:cNvSpPr txBox="1"/>
          <p:nvPr/>
        </p:nvSpPr>
        <p:spPr>
          <a:xfrm>
            <a:off x="548640" y="502920"/>
            <a:ext cx="7315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300"/>
              <a:buFont typeface="Calibri"/>
              <a:buNone/>
            </a:pPr>
            <a:r>
              <a:rPr lang="en-US" sz="1300" b="1" i="0" u="none" strike="noStrike" cap="none">
                <a:solidFill>
                  <a:srgbClr val="F5A623"/>
                </a:solidFill>
                <a:latin typeface="Calibri"/>
                <a:ea typeface="Calibri"/>
                <a:cs typeface="Calibri"/>
                <a:sym typeface="Calibri"/>
              </a:rPr>
              <a:t>CAPSTONE PROJECT 4</a:t>
            </a:r>
            <a:endParaRPr sz="1300" b="0" i="0" u="none" strike="noStrike" cap="none">
              <a:solidFill>
                <a:schemeClr val="dk1"/>
              </a:solidFill>
              <a:latin typeface="Calibri"/>
              <a:ea typeface="Calibri"/>
              <a:cs typeface="Calibri"/>
              <a:sym typeface="Calibri"/>
            </a:endParaRPr>
          </a:p>
        </p:txBody>
      </p:sp>
      <p:sp>
        <p:nvSpPr>
          <p:cNvPr id="38" name="Google Shape;38;p3"/>
          <p:cNvSpPr txBox="1"/>
          <p:nvPr/>
        </p:nvSpPr>
        <p:spPr>
          <a:xfrm>
            <a:off x="530352" y="960120"/>
            <a:ext cx="6858000" cy="1554480"/>
          </a:xfrm>
          <a:prstGeom prst="rect">
            <a:avLst/>
          </a:prstGeom>
          <a:noFill/>
          <a:ln>
            <a:noFill/>
          </a:ln>
        </p:spPr>
        <p:txBody>
          <a:bodyPr spcFirstLastPara="1" wrap="square" lIns="0" tIns="0" rIns="0" bIns="0" anchor="ctr" anchorCtr="0">
            <a:noAutofit/>
          </a:bodyPr>
          <a:lstStyle/>
          <a:p>
            <a:pPr marL="0" marR="0" lvl="0" indent="0" algn="l" rtl="0">
              <a:lnSpc>
                <a:spcPct val="115789"/>
              </a:lnSpc>
              <a:spcBef>
                <a:spcPts val="0"/>
              </a:spcBef>
              <a:spcAft>
                <a:spcPts val="0"/>
              </a:spcAft>
              <a:buClr>
                <a:srgbClr val="F4F7FB"/>
              </a:buClr>
              <a:buSzPts val="3800"/>
              <a:buFont typeface="Calibri"/>
              <a:buNone/>
            </a:pPr>
            <a:r>
              <a:rPr lang="en-US" sz="3800" b="1" i="0" u="none" strike="noStrike" cap="none">
                <a:solidFill>
                  <a:srgbClr val="F4F7FB"/>
                </a:solidFill>
                <a:latin typeface="Calibri"/>
                <a:ea typeface="Calibri"/>
                <a:cs typeface="Calibri"/>
                <a:sym typeface="Calibri"/>
              </a:rPr>
              <a:t>AI-Powered PCAP Analysis</a:t>
            </a:r>
            <a:endParaRPr sz="3800" b="0" i="0" u="none" strike="noStrike" cap="none">
              <a:solidFill>
                <a:schemeClr val="dk1"/>
              </a:solidFill>
              <a:latin typeface="Calibri"/>
              <a:ea typeface="Calibri"/>
              <a:cs typeface="Calibri"/>
              <a:sym typeface="Calibri"/>
            </a:endParaRPr>
          </a:p>
          <a:p>
            <a:pPr marL="0" marR="0" lvl="0" indent="0" algn="l" rtl="0">
              <a:lnSpc>
                <a:spcPct val="115789"/>
              </a:lnSpc>
              <a:spcBef>
                <a:spcPts val="0"/>
              </a:spcBef>
              <a:spcAft>
                <a:spcPts val="0"/>
              </a:spcAft>
              <a:buClr>
                <a:srgbClr val="F4F7FB"/>
              </a:buClr>
              <a:buSzPts val="3800"/>
              <a:buFont typeface="Calibri"/>
              <a:buNone/>
            </a:pPr>
            <a:r>
              <a:rPr lang="en-US" sz="3800" b="1" i="0" u="none" strike="noStrike" cap="none">
                <a:solidFill>
                  <a:srgbClr val="F4F7FB"/>
                </a:solidFill>
                <a:latin typeface="Calibri"/>
                <a:ea typeface="Calibri"/>
                <a:cs typeface="Calibri"/>
                <a:sym typeface="Calibri"/>
              </a:rPr>
              <a:t>&amp; Threat Detection</a:t>
            </a:r>
            <a:endParaRPr sz="3800" b="0" i="0" u="none" strike="noStrike" cap="none">
              <a:solidFill>
                <a:schemeClr val="dk1"/>
              </a:solidFill>
              <a:latin typeface="Calibri"/>
              <a:ea typeface="Calibri"/>
              <a:cs typeface="Calibri"/>
              <a:sym typeface="Calibri"/>
            </a:endParaRPr>
          </a:p>
        </p:txBody>
      </p:sp>
      <p:sp>
        <p:nvSpPr>
          <p:cNvPr id="39" name="Google Shape;39;p3"/>
          <p:cNvSpPr txBox="1"/>
          <p:nvPr/>
        </p:nvSpPr>
        <p:spPr>
          <a:xfrm>
            <a:off x="548640" y="2606040"/>
            <a:ext cx="6537960" cy="1234440"/>
          </a:xfrm>
          <a:prstGeom prst="rect">
            <a:avLst/>
          </a:prstGeom>
          <a:noFill/>
          <a:ln>
            <a:noFill/>
          </a:ln>
        </p:spPr>
        <p:txBody>
          <a:bodyPr spcFirstLastPara="1" wrap="square" lIns="0" tIns="0" rIns="0" bIns="0" anchor="ctr" anchorCtr="0">
            <a:noAutofit/>
          </a:bodyPr>
          <a:lstStyle/>
          <a:p>
            <a:pPr marL="0" marR="0" lvl="0" indent="0" algn="l" rtl="0">
              <a:lnSpc>
                <a:spcPct val="140740"/>
              </a:lnSpc>
              <a:spcBef>
                <a:spcPts val="0"/>
              </a:spcBef>
              <a:spcAft>
                <a:spcPts val="0"/>
              </a:spcAft>
              <a:buClr>
                <a:srgbClr val="94A3BE"/>
              </a:buClr>
              <a:buSzPts val="1350"/>
              <a:buFont typeface="Calibri"/>
              <a:buNone/>
            </a:pPr>
            <a:r>
              <a:rPr lang="en-US" sz="1350" b="0" i="0" u="none" strike="noStrike" cap="none">
                <a:solidFill>
                  <a:srgbClr val="94A3BE"/>
                </a:solidFill>
                <a:latin typeface="Calibri"/>
                <a:ea typeface="Calibri"/>
                <a:cs typeface="Calibri"/>
                <a:sym typeface="Calibri"/>
              </a:rPr>
              <a:t>An AI-assisted cybersecurity investigation approach that transforms PCAP network traffic into structured data, identifies investigation-relevant patterns, validates findings statistically, develops detection rules, and supports evidence-based incident response.</a:t>
            </a:r>
            <a:endParaRPr sz="1350" b="0" i="0" u="none" strike="noStrike" cap="none">
              <a:solidFill>
                <a:schemeClr val="dk1"/>
              </a:solidFill>
              <a:latin typeface="Calibri"/>
              <a:ea typeface="Calibri"/>
              <a:cs typeface="Calibri"/>
              <a:sym typeface="Calibri"/>
            </a:endParaRPr>
          </a:p>
        </p:txBody>
      </p:sp>
      <p:sp>
        <p:nvSpPr>
          <p:cNvPr id="40" name="Google Shape;40;p3"/>
          <p:cNvSpPr/>
          <p:nvPr/>
        </p:nvSpPr>
        <p:spPr>
          <a:xfrm>
            <a:off x="548640" y="3977640"/>
            <a:ext cx="6537960" cy="18288"/>
          </a:xfrm>
          <a:prstGeom prst="rect">
            <a:avLst/>
          </a:prstGeom>
          <a:solidFill>
            <a:srgbClr val="1A25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txBox="1"/>
          <p:nvPr/>
        </p:nvSpPr>
        <p:spPr>
          <a:xfrm>
            <a:off x="548640" y="4114800"/>
            <a:ext cx="6400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050"/>
              <a:buFont typeface="Calibri"/>
              <a:buNone/>
            </a:pPr>
            <a:r>
              <a:rPr lang="en-US" sz="1050" b="1" i="0" u="none" strike="noStrike" cap="none">
                <a:solidFill>
                  <a:srgbClr val="35C6F4"/>
                </a:solidFill>
                <a:latin typeface="Calibri"/>
                <a:ea typeface="Calibri"/>
                <a:cs typeface="Calibri"/>
                <a:sym typeface="Calibri"/>
              </a:rPr>
              <a:t>TOOLS &amp; TECHNOLOGIES</a:t>
            </a:r>
            <a:endParaRPr sz="1050" b="0" i="0" u="none" strike="noStrike" cap="none">
              <a:solidFill>
                <a:schemeClr val="dk1"/>
              </a:solidFill>
              <a:latin typeface="Calibri"/>
              <a:ea typeface="Calibri"/>
              <a:cs typeface="Calibri"/>
              <a:sym typeface="Calibri"/>
            </a:endParaRPr>
          </a:p>
        </p:txBody>
      </p:sp>
      <p:sp>
        <p:nvSpPr>
          <p:cNvPr id="42" name="Google Shape;42;p3"/>
          <p:cNvSpPr txBox="1"/>
          <p:nvPr/>
        </p:nvSpPr>
        <p:spPr>
          <a:xfrm>
            <a:off x="548640" y="4407408"/>
            <a:ext cx="6583680" cy="502920"/>
          </a:xfrm>
          <a:prstGeom prst="rect">
            <a:avLst/>
          </a:prstGeom>
          <a:noFill/>
          <a:ln>
            <a:noFill/>
          </a:ln>
        </p:spPr>
        <p:txBody>
          <a:bodyPr spcFirstLastPara="1" wrap="square" lIns="0" tIns="0" rIns="0" bIns="0" anchor="ctr" anchorCtr="0">
            <a:noAutofit/>
          </a:bodyPr>
          <a:lstStyle/>
          <a:p>
            <a:pPr marL="0" marR="0" lvl="0" indent="0" algn="l" rtl="0">
              <a:lnSpc>
                <a:spcPct val="139130"/>
              </a:lnSpc>
              <a:spcBef>
                <a:spcPts val="0"/>
              </a:spcBef>
              <a:spcAft>
                <a:spcPts val="0"/>
              </a:spcAft>
              <a:buClr>
                <a:srgbClr val="F4F7FB"/>
              </a:buClr>
              <a:buSzPts val="1150"/>
              <a:buFont typeface="Courier New"/>
              <a:buNone/>
            </a:pPr>
            <a:r>
              <a:rPr lang="en-US" sz="1150" b="0" i="0" u="none" strike="noStrike" cap="none">
                <a:solidFill>
                  <a:srgbClr val="F4F7FB"/>
                </a:solidFill>
                <a:latin typeface="Courier New"/>
                <a:ea typeface="Courier New"/>
                <a:cs typeface="Courier New"/>
                <a:sym typeface="Courier New"/>
              </a:rPr>
              <a:t>Wireshark  •  TShark  •  Python  •  Excel  •  Generative AI  •  Statistical Analysis  •  Data Visualization</a:t>
            </a:r>
            <a:endParaRPr sz="1150" b="0" i="0" u="none" strike="noStrike" cap="none">
              <a:solidFill>
                <a:schemeClr val="dk1"/>
              </a:solidFill>
              <a:latin typeface="Calibri"/>
              <a:ea typeface="Calibri"/>
              <a:cs typeface="Calibri"/>
              <a:sym typeface="Calibri"/>
            </a:endParaRPr>
          </a:p>
        </p:txBody>
      </p:sp>
      <p:sp>
        <p:nvSpPr>
          <p:cNvPr id="43" name="Google Shape;43;p3"/>
          <p:cNvSpPr txBox="1"/>
          <p:nvPr/>
        </p:nvSpPr>
        <p:spPr>
          <a:xfrm>
            <a:off x="548640" y="6263640"/>
            <a:ext cx="36576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E"/>
              </a:buClr>
              <a:buSzPts val="1250"/>
              <a:buFont typeface="Calibri"/>
              <a:buNone/>
            </a:pPr>
            <a:r>
              <a:rPr lang="en-US" sz="1250" b="0" i="1" u="none" strike="noStrike" cap="none">
                <a:solidFill>
                  <a:srgbClr val="94A3BE"/>
                </a:solidFill>
                <a:latin typeface="Calibri"/>
                <a:ea typeface="Calibri"/>
                <a:cs typeface="Calibri"/>
                <a:sym typeface="Calibri"/>
              </a:rPr>
              <a:t>Analyst: Suraj Somkuwar</a:t>
            </a:r>
            <a:endParaRPr sz="1250" b="0" i="0" u="none" strike="noStrike" cap="none">
              <a:solidFill>
                <a:schemeClr val="dk1"/>
              </a:solidFill>
              <a:latin typeface="Calibri"/>
              <a:ea typeface="Calibri"/>
              <a:cs typeface="Calibri"/>
              <a:sym typeface="Calibri"/>
            </a:endParaRPr>
          </a:p>
        </p:txBody>
      </p:sp>
      <p:sp>
        <p:nvSpPr>
          <p:cNvPr id="44" name="Google Shape;44;p3"/>
          <p:cNvSpPr/>
          <p:nvPr/>
        </p:nvSpPr>
        <p:spPr>
          <a:xfrm>
            <a:off x="7635240" y="1234440"/>
            <a:ext cx="4023360" cy="1325880"/>
          </a:xfrm>
          <a:prstGeom prst="roundRect">
            <a:avLst>
              <a:gd name="adj" fmla="val 6207"/>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txBox="1"/>
          <p:nvPr/>
        </p:nvSpPr>
        <p:spPr>
          <a:xfrm>
            <a:off x="7909560" y="1399032"/>
            <a:ext cx="3474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050"/>
              <a:buFont typeface="Calibri"/>
              <a:buNone/>
            </a:pPr>
            <a:r>
              <a:rPr lang="en-US" sz="1050" b="1" i="0" u="none" strike="noStrike" cap="none">
                <a:solidFill>
                  <a:srgbClr val="35C6F4"/>
                </a:solidFill>
                <a:latin typeface="Calibri"/>
                <a:ea typeface="Calibri"/>
                <a:cs typeface="Calibri"/>
                <a:sym typeface="Calibri"/>
              </a:rPr>
              <a:t>ORIGINAL PCAP</a:t>
            </a:r>
            <a:endParaRPr sz="1050" b="0" i="0" u="none" strike="noStrike" cap="none">
              <a:solidFill>
                <a:schemeClr val="dk1"/>
              </a:solidFill>
              <a:latin typeface="Calibri"/>
              <a:ea typeface="Calibri"/>
              <a:cs typeface="Calibri"/>
              <a:sym typeface="Calibri"/>
            </a:endParaRPr>
          </a:p>
        </p:txBody>
      </p:sp>
      <p:sp>
        <p:nvSpPr>
          <p:cNvPr id="46" name="Google Shape;46;p3"/>
          <p:cNvSpPr txBox="1"/>
          <p:nvPr/>
        </p:nvSpPr>
        <p:spPr>
          <a:xfrm>
            <a:off x="7909560" y="1691640"/>
            <a:ext cx="34747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500"/>
              <a:buFont typeface="Courier New"/>
              <a:buNone/>
            </a:pPr>
            <a:r>
              <a:rPr lang="en-US" sz="1500" b="1" i="0" u="none" strike="noStrike" cap="none">
                <a:solidFill>
                  <a:srgbClr val="F4F7FB"/>
                </a:solidFill>
                <a:latin typeface="Courier New"/>
                <a:ea typeface="Courier New"/>
                <a:cs typeface="Courier New"/>
                <a:sym typeface="Courier New"/>
              </a:rPr>
              <a:t>2021-08-16-formbook.pcap</a:t>
            </a:r>
            <a:endParaRPr sz="1500" b="0" i="0" u="none" strike="noStrike" cap="none">
              <a:solidFill>
                <a:schemeClr val="dk1"/>
              </a:solidFill>
              <a:latin typeface="Calibri"/>
              <a:ea typeface="Calibri"/>
              <a:cs typeface="Calibri"/>
              <a:sym typeface="Calibri"/>
            </a:endParaRPr>
          </a:p>
        </p:txBody>
      </p:sp>
      <p:sp>
        <p:nvSpPr>
          <p:cNvPr id="47" name="Google Shape;47;p3"/>
          <p:cNvSpPr txBox="1"/>
          <p:nvPr/>
        </p:nvSpPr>
        <p:spPr>
          <a:xfrm>
            <a:off x="7909560" y="2121408"/>
            <a:ext cx="34747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E"/>
              </a:buClr>
              <a:buSzPts val="1200"/>
              <a:buFont typeface="Calibri"/>
              <a:buNone/>
            </a:pPr>
            <a:r>
              <a:rPr lang="en-US" sz="1200" b="0" i="0" u="none" strike="noStrike" cap="none">
                <a:solidFill>
                  <a:srgbClr val="94A3BE"/>
                </a:solidFill>
                <a:latin typeface="Calibri"/>
                <a:ea typeface="Calibri"/>
                <a:cs typeface="Calibri"/>
                <a:sym typeface="Calibri"/>
              </a:rPr>
              <a:t>3,588 packets / records</a:t>
            </a:r>
            <a:endParaRPr sz="1200" b="0" i="0" u="none" strike="noStrike" cap="none">
              <a:solidFill>
                <a:schemeClr val="dk1"/>
              </a:solidFill>
              <a:latin typeface="Calibri"/>
              <a:ea typeface="Calibri"/>
              <a:cs typeface="Calibri"/>
              <a:sym typeface="Calibri"/>
            </a:endParaRPr>
          </a:p>
        </p:txBody>
      </p:sp>
      <p:sp>
        <p:nvSpPr>
          <p:cNvPr id="48" name="Google Shape;48;p3"/>
          <p:cNvSpPr/>
          <p:nvPr/>
        </p:nvSpPr>
        <p:spPr>
          <a:xfrm>
            <a:off x="9418320" y="2633472"/>
            <a:ext cx="457200" cy="457200"/>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txBox="1"/>
          <p:nvPr/>
        </p:nvSpPr>
        <p:spPr>
          <a:xfrm>
            <a:off x="9418320" y="2624328"/>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2200"/>
              <a:buFont typeface="Calibri"/>
              <a:buNone/>
            </a:pPr>
            <a:r>
              <a:rPr lang="en-US" sz="2200" b="1" i="0" u="none" strike="noStrike" cap="none">
                <a:solidFill>
                  <a:srgbClr val="35C6F4"/>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50" name="Google Shape;50;p3"/>
          <p:cNvSpPr/>
          <p:nvPr/>
        </p:nvSpPr>
        <p:spPr>
          <a:xfrm>
            <a:off x="7635250" y="3182250"/>
            <a:ext cx="4023300" cy="1326000"/>
          </a:xfrm>
          <a:prstGeom prst="roundRect">
            <a:avLst>
              <a:gd name="adj" fmla="val 5806"/>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txBox="1"/>
          <p:nvPr/>
        </p:nvSpPr>
        <p:spPr>
          <a:xfrm>
            <a:off x="7909560" y="3255264"/>
            <a:ext cx="3474720" cy="411480"/>
          </a:xfrm>
          <a:prstGeom prst="rect">
            <a:avLst/>
          </a:prstGeom>
          <a:noFill/>
          <a:ln>
            <a:noFill/>
          </a:ln>
        </p:spPr>
        <p:txBody>
          <a:bodyPr spcFirstLastPara="1" wrap="square" lIns="0" tIns="0" rIns="0" bIns="0" anchor="ctr" anchorCtr="0">
            <a:noAutofit/>
          </a:bodyPr>
          <a:lstStyle/>
          <a:p>
            <a:pPr marL="0" marR="0" lvl="0" indent="0" algn="l" rtl="0">
              <a:lnSpc>
                <a:spcPct val="123809"/>
              </a:lnSpc>
              <a:spcBef>
                <a:spcPts val="0"/>
              </a:spcBef>
              <a:spcAft>
                <a:spcPts val="0"/>
              </a:spcAft>
              <a:buClr>
                <a:srgbClr val="35C6F4"/>
              </a:buClr>
              <a:buSzPts val="1050"/>
              <a:buFont typeface="Calibri"/>
              <a:buNone/>
            </a:pPr>
            <a:r>
              <a:rPr lang="en-US" sz="1050" b="1" i="0" u="none" strike="noStrike" cap="none">
                <a:solidFill>
                  <a:srgbClr val="35C6F4"/>
                </a:solidFill>
                <a:latin typeface="Calibri"/>
                <a:ea typeface="Calibri"/>
                <a:cs typeface="Calibri"/>
                <a:sym typeface="Calibri"/>
              </a:rPr>
              <a:t>COMBINED PCAP-DERIVED TRAFFIC CSV</a:t>
            </a:r>
            <a:endParaRPr sz="1050" b="0" i="0" u="none" strike="noStrike" cap="none">
              <a:solidFill>
                <a:schemeClr val="dk1"/>
              </a:solidFill>
              <a:latin typeface="Calibri"/>
              <a:ea typeface="Calibri"/>
              <a:cs typeface="Calibri"/>
              <a:sym typeface="Calibri"/>
            </a:endParaRPr>
          </a:p>
        </p:txBody>
      </p:sp>
      <p:sp>
        <p:nvSpPr>
          <p:cNvPr id="52" name="Google Shape;52;p3"/>
          <p:cNvSpPr txBox="1"/>
          <p:nvPr/>
        </p:nvSpPr>
        <p:spPr>
          <a:xfrm>
            <a:off x="7909560" y="3730752"/>
            <a:ext cx="34747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500"/>
              <a:buFont typeface="Courier New"/>
              <a:buNone/>
            </a:pPr>
            <a:r>
              <a:rPr lang="en-US" sz="1500" b="1" i="0" u="none" strike="noStrike" cap="none">
                <a:solidFill>
                  <a:srgbClr val="F4F7FB"/>
                </a:solidFill>
                <a:latin typeface="Courier New"/>
                <a:ea typeface="Courier New"/>
                <a:cs typeface="Courier New"/>
                <a:sym typeface="Courier New"/>
              </a:rPr>
              <a:t>Combined_Traffic_Data.csv</a:t>
            </a:r>
            <a:endParaRPr sz="1500" b="0" i="0" u="none" strike="noStrike" cap="none">
              <a:solidFill>
                <a:schemeClr val="dk1"/>
              </a:solidFill>
              <a:latin typeface="Calibri"/>
              <a:ea typeface="Calibri"/>
              <a:cs typeface="Calibri"/>
              <a:sym typeface="Calibri"/>
            </a:endParaRPr>
          </a:p>
        </p:txBody>
      </p:sp>
      <p:sp>
        <p:nvSpPr>
          <p:cNvPr id="53" name="Google Shape;53;p3"/>
          <p:cNvSpPr txBox="1"/>
          <p:nvPr/>
        </p:nvSpPr>
        <p:spPr>
          <a:xfrm>
            <a:off x="7909560" y="4160520"/>
            <a:ext cx="34747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E"/>
              </a:buClr>
              <a:buSzPts val="1200"/>
              <a:buFont typeface="Calibri"/>
              <a:buNone/>
            </a:pPr>
            <a:r>
              <a:rPr lang="en-US" sz="1200" b="0" i="0" u="none" strike="noStrike" cap="none">
                <a:solidFill>
                  <a:srgbClr val="94A3BE"/>
                </a:solidFill>
                <a:latin typeface="Calibri"/>
                <a:ea typeface="Calibri"/>
                <a:cs typeface="Calibri"/>
                <a:sym typeface="Calibri"/>
              </a:rPr>
              <a:t>3,588 traffic records</a:t>
            </a:r>
            <a:endParaRPr sz="1200" b="0" i="0" u="none" strike="noStrike" cap="none">
              <a:solidFill>
                <a:schemeClr val="dk1"/>
              </a:solidFill>
              <a:latin typeface="Calibri"/>
              <a:ea typeface="Calibri"/>
              <a:cs typeface="Calibri"/>
              <a:sym typeface="Calibri"/>
            </a:endParaRPr>
          </a:p>
        </p:txBody>
      </p:sp>
      <p:sp>
        <p:nvSpPr>
          <p:cNvPr id="54" name="Google Shape;54;p3"/>
          <p:cNvSpPr/>
          <p:nvPr/>
        </p:nvSpPr>
        <p:spPr>
          <a:xfrm>
            <a:off x="7635240" y="4892040"/>
            <a:ext cx="4023360" cy="1051560"/>
          </a:xfrm>
          <a:prstGeom prst="roundRect">
            <a:avLst>
              <a:gd name="adj" fmla="val 7826"/>
            </a:avLst>
          </a:prstGeom>
          <a:solidFill>
            <a:srgbClr val="0E1626"/>
          </a:solidFill>
          <a:ln w="9525" cap="flat" cmpd="sng">
            <a:solidFill>
              <a:srgbClr val="1A25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txBox="1"/>
          <p:nvPr/>
        </p:nvSpPr>
        <p:spPr>
          <a:xfrm>
            <a:off x="7909560" y="5029200"/>
            <a:ext cx="34747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950"/>
              <a:buFont typeface="Calibri"/>
              <a:buNone/>
            </a:pPr>
            <a:r>
              <a:rPr lang="en-US" sz="950" b="1" i="0" u="none" strike="noStrike" cap="none">
                <a:solidFill>
                  <a:srgbClr val="F5A623"/>
                </a:solidFill>
                <a:latin typeface="Calibri"/>
                <a:ea typeface="Calibri"/>
                <a:cs typeface="Calibri"/>
                <a:sym typeface="Calibri"/>
              </a:rPr>
              <a:t>PROJECT FOCUS</a:t>
            </a:r>
            <a:endParaRPr sz="950" b="0" i="0" u="none" strike="noStrike" cap="none">
              <a:solidFill>
                <a:schemeClr val="dk1"/>
              </a:solidFill>
              <a:latin typeface="Calibri"/>
              <a:ea typeface="Calibri"/>
              <a:cs typeface="Calibri"/>
              <a:sym typeface="Calibri"/>
            </a:endParaRPr>
          </a:p>
        </p:txBody>
      </p:sp>
      <p:sp>
        <p:nvSpPr>
          <p:cNvPr id="56" name="Google Shape;56;p3"/>
          <p:cNvSpPr txBox="1"/>
          <p:nvPr/>
        </p:nvSpPr>
        <p:spPr>
          <a:xfrm>
            <a:off x="7909560" y="5285232"/>
            <a:ext cx="3474720" cy="594360"/>
          </a:xfrm>
          <a:prstGeom prst="rect">
            <a:avLst/>
          </a:prstGeom>
          <a:noFill/>
          <a:ln>
            <a:noFill/>
          </a:ln>
        </p:spPr>
        <p:txBody>
          <a:bodyPr spcFirstLastPara="1" wrap="square" lIns="0" tIns="0" rIns="0" bIns="0" anchor="ctr" anchorCtr="0">
            <a:noAutofit/>
          </a:bodyPr>
          <a:lstStyle/>
          <a:p>
            <a:pPr marL="0" marR="0" lvl="0" indent="0" algn="l" rtl="0">
              <a:lnSpc>
                <a:spcPct val="127272"/>
              </a:lnSpc>
              <a:spcBef>
                <a:spcPts val="0"/>
              </a:spcBef>
              <a:spcAft>
                <a:spcPts val="0"/>
              </a:spcAft>
              <a:buClr>
                <a:srgbClr val="94A3BE"/>
              </a:buClr>
              <a:buSzPts val="1100"/>
              <a:buFont typeface="Calibri"/>
              <a:buNone/>
            </a:pPr>
            <a:r>
              <a:rPr lang="en-US" sz="1100" b="0" i="1" u="none" strike="noStrike" cap="none">
                <a:solidFill>
                  <a:srgbClr val="94A3BE"/>
                </a:solidFill>
                <a:latin typeface="Calibri"/>
                <a:ea typeface="Calibri"/>
                <a:cs typeface="Calibri"/>
                <a:sym typeface="Calibri"/>
              </a:rPr>
              <a:t>Evidence-based investigation: AI-assisted analysis, independently verified before any security conclusion.</a:t>
            </a:r>
            <a:endParaRPr sz="11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Shape 61"/>
        <p:cNvGrpSpPr/>
        <p:nvPr/>
      </p:nvGrpSpPr>
      <p:grpSpPr>
        <a:xfrm>
          <a:off x="0" y="0"/>
          <a:ext cx="0" cy="0"/>
          <a:chOff x="0" y="0"/>
          <a:chExt cx="0" cy="0"/>
        </a:xfrm>
      </p:grpSpPr>
      <p:sp>
        <p:nvSpPr>
          <p:cNvPr id="62" name="Google Shape;62;p4"/>
          <p:cNvSpPr txBox="1"/>
          <p:nvPr/>
        </p:nvSpPr>
        <p:spPr>
          <a:xfrm>
            <a:off x="548640" y="365760"/>
            <a:ext cx="1106424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3000"/>
              <a:buFont typeface="Calibri"/>
              <a:buNone/>
            </a:pPr>
            <a:r>
              <a:rPr lang="en-US" sz="3000" b="1" i="0" u="none" strike="noStrike" cap="none">
                <a:solidFill>
                  <a:srgbClr val="F4F7FB"/>
                </a:solidFill>
                <a:latin typeface="Calibri"/>
                <a:ea typeface="Calibri"/>
                <a:cs typeface="Calibri"/>
                <a:sym typeface="Calibri"/>
              </a:rPr>
              <a:t>Investigation Overview</a:t>
            </a:r>
            <a:endParaRPr sz="3000" b="0" i="0" u="none" strike="noStrike" cap="none">
              <a:solidFill>
                <a:schemeClr val="dk1"/>
              </a:solidFill>
              <a:latin typeface="Calibri"/>
              <a:ea typeface="Calibri"/>
              <a:cs typeface="Calibri"/>
              <a:sym typeface="Calibri"/>
            </a:endParaRPr>
          </a:p>
        </p:txBody>
      </p:sp>
      <p:sp>
        <p:nvSpPr>
          <p:cNvPr id="63" name="Google Shape;63;p4"/>
          <p:cNvSpPr txBox="1"/>
          <p:nvPr/>
        </p:nvSpPr>
        <p:spPr>
          <a:xfrm>
            <a:off x="548640" y="1170432"/>
            <a:ext cx="11064240" cy="1234440"/>
          </a:xfrm>
          <a:prstGeom prst="rect">
            <a:avLst/>
          </a:prstGeom>
          <a:noFill/>
          <a:ln>
            <a:noFill/>
          </a:ln>
        </p:spPr>
        <p:txBody>
          <a:bodyPr spcFirstLastPara="1" wrap="square" lIns="0" tIns="0" rIns="0" bIns="0" anchor="ctr" anchorCtr="0">
            <a:noAutofit/>
          </a:bodyPr>
          <a:lstStyle/>
          <a:p>
            <a:pPr marL="0" marR="0" lvl="0" indent="0" algn="l" rtl="0">
              <a:lnSpc>
                <a:spcPct val="144827"/>
              </a:lnSpc>
              <a:spcBef>
                <a:spcPts val="0"/>
              </a:spcBef>
              <a:spcAft>
                <a:spcPts val="0"/>
              </a:spcAft>
              <a:buClr>
                <a:srgbClr val="94A3BE"/>
              </a:buClr>
              <a:buSzPts val="1450"/>
              <a:buFont typeface="Calibri"/>
              <a:buNone/>
            </a:pPr>
            <a:r>
              <a:rPr lang="en-US" sz="1450" b="0" i="0" u="none" strike="noStrike" cap="none">
                <a:solidFill>
                  <a:srgbClr val="94A3BE"/>
                </a:solidFill>
                <a:latin typeface="Calibri"/>
                <a:ea typeface="Calibri"/>
                <a:cs typeface="Calibri"/>
                <a:sym typeface="Calibri"/>
              </a:rPr>
              <a:t>A SOC scenario involved captured network traffic requiring rapid security analysis. Traditional PCAP investigation using tools such as Wireshark can require significant manual effort to examine thousands of packets. This project demonstrates how Generative AI can accelerate traffic analysis by identifying patterns and investigation priorities, while statistical and analyst verification are used to validate the results.</a:t>
            </a:r>
            <a:endParaRPr sz="1450" b="0" i="0" u="none" strike="noStrike" cap="none">
              <a:solidFill>
                <a:schemeClr val="dk1"/>
              </a:solidFill>
              <a:latin typeface="Calibri"/>
              <a:ea typeface="Calibri"/>
              <a:cs typeface="Calibri"/>
              <a:sym typeface="Calibri"/>
            </a:endParaRPr>
          </a:p>
        </p:txBody>
      </p:sp>
      <p:sp>
        <p:nvSpPr>
          <p:cNvPr id="64" name="Google Shape;64;p4"/>
          <p:cNvSpPr/>
          <p:nvPr/>
        </p:nvSpPr>
        <p:spPr>
          <a:xfrm>
            <a:off x="548640" y="2697480"/>
            <a:ext cx="2596896" cy="1508760"/>
          </a:xfrm>
          <a:prstGeom prst="roundRect">
            <a:avLst>
              <a:gd name="adj" fmla="val 6061"/>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1618488" y="2852928"/>
            <a:ext cx="457200" cy="457200"/>
          </a:xfrm>
          <a:prstGeom prst="ellipse">
            <a:avLst/>
          </a:prstGeom>
          <a:solidFill>
            <a:srgbClr val="1632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txBox="1"/>
          <p:nvPr/>
        </p:nvSpPr>
        <p:spPr>
          <a:xfrm>
            <a:off x="1618488" y="2843784"/>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700"/>
              <a:buFont typeface="Calibri"/>
              <a:buNone/>
            </a:pPr>
            <a:r>
              <a:rPr lang="en-US" sz="1700" b="1" i="0" u="none" strike="noStrike" cap="none">
                <a:solidFill>
                  <a:srgbClr val="35C6F4"/>
                </a:solidFill>
                <a:latin typeface="Calibri"/>
                <a:ea typeface="Calibri"/>
                <a:cs typeface="Calibri"/>
                <a:sym typeface="Calibri"/>
              </a:rPr>
              <a:t>▤</a:t>
            </a:r>
            <a:endParaRPr sz="1700" b="0" i="0" u="none" strike="noStrike" cap="none">
              <a:solidFill>
                <a:schemeClr val="dk1"/>
              </a:solidFill>
              <a:latin typeface="Calibri"/>
              <a:ea typeface="Calibri"/>
              <a:cs typeface="Calibri"/>
              <a:sym typeface="Calibri"/>
            </a:endParaRPr>
          </a:p>
        </p:txBody>
      </p:sp>
      <p:sp>
        <p:nvSpPr>
          <p:cNvPr id="67" name="Google Shape;67;p4"/>
          <p:cNvSpPr txBox="1"/>
          <p:nvPr/>
        </p:nvSpPr>
        <p:spPr>
          <a:xfrm>
            <a:off x="640080" y="3410712"/>
            <a:ext cx="2414016"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4F7FB"/>
              </a:buClr>
              <a:buSzPts val="2400"/>
              <a:buFont typeface="Calibri"/>
              <a:buNone/>
            </a:pPr>
            <a:r>
              <a:rPr lang="en-US" sz="2400" b="1" i="0" u="none" strike="noStrike" cap="none">
                <a:solidFill>
                  <a:srgbClr val="F4F7FB"/>
                </a:solidFill>
                <a:latin typeface="Calibri"/>
                <a:ea typeface="Calibri"/>
                <a:cs typeface="Calibri"/>
                <a:sym typeface="Calibri"/>
              </a:rPr>
              <a:t>3,588</a:t>
            </a:r>
            <a:endParaRPr sz="2400" b="0" i="0" u="none" strike="noStrike" cap="none">
              <a:solidFill>
                <a:schemeClr val="dk1"/>
              </a:solidFill>
              <a:latin typeface="Calibri"/>
              <a:ea typeface="Calibri"/>
              <a:cs typeface="Calibri"/>
              <a:sym typeface="Calibri"/>
            </a:endParaRPr>
          </a:p>
        </p:txBody>
      </p:sp>
      <p:sp>
        <p:nvSpPr>
          <p:cNvPr id="68" name="Google Shape;68;p4"/>
          <p:cNvSpPr txBox="1"/>
          <p:nvPr/>
        </p:nvSpPr>
        <p:spPr>
          <a:xfrm>
            <a:off x="685800" y="3867912"/>
            <a:ext cx="2322576" cy="292608"/>
          </a:xfrm>
          <a:prstGeom prst="rect">
            <a:avLst/>
          </a:prstGeom>
          <a:noFill/>
          <a:ln>
            <a:noFill/>
          </a:ln>
        </p:spPr>
        <p:txBody>
          <a:bodyPr spcFirstLastPara="1" wrap="square" lIns="0" tIns="0" rIns="0" bIns="0" anchor="ctr" anchorCtr="0">
            <a:noAutofit/>
          </a:bodyPr>
          <a:lstStyle/>
          <a:p>
            <a:pPr marL="0" marR="0" lvl="0" indent="0" algn="ctr" rtl="0">
              <a:lnSpc>
                <a:spcPct val="114285"/>
              </a:lnSpc>
              <a:spcBef>
                <a:spcPts val="0"/>
              </a:spcBef>
              <a:spcAft>
                <a:spcPts val="0"/>
              </a:spcAft>
              <a:buClr>
                <a:srgbClr val="94A3BE"/>
              </a:buClr>
              <a:buSzPts val="1050"/>
              <a:buFont typeface="Calibri"/>
              <a:buNone/>
            </a:pPr>
            <a:r>
              <a:rPr lang="en-US" sz="1050" b="0" i="0" u="none" strike="noStrike" cap="none">
                <a:solidFill>
                  <a:srgbClr val="94A3BE"/>
                </a:solidFill>
                <a:latin typeface="Calibri"/>
                <a:ea typeface="Calibri"/>
                <a:cs typeface="Calibri"/>
                <a:sym typeface="Calibri"/>
              </a:rPr>
              <a:t>Total Records</a:t>
            </a:r>
            <a:endParaRPr sz="1050" b="0" i="0" u="none" strike="noStrike" cap="none">
              <a:solidFill>
                <a:schemeClr val="dk1"/>
              </a:solidFill>
              <a:latin typeface="Calibri"/>
              <a:ea typeface="Calibri"/>
              <a:cs typeface="Calibri"/>
              <a:sym typeface="Calibri"/>
            </a:endParaRPr>
          </a:p>
        </p:txBody>
      </p:sp>
      <p:sp>
        <p:nvSpPr>
          <p:cNvPr id="69" name="Google Shape;69;p4"/>
          <p:cNvSpPr/>
          <p:nvPr/>
        </p:nvSpPr>
        <p:spPr>
          <a:xfrm>
            <a:off x="3374136" y="2697480"/>
            <a:ext cx="2596896" cy="1508760"/>
          </a:xfrm>
          <a:prstGeom prst="roundRect">
            <a:avLst>
              <a:gd name="adj" fmla="val 6061"/>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4443984" y="2852928"/>
            <a:ext cx="457200" cy="457200"/>
          </a:xfrm>
          <a:prstGeom prst="ellipse">
            <a:avLst/>
          </a:prstGeom>
          <a:solidFill>
            <a:srgbClr val="1632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txBox="1"/>
          <p:nvPr/>
        </p:nvSpPr>
        <p:spPr>
          <a:xfrm>
            <a:off x="4443984" y="2843784"/>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700"/>
              <a:buFont typeface="Calibri"/>
              <a:buNone/>
            </a:pPr>
            <a:r>
              <a:rPr lang="en-US" sz="1700" b="1" i="0" u="none" strike="noStrike" cap="none">
                <a:solidFill>
                  <a:srgbClr val="35C6F4"/>
                </a:solidFill>
                <a:latin typeface="Calibri"/>
                <a:ea typeface="Calibri"/>
                <a:cs typeface="Calibri"/>
                <a:sym typeface="Calibri"/>
              </a:rPr>
              <a:t>◉</a:t>
            </a:r>
            <a:endParaRPr sz="1700" b="0" i="0" u="none" strike="noStrike" cap="none">
              <a:solidFill>
                <a:schemeClr val="dk1"/>
              </a:solidFill>
              <a:latin typeface="Calibri"/>
              <a:ea typeface="Calibri"/>
              <a:cs typeface="Calibri"/>
              <a:sym typeface="Calibri"/>
            </a:endParaRPr>
          </a:p>
        </p:txBody>
      </p:sp>
      <p:sp>
        <p:nvSpPr>
          <p:cNvPr id="72" name="Google Shape;72;p4"/>
          <p:cNvSpPr txBox="1"/>
          <p:nvPr/>
        </p:nvSpPr>
        <p:spPr>
          <a:xfrm>
            <a:off x="3465576" y="3410712"/>
            <a:ext cx="2414016"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4F7FB"/>
              </a:buClr>
              <a:buSzPts val="2400"/>
              <a:buFont typeface="Calibri"/>
              <a:buNone/>
            </a:pPr>
            <a:r>
              <a:rPr lang="en-US" sz="2400" b="1" i="0" u="none" strike="noStrike" cap="none">
                <a:solidFill>
                  <a:srgbClr val="F4F7FB"/>
                </a:solidFill>
                <a:latin typeface="Calibri"/>
                <a:ea typeface="Calibri"/>
                <a:cs typeface="Calibri"/>
                <a:sym typeface="Calibri"/>
              </a:rPr>
              <a:t>3,549</a:t>
            </a:r>
            <a:endParaRPr sz="2400" b="0" i="0" u="none" strike="noStrike" cap="none">
              <a:solidFill>
                <a:schemeClr val="dk1"/>
              </a:solidFill>
              <a:latin typeface="Calibri"/>
              <a:ea typeface="Calibri"/>
              <a:cs typeface="Calibri"/>
              <a:sym typeface="Calibri"/>
            </a:endParaRPr>
          </a:p>
        </p:txBody>
      </p:sp>
      <p:sp>
        <p:nvSpPr>
          <p:cNvPr id="73" name="Google Shape;73;p4"/>
          <p:cNvSpPr txBox="1"/>
          <p:nvPr/>
        </p:nvSpPr>
        <p:spPr>
          <a:xfrm>
            <a:off x="3511296" y="3867912"/>
            <a:ext cx="2322576" cy="292608"/>
          </a:xfrm>
          <a:prstGeom prst="rect">
            <a:avLst/>
          </a:prstGeom>
          <a:noFill/>
          <a:ln>
            <a:noFill/>
          </a:ln>
        </p:spPr>
        <p:txBody>
          <a:bodyPr spcFirstLastPara="1" wrap="square" lIns="0" tIns="0" rIns="0" bIns="0" anchor="ctr" anchorCtr="0">
            <a:noAutofit/>
          </a:bodyPr>
          <a:lstStyle/>
          <a:p>
            <a:pPr marL="0" marR="0" lvl="0" indent="0" algn="ctr" rtl="0">
              <a:lnSpc>
                <a:spcPct val="114285"/>
              </a:lnSpc>
              <a:spcBef>
                <a:spcPts val="0"/>
              </a:spcBef>
              <a:spcAft>
                <a:spcPts val="0"/>
              </a:spcAft>
              <a:buClr>
                <a:srgbClr val="94A3BE"/>
              </a:buClr>
              <a:buSzPts val="1050"/>
              <a:buFont typeface="Calibri"/>
              <a:buNone/>
            </a:pPr>
            <a:r>
              <a:rPr lang="en-US" sz="1050" b="0" i="0" u="none" strike="noStrike" cap="none">
                <a:solidFill>
                  <a:srgbClr val="94A3BE"/>
                </a:solidFill>
                <a:latin typeface="Calibri"/>
                <a:ea typeface="Calibri"/>
                <a:cs typeface="Calibri"/>
                <a:sym typeface="Calibri"/>
              </a:rPr>
              <a:t>IP-Bearing Records</a:t>
            </a:r>
            <a:endParaRPr sz="1050" b="0" i="0" u="none" strike="noStrike" cap="none">
              <a:solidFill>
                <a:schemeClr val="dk1"/>
              </a:solidFill>
              <a:latin typeface="Calibri"/>
              <a:ea typeface="Calibri"/>
              <a:cs typeface="Calibri"/>
              <a:sym typeface="Calibri"/>
            </a:endParaRPr>
          </a:p>
        </p:txBody>
      </p:sp>
      <p:sp>
        <p:nvSpPr>
          <p:cNvPr id="74" name="Google Shape;74;p4"/>
          <p:cNvSpPr/>
          <p:nvPr/>
        </p:nvSpPr>
        <p:spPr>
          <a:xfrm>
            <a:off x="6199632" y="2697480"/>
            <a:ext cx="2596896" cy="1508760"/>
          </a:xfrm>
          <a:prstGeom prst="roundRect">
            <a:avLst>
              <a:gd name="adj" fmla="val 6061"/>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a:off x="7269480" y="2852928"/>
            <a:ext cx="457200" cy="457200"/>
          </a:xfrm>
          <a:prstGeom prst="ellipse">
            <a:avLst/>
          </a:prstGeom>
          <a:solidFill>
            <a:srgbClr val="1632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txBox="1"/>
          <p:nvPr/>
        </p:nvSpPr>
        <p:spPr>
          <a:xfrm>
            <a:off x="7269480" y="2843784"/>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700"/>
              <a:buFont typeface="Calibri"/>
              <a:buNone/>
            </a:pPr>
            <a:r>
              <a:rPr lang="en-US" sz="1700" b="1" i="0" u="none" strike="noStrike" cap="none">
                <a:solidFill>
                  <a:srgbClr val="35C6F4"/>
                </a:solidFill>
                <a:latin typeface="Calibri"/>
                <a:ea typeface="Calibri"/>
                <a:cs typeface="Calibri"/>
                <a:sym typeface="Calibri"/>
              </a:rPr>
              <a:t>▣</a:t>
            </a:r>
            <a:endParaRPr sz="1700" b="0" i="0" u="none" strike="noStrike" cap="none">
              <a:solidFill>
                <a:schemeClr val="dk1"/>
              </a:solidFill>
              <a:latin typeface="Calibri"/>
              <a:ea typeface="Calibri"/>
              <a:cs typeface="Calibri"/>
              <a:sym typeface="Calibri"/>
            </a:endParaRPr>
          </a:p>
        </p:txBody>
      </p:sp>
      <p:sp>
        <p:nvSpPr>
          <p:cNvPr id="77" name="Google Shape;77;p4"/>
          <p:cNvSpPr txBox="1"/>
          <p:nvPr/>
        </p:nvSpPr>
        <p:spPr>
          <a:xfrm>
            <a:off x="6291072" y="3410712"/>
            <a:ext cx="2414016"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4F7FB"/>
              </a:buClr>
              <a:buSzPts val="1700"/>
              <a:buFont typeface="Calibri"/>
              <a:buNone/>
            </a:pPr>
            <a:r>
              <a:rPr lang="en-US" sz="1700" b="1" i="0" u="none" strike="noStrike" cap="none">
                <a:solidFill>
                  <a:srgbClr val="F4F7FB"/>
                </a:solidFill>
                <a:latin typeface="Calibri"/>
                <a:ea typeface="Calibri"/>
                <a:cs typeface="Calibri"/>
                <a:sym typeface="Calibri"/>
              </a:rPr>
              <a:t>10.10.0.33</a:t>
            </a:r>
            <a:endParaRPr sz="1700" b="0" i="0" u="none" strike="noStrike" cap="none">
              <a:solidFill>
                <a:schemeClr val="dk1"/>
              </a:solidFill>
              <a:latin typeface="Calibri"/>
              <a:ea typeface="Calibri"/>
              <a:cs typeface="Calibri"/>
              <a:sym typeface="Calibri"/>
            </a:endParaRPr>
          </a:p>
        </p:txBody>
      </p:sp>
      <p:sp>
        <p:nvSpPr>
          <p:cNvPr id="78" name="Google Shape;78;p4"/>
          <p:cNvSpPr txBox="1"/>
          <p:nvPr/>
        </p:nvSpPr>
        <p:spPr>
          <a:xfrm>
            <a:off x="6336792" y="3867912"/>
            <a:ext cx="2322576" cy="292608"/>
          </a:xfrm>
          <a:prstGeom prst="rect">
            <a:avLst/>
          </a:prstGeom>
          <a:noFill/>
          <a:ln>
            <a:noFill/>
          </a:ln>
        </p:spPr>
        <p:txBody>
          <a:bodyPr spcFirstLastPara="1" wrap="square" lIns="0" tIns="0" rIns="0" bIns="0" anchor="ctr" anchorCtr="0">
            <a:noAutofit/>
          </a:bodyPr>
          <a:lstStyle/>
          <a:p>
            <a:pPr marL="0" marR="0" lvl="0" indent="0" algn="ctr" rtl="0">
              <a:lnSpc>
                <a:spcPct val="114285"/>
              </a:lnSpc>
              <a:spcBef>
                <a:spcPts val="0"/>
              </a:spcBef>
              <a:spcAft>
                <a:spcPts val="0"/>
              </a:spcAft>
              <a:buClr>
                <a:srgbClr val="94A3BE"/>
              </a:buClr>
              <a:buSzPts val="1050"/>
              <a:buFont typeface="Calibri"/>
              <a:buNone/>
            </a:pPr>
            <a:r>
              <a:rPr lang="en-US" sz="1050" b="0" i="0" u="none" strike="noStrike" cap="none">
                <a:solidFill>
                  <a:srgbClr val="94A3BE"/>
                </a:solidFill>
                <a:latin typeface="Calibri"/>
                <a:ea typeface="Calibri"/>
                <a:cs typeface="Calibri"/>
                <a:sym typeface="Calibri"/>
              </a:rPr>
              <a:t>Primary Investigation Host</a:t>
            </a:r>
            <a:endParaRPr sz="1050" b="0" i="0" u="none" strike="noStrike" cap="none">
              <a:solidFill>
                <a:schemeClr val="dk1"/>
              </a:solidFill>
              <a:latin typeface="Calibri"/>
              <a:ea typeface="Calibri"/>
              <a:cs typeface="Calibri"/>
              <a:sym typeface="Calibri"/>
            </a:endParaRPr>
          </a:p>
        </p:txBody>
      </p:sp>
      <p:sp>
        <p:nvSpPr>
          <p:cNvPr id="79" name="Google Shape;79;p4"/>
          <p:cNvSpPr/>
          <p:nvPr/>
        </p:nvSpPr>
        <p:spPr>
          <a:xfrm>
            <a:off x="9025128" y="2697480"/>
            <a:ext cx="2596896" cy="1508760"/>
          </a:xfrm>
          <a:prstGeom prst="roundRect">
            <a:avLst>
              <a:gd name="adj" fmla="val 6061"/>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4"/>
          <p:cNvSpPr/>
          <p:nvPr/>
        </p:nvSpPr>
        <p:spPr>
          <a:xfrm>
            <a:off x="10094976" y="2852928"/>
            <a:ext cx="457200" cy="457200"/>
          </a:xfrm>
          <a:prstGeom prst="ellipse">
            <a:avLst/>
          </a:prstGeom>
          <a:solidFill>
            <a:srgbClr val="1632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txBox="1"/>
          <p:nvPr/>
        </p:nvSpPr>
        <p:spPr>
          <a:xfrm>
            <a:off x="10094976" y="2843784"/>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700"/>
              <a:buFont typeface="Calibri"/>
              <a:buNone/>
            </a:pPr>
            <a:r>
              <a:rPr lang="en-US" sz="1700" b="1" i="0" u="none" strike="noStrike" cap="none">
                <a:solidFill>
                  <a:srgbClr val="35C6F4"/>
                </a:solidFill>
                <a:latin typeface="Calibri"/>
                <a:ea typeface="Calibri"/>
                <a:cs typeface="Calibri"/>
                <a:sym typeface="Calibri"/>
              </a:rPr>
              <a:t>◷</a:t>
            </a:r>
            <a:endParaRPr sz="1700" b="0" i="0" u="none" strike="noStrike" cap="none">
              <a:solidFill>
                <a:schemeClr val="dk1"/>
              </a:solidFill>
              <a:latin typeface="Calibri"/>
              <a:ea typeface="Calibri"/>
              <a:cs typeface="Calibri"/>
              <a:sym typeface="Calibri"/>
            </a:endParaRPr>
          </a:p>
        </p:txBody>
      </p:sp>
      <p:sp>
        <p:nvSpPr>
          <p:cNvPr id="82" name="Google Shape;82;p4"/>
          <p:cNvSpPr txBox="1"/>
          <p:nvPr/>
        </p:nvSpPr>
        <p:spPr>
          <a:xfrm>
            <a:off x="9116568" y="3410712"/>
            <a:ext cx="2414016"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4F7FB"/>
              </a:buClr>
              <a:buSzPts val="1700"/>
              <a:buFont typeface="Calibri"/>
              <a:buNone/>
            </a:pPr>
            <a:r>
              <a:rPr lang="en-US" sz="1700" b="1" i="0" u="none" strike="noStrike" cap="none">
                <a:solidFill>
                  <a:srgbClr val="F4F7FB"/>
                </a:solidFill>
                <a:latin typeface="Calibri"/>
                <a:ea typeface="Calibri"/>
                <a:cs typeface="Calibri"/>
                <a:sym typeface="Calibri"/>
              </a:rPr>
              <a:t>10 min 10.40 sec</a:t>
            </a:r>
            <a:endParaRPr sz="1700" b="0" i="0" u="none" strike="noStrike" cap="none">
              <a:solidFill>
                <a:schemeClr val="dk1"/>
              </a:solidFill>
              <a:latin typeface="Calibri"/>
              <a:ea typeface="Calibri"/>
              <a:cs typeface="Calibri"/>
              <a:sym typeface="Calibri"/>
            </a:endParaRPr>
          </a:p>
        </p:txBody>
      </p:sp>
      <p:sp>
        <p:nvSpPr>
          <p:cNvPr id="83" name="Google Shape;83;p4"/>
          <p:cNvSpPr txBox="1"/>
          <p:nvPr/>
        </p:nvSpPr>
        <p:spPr>
          <a:xfrm>
            <a:off x="9162288" y="3867912"/>
            <a:ext cx="2322576" cy="292608"/>
          </a:xfrm>
          <a:prstGeom prst="rect">
            <a:avLst/>
          </a:prstGeom>
          <a:noFill/>
          <a:ln>
            <a:noFill/>
          </a:ln>
        </p:spPr>
        <p:txBody>
          <a:bodyPr spcFirstLastPara="1" wrap="square" lIns="0" tIns="0" rIns="0" bIns="0" anchor="ctr" anchorCtr="0">
            <a:noAutofit/>
          </a:bodyPr>
          <a:lstStyle/>
          <a:p>
            <a:pPr marL="0" marR="0" lvl="0" indent="0" algn="ctr" rtl="0">
              <a:lnSpc>
                <a:spcPct val="114285"/>
              </a:lnSpc>
              <a:spcBef>
                <a:spcPts val="0"/>
              </a:spcBef>
              <a:spcAft>
                <a:spcPts val="0"/>
              </a:spcAft>
              <a:buClr>
                <a:srgbClr val="94A3BE"/>
              </a:buClr>
              <a:buSzPts val="1050"/>
              <a:buFont typeface="Calibri"/>
              <a:buNone/>
            </a:pPr>
            <a:r>
              <a:rPr lang="en-US" sz="1050" b="0" i="0" u="none" strike="noStrike" cap="none">
                <a:solidFill>
                  <a:srgbClr val="94A3BE"/>
                </a:solidFill>
                <a:latin typeface="Calibri"/>
                <a:ea typeface="Calibri"/>
                <a:cs typeface="Calibri"/>
                <a:sym typeface="Calibri"/>
              </a:rPr>
              <a:t>Capture Duration</a:t>
            </a:r>
            <a:endParaRPr sz="1050" b="0" i="0" u="none" strike="noStrike" cap="none">
              <a:solidFill>
                <a:schemeClr val="dk1"/>
              </a:solidFill>
              <a:latin typeface="Calibri"/>
              <a:ea typeface="Calibri"/>
              <a:cs typeface="Calibri"/>
              <a:sym typeface="Calibri"/>
            </a:endParaRPr>
          </a:p>
        </p:txBody>
      </p:sp>
      <p:sp>
        <p:nvSpPr>
          <p:cNvPr id="84" name="Google Shape;84;p4"/>
          <p:cNvSpPr/>
          <p:nvPr/>
        </p:nvSpPr>
        <p:spPr>
          <a:xfrm>
            <a:off x="548640" y="4526280"/>
            <a:ext cx="11091672" cy="868680"/>
          </a:xfrm>
          <a:prstGeom prst="roundRect">
            <a:avLst>
              <a:gd name="adj" fmla="val 10526"/>
            </a:avLst>
          </a:prstGeom>
          <a:solidFill>
            <a:srgbClr val="0E1626"/>
          </a:solidFill>
          <a:ln w="9525" cap="flat" cmpd="sng">
            <a:solidFill>
              <a:srgbClr val="1A25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4"/>
          <p:cNvSpPr txBox="1"/>
          <p:nvPr/>
        </p:nvSpPr>
        <p:spPr>
          <a:xfrm>
            <a:off x="914400" y="4645152"/>
            <a:ext cx="10360152"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500"/>
              <a:buFont typeface="Calibri"/>
              <a:buNone/>
            </a:pPr>
            <a:r>
              <a:rPr lang="en-US" sz="1500" b="1" i="1" u="none" strike="noStrike" cap="none">
                <a:solidFill>
                  <a:srgbClr val="35C6F4"/>
                </a:solidFill>
                <a:latin typeface="Calibri"/>
                <a:ea typeface="Calibri"/>
                <a:cs typeface="Calibri"/>
                <a:sym typeface="Calibri"/>
              </a:rPr>
              <a:t>“AI accelerates investigation; analyst verification establishes confidence in the findings.”</a:t>
            </a:r>
            <a:endParaRPr sz="1500" b="0" i="0" u="none" strike="noStrike" cap="none">
              <a:solidFill>
                <a:schemeClr val="dk1"/>
              </a:solidFill>
              <a:latin typeface="Calibri"/>
              <a:ea typeface="Calibri"/>
              <a:cs typeface="Calibri"/>
              <a:sym typeface="Calibri"/>
            </a:endParaRPr>
          </a:p>
        </p:txBody>
      </p:sp>
      <p:sp>
        <p:nvSpPr>
          <p:cNvPr id="86" name="Google Shape;86;p4"/>
          <p:cNvSpPr txBox="1"/>
          <p:nvPr/>
        </p:nvSpPr>
        <p:spPr>
          <a:xfrm>
            <a:off x="548640" y="6565392"/>
            <a:ext cx="6400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E6E8C"/>
              </a:buClr>
              <a:buSzPts val="900"/>
              <a:buFont typeface="Calibri"/>
              <a:buNone/>
            </a:pPr>
            <a:r>
              <a:rPr lang="en-US" sz="900" b="0" i="0" u="none" strike="noStrike" cap="none">
                <a:solidFill>
                  <a:srgbClr val="5E6E8C"/>
                </a:solidFill>
                <a:latin typeface="Calibri"/>
                <a:ea typeface="Calibri"/>
                <a:cs typeface="Calibri"/>
                <a:sym typeface="Calibri"/>
              </a:rPr>
              <a:t>AI-POWERED PCAP ANALYSIS &amp; THREAT DETECTION</a:t>
            </a:r>
            <a:endParaRPr sz="900" b="0" i="0" u="none" strike="noStrike" cap="none">
              <a:solidFill>
                <a:schemeClr val="dk1"/>
              </a:solidFill>
              <a:latin typeface="Calibri"/>
              <a:ea typeface="Calibri"/>
              <a:cs typeface="Calibri"/>
              <a:sym typeface="Calibri"/>
            </a:endParaRPr>
          </a:p>
        </p:txBody>
      </p:sp>
      <p:sp>
        <p:nvSpPr>
          <p:cNvPr id="87" name="Google Shape;87;p4"/>
          <p:cNvSpPr txBox="1"/>
          <p:nvPr/>
        </p:nvSpPr>
        <p:spPr>
          <a:xfrm>
            <a:off x="10972800" y="6565392"/>
            <a:ext cx="66751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E6E8C"/>
              </a:buClr>
              <a:buSzPts val="900"/>
              <a:buFont typeface="Calibri"/>
              <a:buNone/>
            </a:pPr>
            <a:r>
              <a:rPr lang="en-US" sz="900" b="0" i="0" u="none" strike="noStrike" cap="none" dirty="0">
                <a:solidFill>
                  <a:srgbClr val="5E6E8C"/>
                </a:solidFill>
                <a:latin typeface="Calibri"/>
                <a:ea typeface="Calibri"/>
                <a:cs typeface="Calibri"/>
                <a:sym typeface="Calibri"/>
              </a:rPr>
              <a:t>02 / 09</a:t>
            </a:r>
            <a:endParaRPr sz="9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Shape 92"/>
        <p:cNvGrpSpPr/>
        <p:nvPr/>
      </p:nvGrpSpPr>
      <p:grpSpPr>
        <a:xfrm>
          <a:off x="0" y="0"/>
          <a:ext cx="0" cy="0"/>
          <a:chOff x="0" y="0"/>
          <a:chExt cx="0" cy="0"/>
        </a:xfrm>
      </p:grpSpPr>
      <p:sp>
        <p:nvSpPr>
          <p:cNvPr id="93" name="Google Shape;93;p5"/>
          <p:cNvSpPr txBox="1"/>
          <p:nvPr/>
        </p:nvSpPr>
        <p:spPr>
          <a:xfrm>
            <a:off x="548640" y="365760"/>
            <a:ext cx="1106424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3000"/>
              <a:buFont typeface="Calibri"/>
              <a:buNone/>
            </a:pPr>
            <a:r>
              <a:rPr lang="en-US" sz="3000" b="1" i="0" u="none" strike="noStrike" cap="none">
                <a:solidFill>
                  <a:srgbClr val="F4F7FB"/>
                </a:solidFill>
                <a:latin typeface="Calibri"/>
                <a:ea typeface="Calibri"/>
                <a:cs typeface="Calibri"/>
                <a:sym typeface="Calibri"/>
              </a:rPr>
              <a:t>Investigation Workflow</a:t>
            </a:r>
            <a:endParaRPr sz="3000" b="0" i="0" u="none" strike="noStrike" cap="none">
              <a:solidFill>
                <a:schemeClr val="dk1"/>
              </a:solidFill>
              <a:latin typeface="Calibri"/>
              <a:ea typeface="Calibri"/>
              <a:cs typeface="Calibri"/>
              <a:sym typeface="Calibri"/>
            </a:endParaRPr>
          </a:p>
        </p:txBody>
      </p:sp>
      <p:sp>
        <p:nvSpPr>
          <p:cNvPr id="94" name="Google Shape;94;p5"/>
          <p:cNvSpPr/>
          <p:nvPr/>
        </p:nvSpPr>
        <p:spPr>
          <a:xfrm>
            <a:off x="973836" y="1417320"/>
            <a:ext cx="3108960" cy="1143000"/>
          </a:xfrm>
          <a:prstGeom prst="roundRect">
            <a:avLst>
              <a:gd name="adj" fmla="val 8000"/>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a:off x="1284732" y="1732788"/>
            <a:ext cx="512064" cy="512064"/>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txBox="1"/>
          <p:nvPr/>
        </p:nvSpPr>
        <p:spPr>
          <a:xfrm>
            <a:off x="1284732" y="172364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700"/>
              <a:buFont typeface="Calibri"/>
              <a:buNone/>
            </a:pPr>
            <a:r>
              <a:rPr lang="en-US" sz="1700" b="1" i="0" u="none" strike="noStrike" cap="none">
                <a:solidFill>
                  <a:srgbClr val="35C6F4"/>
                </a:solidFill>
                <a:latin typeface="Calibri"/>
                <a:ea typeface="Calibri"/>
                <a:cs typeface="Calibri"/>
                <a:sym typeface="Calibri"/>
              </a:rPr>
              <a:t>1</a:t>
            </a:r>
            <a:endParaRPr sz="1700" b="0" i="0" u="none" strike="noStrike" cap="none">
              <a:solidFill>
                <a:schemeClr val="dk1"/>
              </a:solidFill>
              <a:latin typeface="Calibri"/>
              <a:ea typeface="Calibri"/>
              <a:cs typeface="Calibri"/>
              <a:sym typeface="Calibri"/>
            </a:endParaRPr>
          </a:p>
        </p:txBody>
      </p:sp>
      <p:sp>
        <p:nvSpPr>
          <p:cNvPr id="97" name="Google Shape;97;p5"/>
          <p:cNvSpPr txBox="1"/>
          <p:nvPr/>
        </p:nvSpPr>
        <p:spPr>
          <a:xfrm>
            <a:off x="1933956" y="1508760"/>
            <a:ext cx="2011680" cy="960120"/>
          </a:xfrm>
          <a:prstGeom prst="rect">
            <a:avLst/>
          </a:prstGeom>
          <a:noFill/>
          <a:ln>
            <a:noFill/>
          </a:ln>
        </p:spPr>
        <p:txBody>
          <a:bodyPr spcFirstLastPara="1" wrap="square" lIns="0" tIns="0" rIns="0" bIns="0" anchor="ctr" anchorCtr="0">
            <a:noAutofit/>
          </a:bodyPr>
          <a:lstStyle/>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PCAP</a:t>
            </a:r>
            <a:endParaRPr sz="1300" b="0" i="0" u="none" strike="noStrike" cap="none">
              <a:solidFill>
                <a:schemeClr val="dk1"/>
              </a:solidFill>
              <a:latin typeface="Calibri"/>
              <a:ea typeface="Calibri"/>
              <a:cs typeface="Calibri"/>
              <a:sym typeface="Calibri"/>
            </a:endParaRPr>
          </a:p>
        </p:txBody>
      </p:sp>
      <p:sp>
        <p:nvSpPr>
          <p:cNvPr id="98" name="Google Shape;98;p5"/>
          <p:cNvSpPr/>
          <p:nvPr/>
        </p:nvSpPr>
        <p:spPr>
          <a:xfrm>
            <a:off x="4539996" y="1417320"/>
            <a:ext cx="3108960" cy="1143000"/>
          </a:xfrm>
          <a:prstGeom prst="roundRect">
            <a:avLst>
              <a:gd name="adj" fmla="val 8000"/>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4850892" y="1732788"/>
            <a:ext cx="512064" cy="512064"/>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txBox="1"/>
          <p:nvPr/>
        </p:nvSpPr>
        <p:spPr>
          <a:xfrm>
            <a:off x="4850892" y="172364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700"/>
              <a:buFont typeface="Calibri"/>
              <a:buNone/>
            </a:pPr>
            <a:r>
              <a:rPr lang="en-US" sz="1700" b="1" i="0" u="none" strike="noStrike" cap="none">
                <a:solidFill>
                  <a:srgbClr val="35C6F4"/>
                </a:solidFill>
                <a:latin typeface="Calibri"/>
                <a:ea typeface="Calibri"/>
                <a:cs typeface="Calibri"/>
                <a:sym typeface="Calibri"/>
              </a:rPr>
              <a:t>2</a:t>
            </a:r>
            <a:endParaRPr sz="1700" b="0" i="0" u="none" strike="noStrike" cap="none">
              <a:solidFill>
                <a:schemeClr val="dk1"/>
              </a:solidFill>
              <a:latin typeface="Calibri"/>
              <a:ea typeface="Calibri"/>
              <a:cs typeface="Calibri"/>
              <a:sym typeface="Calibri"/>
            </a:endParaRPr>
          </a:p>
        </p:txBody>
      </p:sp>
      <p:sp>
        <p:nvSpPr>
          <p:cNvPr id="101" name="Google Shape;101;p5"/>
          <p:cNvSpPr txBox="1"/>
          <p:nvPr/>
        </p:nvSpPr>
        <p:spPr>
          <a:xfrm>
            <a:off x="5500116" y="1508760"/>
            <a:ext cx="2011680" cy="960120"/>
          </a:xfrm>
          <a:prstGeom prst="rect">
            <a:avLst/>
          </a:prstGeom>
          <a:noFill/>
          <a:ln>
            <a:noFill/>
          </a:ln>
        </p:spPr>
        <p:txBody>
          <a:bodyPr spcFirstLastPara="1" wrap="square" lIns="0" tIns="0" rIns="0" bIns="0" anchor="ctr" anchorCtr="0">
            <a:noAutofit/>
          </a:bodyPr>
          <a:lstStyle/>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Structured</a:t>
            </a:r>
            <a:endParaRPr sz="1300" b="0" i="0" u="none" strike="noStrike" cap="none">
              <a:solidFill>
                <a:schemeClr val="dk1"/>
              </a:solidFill>
              <a:latin typeface="Calibri"/>
              <a:ea typeface="Calibri"/>
              <a:cs typeface="Calibri"/>
              <a:sym typeface="Calibri"/>
            </a:endParaRPr>
          </a:p>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CSV</a:t>
            </a:r>
            <a:endParaRPr sz="1300" b="0" i="0" u="none" strike="noStrike" cap="none">
              <a:solidFill>
                <a:schemeClr val="dk1"/>
              </a:solidFill>
              <a:latin typeface="Calibri"/>
              <a:ea typeface="Calibri"/>
              <a:cs typeface="Calibri"/>
              <a:sym typeface="Calibri"/>
            </a:endParaRPr>
          </a:p>
        </p:txBody>
      </p:sp>
      <p:sp>
        <p:nvSpPr>
          <p:cNvPr id="102" name="Google Shape;102;p5"/>
          <p:cNvSpPr/>
          <p:nvPr/>
        </p:nvSpPr>
        <p:spPr>
          <a:xfrm>
            <a:off x="8106156" y="1417320"/>
            <a:ext cx="3108960" cy="1143000"/>
          </a:xfrm>
          <a:prstGeom prst="roundRect">
            <a:avLst>
              <a:gd name="adj" fmla="val 8000"/>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8417052" y="1732788"/>
            <a:ext cx="512064" cy="512064"/>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txBox="1"/>
          <p:nvPr/>
        </p:nvSpPr>
        <p:spPr>
          <a:xfrm>
            <a:off x="8417052" y="172364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700"/>
              <a:buFont typeface="Calibri"/>
              <a:buNone/>
            </a:pPr>
            <a:r>
              <a:rPr lang="en-US" sz="1700" b="1" i="0" u="none" strike="noStrike" cap="none">
                <a:solidFill>
                  <a:srgbClr val="35C6F4"/>
                </a:solidFill>
                <a:latin typeface="Calibri"/>
                <a:ea typeface="Calibri"/>
                <a:cs typeface="Calibri"/>
                <a:sym typeface="Calibri"/>
              </a:rPr>
              <a:t>3</a:t>
            </a:r>
            <a:endParaRPr sz="1700" b="0" i="0" u="none" strike="noStrike" cap="none">
              <a:solidFill>
                <a:schemeClr val="dk1"/>
              </a:solidFill>
              <a:latin typeface="Calibri"/>
              <a:ea typeface="Calibri"/>
              <a:cs typeface="Calibri"/>
              <a:sym typeface="Calibri"/>
            </a:endParaRPr>
          </a:p>
        </p:txBody>
      </p:sp>
      <p:sp>
        <p:nvSpPr>
          <p:cNvPr id="105" name="Google Shape;105;p5"/>
          <p:cNvSpPr txBox="1"/>
          <p:nvPr/>
        </p:nvSpPr>
        <p:spPr>
          <a:xfrm>
            <a:off x="9066276" y="1508760"/>
            <a:ext cx="2011680" cy="960120"/>
          </a:xfrm>
          <a:prstGeom prst="rect">
            <a:avLst/>
          </a:prstGeom>
          <a:noFill/>
          <a:ln>
            <a:noFill/>
          </a:ln>
        </p:spPr>
        <p:txBody>
          <a:bodyPr spcFirstLastPara="1" wrap="square" lIns="0" tIns="0" rIns="0" bIns="0" anchor="ctr" anchorCtr="0">
            <a:noAutofit/>
          </a:bodyPr>
          <a:lstStyle/>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Segment</a:t>
            </a:r>
            <a:endParaRPr sz="1300" b="0" i="0" u="none" strike="noStrike" cap="none">
              <a:solidFill>
                <a:schemeClr val="dk1"/>
              </a:solidFill>
              <a:latin typeface="Calibri"/>
              <a:ea typeface="Calibri"/>
              <a:cs typeface="Calibri"/>
              <a:sym typeface="Calibri"/>
            </a:endParaRPr>
          </a:p>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Analysis</a:t>
            </a:r>
            <a:endParaRPr sz="1300" b="0" i="0" u="none" strike="noStrike" cap="none">
              <a:solidFill>
                <a:schemeClr val="dk1"/>
              </a:solidFill>
              <a:latin typeface="Calibri"/>
              <a:ea typeface="Calibri"/>
              <a:cs typeface="Calibri"/>
              <a:sym typeface="Calibri"/>
            </a:endParaRPr>
          </a:p>
        </p:txBody>
      </p:sp>
      <p:sp>
        <p:nvSpPr>
          <p:cNvPr id="106" name="Google Shape;106;p5"/>
          <p:cNvSpPr/>
          <p:nvPr/>
        </p:nvSpPr>
        <p:spPr>
          <a:xfrm>
            <a:off x="8106156" y="3063240"/>
            <a:ext cx="3108960" cy="1143000"/>
          </a:xfrm>
          <a:prstGeom prst="roundRect">
            <a:avLst>
              <a:gd name="adj" fmla="val 8000"/>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8417052" y="3378708"/>
            <a:ext cx="512064" cy="512064"/>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txBox="1"/>
          <p:nvPr/>
        </p:nvSpPr>
        <p:spPr>
          <a:xfrm>
            <a:off x="8417052" y="336956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700"/>
              <a:buFont typeface="Calibri"/>
              <a:buNone/>
            </a:pPr>
            <a:r>
              <a:rPr lang="en-US" sz="1700" b="1" i="0" u="none" strike="noStrike" cap="none">
                <a:solidFill>
                  <a:srgbClr val="35C6F4"/>
                </a:solidFill>
                <a:latin typeface="Calibri"/>
                <a:ea typeface="Calibri"/>
                <a:cs typeface="Calibri"/>
                <a:sym typeface="Calibri"/>
              </a:rPr>
              <a:t>4</a:t>
            </a:r>
            <a:endParaRPr sz="1700" b="0" i="0" u="none" strike="noStrike" cap="none">
              <a:solidFill>
                <a:schemeClr val="dk1"/>
              </a:solidFill>
              <a:latin typeface="Calibri"/>
              <a:ea typeface="Calibri"/>
              <a:cs typeface="Calibri"/>
              <a:sym typeface="Calibri"/>
            </a:endParaRPr>
          </a:p>
        </p:txBody>
      </p:sp>
      <p:sp>
        <p:nvSpPr>
          <p:cNvPr id="109" name="Google Shape;109;p5"/>
          <p:cNvSpPr txBox="1"/>
          <p:nvPr/>
        </p:nvSpPr>
        <p:spPr>
          <a:xfrm>
            <a:off x="9066276" y="3154680"/>
            <a:ext cx="2011680" cy="960120"/>
          </a:xfrm>
          <a:prstGeom prst="rect">
            <a:avLst/>
          </a:prstGeom>
          <a:noFill/>
          <a:ln>
            <a:noFill/>
          </a:ln>
        </p:spPr>
        <p:txBody>
          <a:bodyPr spcFirstLastPara="1" wrap="square" lIns="0" tIns="0" rIns="0" bIns="0" anchor="ctr" anchorCtr="0">
            <a:noAutofit/>
          </a:bodyPr>
          <a:lstStyle/>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Combined</a:t>
            </a:r>
            <a:endParaRPr sz="1300" b="0" i="0" u="none" strike="noStrike" cap="none">
              <a:solidFill>
                <a:schemeClr val="dk1"/>
              </a:solidFill>
              <a:latin typeface="Calibri"/>
              <a:ea typeface="Calibri"/>
              <a:cs typeface="Calibri"/>
              <a:sym typeface="Calibri"/>
            </a:endParaRPr>
          </a:p>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Dataset</a:t>
            </a:r>
            <a:endParaRPr sz="1300" b="0" i="0" u="none" strike="noStrike" cap="none">
              <a:solidFill>
                <a:schemeClr val="dk1"/>
              </a:solidFill>
              <a:latin typeface="Calibri"/>
              <a:ea typeface="Calibri"/>
              <a:cs typeface="Calibri"/>
              <a:sym typeface="Calibri"/>
            </a:endParaRPr>
          </a:p>
        </p:txBody>
      </p:sp>
      <p:sp>
        <p:nvSpPr>
          <p:cNvPr id="110" name="Google Shape;110;p5"/>
          <p:cNvSpPr/>
          <p:nvPr/>
        </p:nvSpPr>
        <p:spPr>
          <a:xfrm>
            <a:off x="4539996" y="3063240"/>
            <a:ext cx="3108960" cy="1143000"/>
          </a:xfrm>
          <a:prstGeom prst="roundRect">
            <a:avLst>
              <a:gd name="adj" fmla="val 8000"/>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4850892" y="3378708"/>
            <a:ext cx="512064" cy="512064"/>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txBox="1"/>
          <p:nvPr/>
        </p:nvSpPr>
        <p:spPr>
          <a:xfrm>
            <a:off x="4850892" y="336956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700"/>
              <a:buFont typeface="Calibri"/>
              <a:buNone/>
            </a:pPr>
            <a:r>
              <a:rPr lang="en-US" sz="1700" b="1" i="0" u="none" strike="noStrike" cap="none">
                <a:solidFill>
                  <a:srgbClr val="35C6F4"/>
                </a:solidFill>
                <a:latin typeface="Calibri"/>
                <a:ea typeface="Calibri"/>
                <a:cs typeface="Calibri"/>
                <a:sym typeface="Calibri"/>
              </a:rPr>
              <a:t>5</a:t>
            </a:r>
            <a:endParaRPr sz="1700" b="0" i="0" u="none" strike="noStrike" cap="none">
              <a:solidFill>
                <a:schemeClr val="dk1"/>
              </a:solidFill>
              <a:latin typeface="Calibri"/>
              <a:ea typeface="Calibri"/>
              <a:cs typeface="Calibri"/>
              <a:sym typeface="Calibri"/>
            </a:endParaRPr>
          </a:p>
        </p:txBody>
      </p:sp>
      <p:sp>
        <p:nvSpPr>
          <p:cNvPr id="113" name="Google Shape;113;p5"/>
          <p:cNvSpPr txBox="1"/>
          <p:nvPr/>
        </p:nvSpPr>
        <p:spPr>
          <a:xfrm>
            <a:off x="5500116" y="3154680"/>
            <a:ext cx="2011680" cy="960120"/>
          </a:xfrm>
          <a:prstGeom prst="rect">
            <a:avLst/>
          </a:prstGeom>
          <a:noFill/>
          <a:ln>
            <a:noFill/>
          </a:ln>
        </p:spPr>
        <p:txBody>
          <a:bodyPr spcFirstLastPara="1" wrap="square" lIns="0" tIns="0" rIns="0" bIns="0" anchor="ctr" anchorCtr="0">
            <a:noAutofit/>
          </a:bodyPr>
          <a:lstStyle/>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AI</a:t>
            </a:r>
            <a:endParaRPr sz="1300" b="0" i="0" u="none" strike="noStrike" cap="none">
              <a:solidFill>
                <a:schemeClr val="dk1"/>
              </a:solidFill>
              <a:latin typeface="Calibri"/>
              <a:ea typeface="Calibri"/>
              <a:cs typeface="Calibri"/>
              <a:sym typeface="Calibri"/>
            </a:endParaRPr>
          </a:p>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Analysis</a:t>
            </a:r>
            <a:endParaRPr sz="1300" b="0" i="0" u="none" strike="noStrike" cap="none">
              <a:solidFill>
                <a:schemeClr val="dk1"/>
              </a:solidFill>
              <a:latin typeface="Calibri"/>
              <a:ea typeface="Calibri"/>
              <a:cs typeface="Calibri"/>
              <a:sym typeface="Calibri"/>
            </a:endParaRPr>
          </a:p>
        </p:txBody>
      </p:sp>
      <p:sp>
        <p:nvSpPr>
          <p:cNvPr id="114" name="Google Shape;114;p5"/>
          <p:cNvSpPr/>
          <p:nvPr/>
        </p:nvSpPr>
        <p:spPr>
          <a:xfrm>
            <a:off x="973836" y="3063240"/>
            <a:ext cx="3108960" cy="1143000"/>
          </a:xfrm>
          <a:prstGeom prst="roundRect">
            <a:avLst>
              <a:gd name="adj" fmla="val 8000"/>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1284732" y="3378708"/>
            <a:ext cx="512064" cy="512064"/>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txBox="1"/>
          <p:nvPr/>
        </p:nvSpPr>
        <p:spPr>
          <a:xfrm>
            <a:off x="1284732" y="336956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700"/>
              <a:buFont typeface="Calibri"/>
              <a:buNone/>
            </a:pPr>
            <a:r>
              <a:rPr lang="en-US" sz="1700" b="1" i="0" u="none" strike="noStrike" cap="none">
                <a:solidFill>
                  <a:srgbClr val="35C6F4"/>
                </a:solidFill>
                <a:latin typeface="Calibri"/>
                <a:ea typeface="Calibri"/>
                <a:cs typeface="Calibri"/>
                <a:sym typeface="Calibri"/>
              </a:rPr>
              <a:t>6</a:t>
            </a:r>
            <a:endParaRPr sz="1700" b="0" i="0" u="none" strike="noStrike" cap="none">
              <a:solidFill>
                <a:schemeClr val="dk1"/>
              </a:solidFill>
              <a:latin typeface="Calibri"/>
              <a:ea typeface="Calibri"/>
              <a:cs typeface="Calibri"/>
              <a:sym typeface="Calibri"/>
            </a:endParaRPr>
          </a:p>
        </p:txBody>
      </p:sp>
      <p:sp>
        <p:nvSpPr>
          <p:cNvPr id="117" name="Google Shape;117;p5"/>
          <p:cNvSpPr txBox="1"/>
          <p:nvPr/>
        </p:nvSpPr>
        <p:spPr>
          <a:xfrm>
            <a:off x="1933956" y="3154680"/>
            <a:ext cx="2011680" cy="960120"/>
          </a:xfrm>
          <a:prstGeom prst="rect">
            <a:avLst/>
          </a:prstGeom>
          <a:noFill/>
          <a:ln>
            <a:noFill/>
          </a:ln>
        </p:spPr>
        <p:txBody>
          <a:bodyPr spcFirstLastPara="1" wrap="square" lIns="0" tIns="0" rIns="0" bIns="0" anchor="ctr" anchorCtr="0">
            <a:noAutofit/>
          </a:bodyPr>
          <a:lstStyle/>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Statistical</a:t>
            </a:r>
            <a:endParaRPr sz="1300" b="0" i="0" u="none" strike="noStrike" cap="none">
              <a:solidFill>
                <a:schemeClr val="dk1"/>
              </a:solidFill>
              <a:latin typeface="Calibri"/>
              <a:ea typeface="Calibri"/>
              <a:cs typeface="Calibri"/>
              <a:sym typeface="Calibri"/>
            </a:endParaRPr>
          </a:p>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Validation</a:t>
            </a:r>
            <a:endParaRPr sz="1300" b="0" i="0" u="none" strike="noStrike" cap="none">
              <a:solidFill>
                <a:schemeClr val="dk1"/>
              </a:solidFill>
              <a:latin typeface="Calibri"/>
              <a:ea typeface="Calibri"/>
              <a:cs typeface="Calibri"/>
              <a:sym typeface="Calibri"/>
            </a:endParaRPr>
          </a:p>
        </p:txBody>
      </p:sp>
      <p:sp>
        <p:nvSpPr>
          <p:cNvPr id="118" name="Google Shape;118;p5"/>
          <p:cNvSpPr/>
          <p:nvPr/>
        </p:nvSpPr>
        <p:spPr>
          <a:xfrm>
            <a:off x="973836" y="4709160"/>
            <a:ext cx="3108960" cy="1143000"/>
          </a:xfrm>
          <a:prstGeom prst="roundRect">
            <a:avLst>
              <a:gd name="adj" fmla="val 8000"/>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1284732" y="5024628"/>
            <a:ext cx="512064" cy="512064"/>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txBox="1"/>
          <p:nvPr/>
        </p:nvSpPr>
        <p:spPr>
          <a:xfrm>
            <a:off x="1284732" y="501548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700"/>
              <a:buFont typeface="Calibri"/>
              <a:buNone/>
            </a:pPr>
            <a:r>
              <a:rPr lang="en-US" sz="1700" b="1" i="0" u="none" strike="noStrike" cap="none">
                <a:solidFill>
                  <a:srgbClr val="35C6F4"/>
                </a:solidFill>
                <a:latin typeface="Calibri"/>
                <a:ea typeface="Calibri"/>
                <a:cs typeface="Calibri"/>
                <a:sym typeface="Calibri"/>
              </a:rPr>
              <a:t>7</a:t>
            </a:r>
            <a:endParaRPr sz="1700" b="0" i="0" u="none" strike="noStrike" cap="none">
              <a:solidFill>
                <a:schemeClr val="dk1"/>
              </a:solidFill>
              <a:latin typeface="Calibri"/>
              <a:ea typeface="Calibri"/>
              <a:cs typeface="Calibri"/>
              <a:sym typeface="Calibri"/>
            </a:endParaRPr>
          </a:p>
        </p:txBody>
      </p:sp>
      <p:sp>
        <p:nvSpPr>
          <p:cNvPr id="121" name="Google Shape;121;p5"/>
          <p:cNvSpPr txBox="1"/>
          <p:nvPr/>
        </p:nvSpPr>
        <p:spPr>
          <a:xfrm>
            <a:off x="1933956" y="4800600"/>
            <a:ext cx="2011680" cy="960120"/>
          </a:xfrm>
          <a:prstGeom prst="rect">
            <a:avLst/>
          </a:prstGeom>
          <a:noFill/>
          <a:ln>
            <a:noFill/>
          </a:ln>
        </p:spPr>
        <p:txBody>
          <a:bodyPr spcFirstLastPara="1" wrap="square" lIns="0" tIns="0" rIns="0" bIns="0" anchor="ctr" anchorCtr="0">
            <a:noAutofit/>
          </a:bodyPr>
          <a:lstStyle/>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Detection</a:t>
            </a:r>
            <a:endParaRPr sz="1300" b="0" i="0" u="none" strike="noStrike" cap="none">
              <a:solidFill>
                <a:schemeClr val="dk1"/>
              </a:solidFill>
              <a:latin typeface="Calibri"/>
              <a:ea typeface="Calibri"/>
              <a:cs typeface="Calibri"/>
              <a:sym typeface="Calibri"/>
            </a:endParaRPr>
          </a:p>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Rules</a:t>
            </a:r>
            <a:endParaRPr sz="1300" b="0" i="0" u="none" strike="noStrike" cap="none">
              <a:solidFill>
                <a:schemeClr val="dk1"/>
              </a:solidFill>
              <a:latin typeface="Calibri"/>
              <a:ea typeface="Calibri"/>
              <a:cs typeface="Calibri"/>
              <a:sym typeface="Calibri"/>
            </a:endParaRPr>
          </a:p>
        </p:txBody>
      </p:sp>
      <p:sp>
        <p:nvSpPr>
          <p:cNvPr id="122" name="Google Shape;122;p5"/>
          <p:cNvSpPr/>
          <p:nvPr/>
        </p:nvSpPr>
        <p:spPr>
          <a:xfrm>
            <a:off x="4539996" y="4709160"/>
            <a:ext cx="3108960" cy="1143000"/>
          </a:xfrm>
          <a:prstGeom prst="roundRect">
            <a:avLst>
              <a:gd name="adj" fmla="val 8000"/>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4850892" y="5024628"/>
            <a:ext cx="512064" cy="512064"/>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txBox="1"/>
          <p:nvPr/>
        </p:nvSpPr>
        <p:spPr>
          <a:xfrm>
            <a:off x="4850892" y="501548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700"/>
              <a:buFont typeface="Calibri"/>
              <a:buNone/>
            </a:pPr>
            <a:r>
              <a:rPr lang="en-US" sz="1700" b="1" i="0" u="none" strike="noStrike" cap="none">
                <a:solidFill>
                  <a:srgbClr val="35C6F4"/>
                </a:solidFill>
                <a:latin typeface="Calibri"/>
                <a:ea typeface="Calibri"/>
                <a:cs typeface="Calibri"/>
                <a:sym typeface="Calibri"/>
              </a:rPr>
              <a:t>8</a:t>
            </a:r>
            <a:endParaRPr sz="1700" b="0" i="0" u="none" strike="noStrike" cap="none">
              <a:solidFill>
                <a:schemeClr val="dk1"/>
              </a:solidFill>
              <a:latin typeface="Calibri"/>
              <a:ea typeface="Calibri"/>
              <a:cs typeface="Calibri"/>
              <a:sym typeface="Calibri"/>
            </a:endParaRPr>
          </a:p>
        </p:txBody>
      </p:sp>
      <p:sp>
        <p:nvSpPr>
          <p:cNvPr id="125" name="Google Shape;125;p5"/>
          <p:cNvSpPr txBox="1"/>
          <p:nvPr/>
        </p:nvSpPr>
        <p:spPr>
          <a:xfrm>
            <a:off x="5500116" y="4800600"/>
            <a:ext cx="2011680" cy="960120"/>
          </a:xfrm>
          <a:prstGeom prst="rect">
            <a:avLst/>
          </a:prstGeom>
          <a:noFill/>
          <a:ln>
            <a:noFill/>
          </a:ln>
        </p:spPr>
        <p:txBody>
          <a:bodyPr spcFirstLastPara="1" wrap="square" lIns="0" tIns="0" rIns="0" bIns="0" anchor="ctr" anchorCtr="0">
            <a:noAutofit/>
          </a:bodyPr>
          <a:lstStyle/>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Visualization</a:t>
            </a:r>
            <a:endParaRPr sz="1300" b="0" i="0" u="none" strike="noStrike" cap="none">
              <a:solidFill>
                <a:schemeClr val="dk1"/>
              </a:solidFill>
              <a:latin typeface="Calibri"/>
              <a:ea typeface="Calibri"/>
              <a:cs typeface="Calibri"/>
              <a:sym typeface="Calibri"/>
            </a:endParaRPr>
          </a:p>
        </p:txBody>
      </p:sp>
      <p:sp>
        <p:nvSpPr>
          <p:cNvPr id="126" name="Google Shape;126;p5"/>
          <p:cNvSpPr/>
          <p:nvPr/>
        </p:nvSpPr>
        <p:spPr>
          <a:xfrm>
            <a:off x="8106156" y="4709160"/>
            <a:ext cx="3108960" cy="1143000"/>
          </a:xfrm>
          <a:prstGeom prst="roundRect">
            <a:avLst>
              <a:gd name="adj" fmla="val 8000"/>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8417052" y="5024628"/>
            <a:ext cx="512064" cy="512064"/>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txBox="1"/>
          <p:nvPr/>
        </p:nvSpPr>
        <p:spPr>
          <a:xfrm>
            <a:off x="8417052" y="5015484"/>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700"/>
              <a:buFont typeface="Calibri"/>
              <a:buNone/>
            </a:pPr>
            <a:r>
              <a:rPr lang="en-US" sz="1700" b="1" i="0" u="none" strike="noStrike" cap="none">
                <a:solidFill>
                  <a:srgbClr val="35C6F4"/>
                </a:solidFill>
                <a:latin typeface="Calibri"/>
                <a:ea typeface="Calibri"/>
                <a:cs typeface="Calibri"/>
                <a:sym typeface="Calibri"/>
              </a:rPr>
              <a:t>9</a:t>
            </a:r>
            <a:endParaRPr sz="1700" b="0" i="0" u="none" strike="noStrike" cap="none">
              <a:solidFill>
                <a:schemeClr val="dk1"/>
              </a:solidFill>
              <a:latin typeface="Calibri"/>
              <a:ea typeface="Calibri"/>
              <a:cs typeface="Calibri"/>
              <a:sym typeface="Calibri"/>
            </a:endParaRPr>
          </a:p>
        </p:txBody>
      </p:sp>
      <p:sp>
        <p:nvSpPr>
          <p:cNvPr id="129" name="Google Shape;129;p5"/>
          <p:cNvSpPr txBox="1"/>
          <p:nvPr/>
        </p:nvSpPr>
        <p:spPr>
          <a:xfrm>
            <a:off x="9066276" y="4800600"/>
            <a:ext cx="2011680" cy="960120"/>
          </a:xfrm>
          <a:prstGeom prst="rect">
            <a:avLst/>
          </a:prstGeom>
          <a:noFill/>
          <a:ln>
            <a:noFill/>
          </a:ln>
        </p:spPr>
        <p:txBody>
          <a:bodyPr spcFirstLastPara="1" wrap="square" lIns="0" tIns="0" rIns="0" bIns="0" anchor="ctr" anchorCtr="0">
            <a:noAutofit/>
          </a:bodyPr>
          <a:lstStyle/>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Incident</a:t>
            </a:r>
            <a:endParaRPr sz="1300" b="0" i="0" u="none" strike="noStrike" cap="none">
              <a:solidFill>
                <a:schemeClr val="dk1"/>
              </a:solidFill>
              <a:latin typeface="Calibri"/>
              <a:ea typeface="Calibri"/>
              <a:cs typeface="Calibri"/>
              <a:sym typeface="Calibri"/>
            </a:endParaRPr>
          </a:p>
          <a:p>
            <a:pPr marL="0" marR="0" lvl="0" indent="0" algn="l" rtl="0">
              <a:lnSpc>
                <a:spcPct val="115384"/>
              </a:lnSpc>
              <a:spcBef>
                <a:spcPts val="0"/>
              </a:spcBef>
              <a:spcAft>
                <a:spcPts val="0"/>
              </a:spcAft>
              <a:buClr>
                <a:srgbClr val="F4F7FB"/>
              </a:buClr>
              <a:buSzPts val="1300"/>
              <a:buFont typeface="Calibri"/>
              <a:buNone/>
            </a:pPr>
            <a:r>
              <a:rPr lang="en-US" sz="1300" b="1" i="0" u="none" strike="noStrike" cap="none">
                <a:solidFill>
                  <a:srgbClr val="F4F7FB"/>
                </a:solidFill>
                <a:latin typeface="Calibri"/>
                <a:ea typeface="Calibri"/>
                <a:cs typeface="Calibri"/>
                <a:sym typeface="Calibri"/>
              </a:rPr>
              <a:t>Response</a:t>
            </a:r>
            <a:endParaRPr sz="1300" b="0" i="0" u="none" strike="noStrike" cap="none">
              <a:solidFill>
                <a:schemeClr val="dk1"/>
              </a:solidFill>
              <a:latin typeface="Calibri"/>
              <a:ea typeface="Calibri"/>
              <a:cs typeface="Calibri"/>
              <a:sym typeface="Calibri"/>
            </a:endParaRPr>
          </a:p>
        </p:txBody>
      </p:sp>
      <p:sp>
        <p:nvSpPr>
          <p:cNvPr id="130" name="Google Shape;130;p5"/>
          <p:cNvSpPr txBox="1"/>
          <p:nvPr/>
        </p:nvSpPr>
        <p:spPr>
          <a:xfrm>
            <a:off x="4082796" y="1805940"/>
            <a:ext cx="4572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2000"/>
              <a:buFont typeface="Calibri"/>
              <a:buNone/>
            </a:pPr>
            <a:r>
              <a:rPr lang="en-US" sz="2000" b="0" i="0" u="none" strike="noStrike" cap="none">
                <a:solidFill>
                  <a:srgbClr val="35C6F4"/>
                </a:solidFill>
                <a:latin typeface="Calibri"/>
                <a:ea typeface="Calibri"/>
                <a:cs typeface="Calibri"/>
                <a:sym typeface="Calibri"/>
              </a:rPr>
              <a:t>→</a:t>
            </a:r>
            <a:endParaRPr sz="2000" b="0" i="0" u="none" strike="noStrike" cap="none">
              <a:solidFill>
                <a:schemeClr val="dk1"/>
              </a:solidFill>
              <a:latin typeface="Calibri"/>
              <a:ea typeface="Calibri"/>
              <a:cs typeface="Calibri"/>
              <a:sym typeface="Calibri"/>
            </a:endParaRPr>
          </a:p>
        </p:txBody>
      </p:sp>
      <p:sp>
        <p:nvSpPr>
          <p:cNvPr id="131" name="Google Shape;131;p5"/>
          <p:cNvSpPr txBox="1"/>
          <p:nvPr/>
        </p:nvSpPr>
        <p:spPr>
          <a:xfrm>
            <a:off x="7648956" y="1805940"/>
            <a:ext cx="4572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2000"/>
              <a:buFont typeface="Calibri"/>
              <a:buNone/>
            </a:pPr>
            <a:r>
              <a:rPr lang="en-US" sz="2000" b="0" i="0" u="none" strike="noStrike" cap="none">
                <a:solidFill>
                  <a:srgbClr val="35C6F4"/>
                </a:solidFill>
                <a:latin typeface="Calibri"/>
                <a:ea typeface="Calibri"/>
                <a:cs typeface="Calibri"/>
                <a:sym typeface="Calibri"/>
              </a:rPr>
              <a:t>→</a:t>
            </a:r>
            <a:endParaRPr sz="2000" b="0" i="0" u="none" strike="noStrike" cap="none">
              <a:solidFill>
                <a:schemeClr val="dk1"/>
              </a:solidFill>
              <a:latin typeface="Calibri"/>
              <a:ea typeface="Calibri"/>
              <a:cs typeface="Calibri"/>
              <a:sym typeface="Calibri"/>
            </a:endParaRPr>
          </a:p>
        </p:txBody>
      </p:sp>
      <p:sp>
        <p:nvSpPr>
          <p:cNvPr id="132" name="Google Shape;132;p5"/>
          <p:cNvSpPr txBox="1"/>
          <p:nvPr/>
        </p:nvSpPr>
        <p:spPr>
          <a:xfrm>
            <a:off x="7648956" y="3451860"/>
            <a:ext cx="4572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2000"/>
              <a:buFont typeface="Calibri"/>
              <a:buNone/>
            </a:pPr>
            <a:r>
              <a:rPr lang="en-US" sz="2000" b="0" i="0" u="none" strike="noStrike" cap="none">
                <a:solidFill>
                  <a:srgbClr val="35C6F4"/>
                </a:solidFill>
                <a:latin typeface="Calibri"/>
                <a:ea typeface="Calibri"/>
                <a:cs typeface="Calibri"/>
                <a:sym typeface="Calibri"/>
              </a:rPr>
              <a:t>←</a:t>
            </a:r>
            <a:endParaRPr sz="2000" b="0" i="0" u="none" strike="noStrike" cap="none">
              <a:solidFill>
                <a:schemeClr val="dk1"/>
              </a:solidFill>
              <a:latin typeface="Calibri"/>
              <a:ea typeface="Calibri"/>
              <a:cs typeface="Calibri"/>
              <a:sym typeface="Calibri"/>
            </a:endParaRPr>
          </a:p>
        </p:txBody>
      </p:sp>
      <p:sp>
        <p:nvSpPr>
          <p:cNvPr id="133" name="Google Shape;133;p5"/>
          <p:cNvSpPr txBox="1"/>
          <p:nvPr/>
        </p:nvSpPr>
        <p:spPr>
          <a:xfrm>
            <a:off x="4082796" y="3451860"/>
            <a:ext cx="4572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2000"/>
              <a:buFont typeface="Calibri"/>
              <a:buNone/>
            </a:pPr>
            <a:r>
              <a:rPr lang="en-US" sz="2000" b="0" i="0" u="none" strike="noStrike" cap="none">
                <a:solidFill>
                  <a:srgbClr val="35C6F4"/>
                </a:solidFill>
                <a:latin typeface="Calibri"/>
                <a:ea typeface="Calibri"/>
                <a:cs typeface="Calibri"/>
                <a:sym typeface="Calibri"/>
              </a:rPr>
              <a:t>←</a:t>
            </a:r>
            <a:endParaRPr sz="2000" b="0" i="0" u="none" strike="noStrike" cap="none">
              <a:solidFill>
                <a:schemeClr val="dk1"/>
              </a:solidFill>
              <a:latin typeface="Calibri"/>
              <a:ea typeface="Calibri"/>
              <a:cs typeface="Calibri"/>
              <a:sym typeface="Calibri"/>
            </a:endParaRPr>
          </a:p>
        </p:txBody>
      </p:sp>
      <p:sp>
        <p:nvSpPr>
          <p:cNvPr id="134" name="Google Shape;134;p5"/>
          <p:cNvSpPr txBox="1"/>
          <p:nvPr/>
        </p:nvSpPr>
        <p:spPr>
          <a:xfrm>
            <a:off x="4082796" y="5097780"/>
            <a:ext cx="4572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2000"/>
              <a:buFont typeface="Calibri"/>
              <a:buNone/>
            </a:pPr>
            <a:r>
              <a:rPr lang="en-US" sz="2000" b="0" i="0" u="none" strike="noStrike" cap="none">
                <a:solidFill>
                  <a:srgbClr val="35C6F4"/>
                </a:solidFill>
                <a:latin typeface="Calibri"/>
                <a:ea typeface="Calibri"/>
                <a:cs typeface="Calibri"/>
                <a:sym typeface="Calibri"/>
              </a:rPr>
              <a:t>→</a:t>
            </a:r>
            <a:endParaRPr sz="2000" b="0" i="0" u="none" strike="noStrike" cap="none">
              <a:solidFill>
                <a:schemeClr val="dk1"/>
              </a:solidFill>
              <a:latin typeface="Calibri"/>
              <a:ea typeface="Calibri"/>
              <a:cs typeface="Calibri"/>
              <a:sym typeface="Calibri"/>
            </a:endParaRPr>
          </a:p>
        </p:txBody>
      </p:sp>
      <p:sp>
        <p:nvSpPr>
          <p:cNvPr id="135" name="Google Shape;135;p5"/>
          <p:cNvSpPr txBox="1"/>
          <p:nvPr/>
        </p:nvSpPr>
        <p:spPr>
          <a:xfrm>
            <a:off x="7648956" y="5097780"/>
            <a:ext cx="4572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2000"/>
              <a:buFont typeface="Calibri"/>
              <a:buNone/>
            </a:pPr>
            <a:r>
              <a:rPr lang="en-US" sz="2000" b="0" i="0" u="none" strike="noStrike" cap="none">
                <a:solidFill>
                  <a:srgbClr val="35C6F4"/>
                </a:solidFill>
                <a:latin typeface="Calibri"/>
                <a:ea typeface="Calibri"/>
                <a:cs typeface="Calibri"/>
                <a:sym typeface="Calibri"/>
              </a:rPr>
              <a:t>→</a:t>
            </a:r>
            <a:endParaRPr sz="2000" b="0" i="0" u="none" strike="noStrike" cap="none">
              <a:solidFill>
                <a:schemeClr val="dk1"/>
              </a:solidFill>
              <a:latin typeface="Calibri"/>
              <a:ea typeface="Calibri"/>
              <a:cs typeface="Calibri"/>
              <a:sym typeface="Calibri"/>
            </a:endParaRPr>
          </a:p>
        </p:txBody>
      </p:sp>
      <p:sp>
        <p:nvSpPr>
          <p:cNvPr id="136" name="Google Shape;136;p5"/>
          <p:cNvSpPr txBox="1"/>
          <p:nvPr/>
        </p:nvSpPr>
        <p:spPr>
          <a:xfrm>
            <a:off x="9477756" y="2560320"/>
            <a:ext cx="36576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2000"/>
              <a:buFont typeface="Calibri"/>
              <a:buNone/>
            </a:pPr>
            <a:r>
              <a:rPr lang="en-US" sz="2000" b="0" i="0" u="none" strike="noStrike" cap="none">
                <a:solidFill>
                  <a:srgbClr val="35C6F4"/>
                </a:solidFill>
                <a:latin typeface="Calibri"/>
                <a:ea typeface="Calibri"/>
                <a:cs typeface="Calibri"/>
                <a:sym typeface="Calibri"/>
              </a:rPr>
              <a:t>↓</a:t>
            </a:r>
            <a:endParaRPr sz="2000" b="0" i="0" u="none" strike="noStrike" cap="none">
              <a:solidFill>
                <a:schemeClr val="dk1"/>
              </a:solidFill>
              <a:latin typeface="Calibri"/>
              <a:ea typeface="Calibri"/>
              <a:cs typeface="Calibri"/>
              <a:sym typeface="Calibri"/>
            </a:endParaRPr>
          </a:p>
        </p:txBody>
      </p:sp>
      <p:sp>
        <p:nvSpPr>
          <p:cNvPr id="137" name="Google Shape;137;p5"/>
          <p:cNvSpPr txBox="1"/>
          <p:nvPr/>
        </p:nvSpPr>
        <p:spPr>
          <a:xfrm>
            <a:off x="2345436" y="4206240"/>
            <a:ext cx="36576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2000"/>
              <a:buFont typeface="Calibri"/>
              <a:buNone/>
            </a:pPr>
            <a:r>
              <a:rPr lang="en-US" sz="2000" b="0" i="0" u="none" strike="noStrike" cap="none">
                <a:solidFill>
                  <a:srgbClr val="35C6F4"/>
                </a:solidFill>
                <a:latin typeface="Calibri"/>
                <a:ea typeface="Calibri"/>
                <a:cs typeface="Calibri"/>
                <a:sym typeface="Calibri"/>
              </a:rPr>
              <a:t>↓</a:t>
            </a:r>
            <a:endParaRPr sz="2000" b="0" i="0" u="none" strike="noStrike" cap="none">
              <a:solidFill>
                <a:schemeClr val="dk1"/>
              </a:solidFill>
              <a:latin typeface="Calibri"/>
              <a:ea typeface="Calibri"/>
              <a:cs typeface="Calibri"/>
              <a:sym typeface="Calibri"/>
            </a:endParaRPr>
          </a:p>
        </p:txBody>
      </p:sp>
      <p:sp>
        <p:nvSpPr>
          <p:cNvPr id="138" name="Google Shape;138;p5"/>
          <p:cNvSpPr txBox="1"/>
          <p:nvPr/>
        </p:nvSpPr>
        <p:spPr>
          <a:xfrm>
            <a:off x="548640" y="6035040"/>
            <a:ext cx="11091672" cy="502920"/>
          </a:xfrm>
          <a:prstGeom prst="rect">
            <a:avLst/>
          </a:prstGeom>
          <a:noFill/>
          <a:ln>
            <a:noFill/>
          </a:ln>
        </p:spPr>
        <p:txBody>
          <a:bodyPr spcFirstLastPara="1" wrap="square" lIns="0" tIns="0" rIns="0" bIns="0" anchor="ctr" anchorCtr="0">
            <a:noAutofit/>
          </a:bodyPr>
          <a:lstStyle/>
          <a:p>
            <a:pPr marL="0" marR="0" lvl="0" indent="0" algn="ctr" rtl="0">
              <a:lnSpc>
                <a:spcPct val="125000"/>
              </a:lnSpc>
              <a:spcBef>
                <a:spcPts val="0"/>
              </a:spcBef>
              <a:spcAft>
                <a:spcPts val="0"/>
              </a:spcAft>
              <a:buClr>
                <a:srgbClr val="94A3BE"/>
              </a:buClr>
              <a:buSzPts val="1200"/>
              <a:buFont typeface="Calibri"/>
              <a:buNone/>
            </a:pPr>
            <a:r>
              <a:rPr lang="en-US" sz="1200" b="0" i="0" u="none" strike="noStrike" cap="none" dirty="0">
                <a:solidFill>
                  <a:srgbClr val="94A3BE"/>
                </a:solidFill>
                <a:latin typeface="Calibri"/>
                <a:ea typeface="Calibri"/>
                <a:cs typeface="Calibri"/>
                <a:sym typeface="Calibri"/>
              </a:rPr>
              <a:t>PCAP-derived traffic was transformed into structured data, </a:t>
            </a:r>
            <a:r>
              <a:rPr lang="en-US" sz="1200" b="0" i="0" u="none" strike="noStrike" cap="none" dirty="0" err="1">
                <a:solidFill>
                  <a:srgbClr val="94A3BE"/>
                </a:solidFill>
                <a:latin typeface="Calibri"/>
                <a:ea typeface="Calibri"/>
                <a:cs typeface="Calibri"/>
                <a:sym typeface="Calibri"/>
              </a:rPr>
              <a:t>analysed</a:t>
            </a:r>
            <a:r>
              <a:rPr lang="en-US" sz="1200" b="0" i="0" u="none" strike="noStrike" cap="none" dirty="0">
                <a:solidFill>
                  <a:srgbClr val="94A3BE"/>
                </a:solidFill>
                <a:latin typeface="Calibri"/>
                <a:ea typeface="Calibri"/>
                <a:cs typeface="Calibri"/>
                <a:sym typeface="Calibri"/>
              </a:rPr>
              <a:t> using AI-assisted methods, independently validated, converted into detection logic and visual evidence, and finally used to support an evidence-based incident response strategy.</a:t>
            </a:r>
            <a:endParaRPr sz="1200" b="0" i="0" u="none" strike="noStrike" cap="none" dirty="0">
              <a:solidFill>
                <a:schemeClr val="dk1"/>
              </a:solidFill>
              <a:latin typeface="Calibri"/>
              <a:ea typeface="Calibri"/>
              <a:cs typeface="Calibri"/>
              <a:sym typeface="Calibri"/>
            </a:endParaRPr>
          </a:p>
        </p:txBody>
      </p:sp>
      <p:sp>
        <p:nvSpPr>
          <p:cNvPr id="139" name="Google Shape;139;p5"/>
          <p:cNvSpPr txBox="1"/>
          <p:nvPr/>
        </p:nvSpPr>
        <p:spPr>
          <a:xfrm>
            <a:off x="548640" y="6565392"/>
            <a:ext cx="6400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E6E8C"/>
              </a:buClr>
              <a:buSzPts val="900"/>
              <a:buFont typeface="Calibri"/>
              <a:buNone/>
            </a:pPr>
            <a:r>
              <a:rPr lang="en-US" sz="900" b="0" i="0" u="none" strike="noStrike" cap="none">
                <a:solidFill>
                  <a:srgbClr val="5E6E8C"/>
                </a:solidFill>
                <a:latin typeface="Calibri"/>
                <a:ea typeface="Calibri"/>
                <a:cs typeface="Calibri"/>
                <a:sym typeface="Calibri"/>
              </a:rPr>
              <a:t>AI-POWERED PCAP ANALYSIS &amp; THREAT DETECTION</a:t>
            </a:r>
            <a:endParaRPr sz="900" b="0" i="0" u="none" strike="noStrike" cap="none">
              <a:solidFill>
                <a:schemeClr val="dk1"/>
              </a:solidFill>
              <a:latin typeface="Calibri"/>
              <a:ea typeface="Calibri"/>
              <a:cs typeface="Calibri"/>
              <a:sym typeface="Calibri"/>
            </a:endParaRPr>
          </a:p>
        </p:txBody>
      </p:sp>
      <p:sp>
        <p:nvSpPr>
          <p:cNvPr id="140" name="Google Shape;140;p5"/>
          <p:cNvSpPr txBox="1"/>
          <p:nvPr/>
        </p:nvSpPr>
        <p:spPr>
          <a:xfrm>
            <a:off x="10972800" y="6565392"/>
            <a:ext cx="66751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E6E8C"/>
              </a:buClr>
              <a:buSzPts val="900"/>
              <a:buFont typeface="Calibri"/>
              <a:buNone/>
            </a:pPr>
            <a:r>
              <a:rPr lang="en-US" sz="900" b="0" i="0" u="none" strike="noStrike" cap="none" dirty="0">
                <a:solidFill>
                  <a:srgbClr val="5E6E8C"/>
                </a:solidFill>
                <a:latin typeface="Calibri"/>
                <a:ea typeface="Calibri"/>
                <a:cs typeface="Calibri"/>
                <a:sym typeface="Calibri"/>
              </a:rPr>
              <a:t>03 / 09</a:t>
            </a:r>
            <a:endParaRPr sz="9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Shape 145"/>
        <p:cNvGrpSpPr/>
        <p:nvPr/>
      </p:nvGrpSpPr>
      <p:grpSpPr>
        <a:xfrm>
          <a:off x="0" y="0"/>
          <a:ext cx="0" cy="0"/>
          <a:chOff x="0" y="0"/>
          <a:chExt cx="0" cy="0"/>
        </a:xfrm>
      </p:grpSpPr>
      <p:sp>
        <p:nvSpPr>
          <p:cNvPr id="146" name="Google Shape;146;p6"/>
          <p:cNvSpPr txBox="1"/>
          <p:nvPr/>
        </p:nvSpPr>
        <p:spPr>
          <a:xfrm>
            <a:off x="548640" y="365760"/>
            <a:ext cx="1106424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3000"/>
              <a:buFont typeface="Calibri"/>
              <a:buNone/>
            </a:pPr>
            <a:r>
              <a:rPr lang="en-US" sz="3000" b="1" i="0" u="none" strike="noStrike" cap="none">
                <a:solidFill>
                  <a:srgbClr val="F4F7FB"/>
                </a:solidFill>
                <a:latin typeface="Calibri"/>
                <a:ea typeface="Calibri"/>
                <a:cs typeface="Calibri"/>
                <a:sym typeface="Calibri"/>
              </a:rPr>
              <a:t>Key Network Traffic Findings</a:t>
            </a:r>
            <a:endParaRPr sz="3000" b="0" i="0" u="none" strike="noStrike" cap="none">
              <a:solidFill>
                <a:schemeClr val="dk1"/>
              </a:solidFill>
              <a:latin typeface="Calibri"/>
              <a:ea typeface="Calibri"/>
              <a:cs typeface="Calibri"/>
              <a:sym typeface="Calibri"/>
            </a:endParaRPr>
          </a:p>
        </p:txBody>
      </p:sp>
      <p:sp>
        <p:nvSpPr>
          <p:cNvPr id="147" name="Google Shape;147;p6"/>
          <p:cNvSpPr/>
          <p:nvPr/>
        </p:nvSpPr>
        <p:spPr>
          <a:xfrm>
            <a:off x="548640" y="1115568"/>
            <a:ext cx="2072030" cy="960120"/>
          </a:xfrm>
          <a:prstGeom prst="roundRect">
            <a:avLst>
              <a:gd name="adj" fmla="val 7619"/>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6"/>
          <p:cNvSpPr txBox="1"/>
          <p:nvPr/>
        </p:nvSpPr>
        <p:spPr>
          <a:xfrm>
            <a:off x="640080" y="1225296"/>
            <a:ext cx="188915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2200"/>
              <a:buFont typeface="Calibri"/>
              <a:buNone/>
            </a:pPr>
            <a:r>
              <a:rPr lang="en-US" sz="2200" b="1" i="0" u="none" strike="noStrike" cap="none">
                <a:solidFill>
                  <a:srgbClr val="35C6F4"/>
                </a:solidFill>
                <a:latin typeface="Calibri"/>
                <a:ea typeface="Calibri"/>
                <a:cs typeface="Calibri"/>
                <a:sym typeface="Calibri"/>
              </a:rPr>
              <a:t>3,525</a:t>
            </a:r>
            <a:endParaRPr sz="2200" b="0" i="0" u="none" strike="noStrike" cap="none">
              <a:solidFill>
                <a:schemeClr val="dk1"/>
              </a:solidFill>
              <a:latin typeface="Calibri"/>
              <a:ea typeface="Calibri"/>
              <a:cs typeface="Calibri"/>
              <a:sym typeface="Calibri"/>
            </a:endParaRPr>
          </a:p>
        </p:txBody>
      </p:sp>
      <p:sp>
        <p:nvSpPr>
          <p:cNvPr id="149" name="Google Shape;149;p6"/>
          <p:cNvSpPr txBox="1"/>
          <p:nvPr/>
        </p:nvSpPr>
        <p:spPr>
          <a:xfrm>
            <a:off x="640080" y="1682496"/>
            <a:ext cx="1889150" cy="347472"/>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94A3BE"/>
              </a:buClr>
              <a:buSzPts val="1000"/>
              <a:buFont typeface="Calibri"/>
              <a:buNone/>
            </a:pPr>
            <a:r>
              <a:rPr lang="en-US" sz="1000" b="0" i="0" u="none" strike="noStrike" cap="none">
                <a:solidFill>
                  <a:srgbClr val="94A3BE"/>
                </a:solidFill>
                <a:latin typeface="Calibri"/>
                <a:ea typeface="Calibri"/>
                <a:cs typeface="Calibri"/>
                <a:sym typeface="Calibri"/>
              </a:rPr>
              <a:t>True Internal ↔ Public</a:t>
            </a:r>
            <a:endParaRPr sz="1000" b="0" i="0" u="none" strike="noStrike" cap="none">
              <a:solidFill>
                <a:schemeClr val="dk1"/>
              </a:solidFill>
              <a:latin typeface="Calibri"/>
              <a:ea typeface="Calibri"/>
              <a:cs typeface="Calibri"/>
              <a:sym typeface="Calibri"/>
            </a:endParaRPr>
          </a:p>
        </p:txBody>
      </p:sp>
      <p:sp>
        <p:nvSpPr>
          <p:cNvPr id="150" name="Google Shape;150;p6"/>
          <p:cNvSpPr/>
          <p:nvPr/>
        </p:nvSpPr>
        <p:spPr>
          <a:xfrm>
            <a:off x="2803550" y="1115568"/>
            <a:ext cx="2072030" cy="960120"/>
          </a:xfrm>
          <a:prstGeom prst="roundRect">
            <a:avLst>
              <a:gd name="adj" fmla="val 7619"/>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6"/>
          <p:cNvSpPr txBox="1"/>
          <p:nvPr/>
        </p:nvSpPr>
        <p:spPr>
          <a:xfrm>
            <a:off x="2894990" y="1225296"/>
            <a:ext cx="188915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2200"/>
              <a:buFont typeface="Calibri"/>
              <a:buNone/>
            </a:pPr>
            <a:r>
              <a:rPr lang="en-US" sz="2200" b="1" i="0" u="none" strike="noStrike" cap="none">
                <a:solidFill>
                  <a:srgbClr val="35C6F4"/>
                </a:solidFill>
                <a:latin typeface="Calibri"/>
                <a:ea typeface="Calibri"/>
                <a:cs typeface="Calibri"/>
                <a:sym typeface="Calibri"/>
              </a:rPr>
              <a:t>1,725</a:t>
            </a:r>
            <a:endParaRPr sz="2200" b="0" i="0" u="none" strike="noStrike" cap="none">
              <a:solidFill>
                <a:schemeClr val="dk1"/>
              </a:solidFill>
              <a:latin typeface="Calibri"/>
              <a:ea typeface="Calibri"/>
              <a:cs typeface="Calibri"/>
              <a:sym typeface="Calibri"/>
            </a:endParaRPr>
          </a:p>
        </p:txBody>
      </p:sp>
      <p:sp>
        <p:nvSpPr>
          <p:cNvPr id="152" name="Google Shape;152;p6"/>
          <p:cNvSpPr txBox="1"/>
          <p:nvPr/>
        </p:nvSpPr>
        <p:spPr>
          <a:xfrm>
            <a:off x="2894990" y="1682496"/>
            <a:ext cx="1889150" cy="347472"/>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94A3BE"/>
              </a:buClr>
              <a:buSzPts val="1000"/>
              <a:buFont typeface="Calibri"/>
              <a:buNone/>
            </a:pPr>
            <a:r>
              <a:rPr lang="en-US" sz="1000" b="0" i="0" u="none" strike="noStrike" cap="none">
                <a:solidFill>
                  <a:srgbClr val="94A3BE"/>
                </a:solidFill>
                <a:latin typeface="Calibri"/>
                <a:ea typeface="Calibri"/>
                <a:cs typeface="Calibri"/>
                <a:sym typeface="Calibri"/>
              </a:rPr>
              <a:t>Strongest Relationship</a:t>
            </a:r>
            <a:endParaRPr sz="1000" b="0" i="0" u="none" strike="noStrike" cap="none">
              <a:solidFill>
                <a:schemeClr val="dk1"/>
              </a:solidFill>
              <a:latin typeface="Calibri"/>
              <a:ea typeface="Calibri"/>
              <a:cs typeface="Calibri"/>
              <a:sym typeface="Calibri"/>
            </a:endParaRPr>
          </a:p>
        </p:txBody>
      </p:sp>
      <p:sp>
        <p:nvSpPr>
          <p:cNvPr id="153" name="Google Shape;153;p6"/>
          <p:cNvSpPr/>
          <p:nvPr/>
        </p:nvSpPr>
        <p:spPr>
          <a:xfrm>
            <a:off x="5058461" y="1115568"/>
            <a:ext cx="2072030" cy="960120"/>
          </a:xfrm>
          <a:prstGeom prst="roundRect">
            <a:avLst>
              <a:gd name="adj" fmla="val 7619"/>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6"/>
          <p:cNvSpPr txBox="1"/>
          <p:nvPr/>
        </p:nvSpPr>
        <p:spPr>
          <a:xfrm>
            <a:off x="5149901" y="1225296"/>
            <a:ext cx="188915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2200"/>
              <a:buFont typeface="Calibri"/>
              <a:buNone/>
            </a:pPr>
            <a:r>
              <a:rPr lang="en-US" sz="2200" b="1" i="0" u="none" strike="noStrike" cap="none">
                <a:solidFill>
                  <a:srgbClr val="35C6F4"/>
                </a:solidFill>
                <a:latin typeface="Calibri"/>
                <a:ea typeface="Calibri"/>
                <a:cs typeface="Calibri"/>
                <a:sym typeface="Calibri"/>
              </a:rPr>
              <a:t>804</a:t>
            </a:r>
            <a:endParaRPr sz="2200" b="0" i="0" u="none" strike="noStrike" cap="none">
              <a:solidFill>
                <a:schemeClr val="dk1"/>
              </a:solidFill>
              <a:latin typeface="Calibri"/>
              <a:ea typeface="Calibri"/>
              <a:cs typeface="Calibri"/>
              <a:sym typeface="Calibri"/>
            </a:endParaRPr>
          </a:p>
        </p:txBody>
      </p:sp>
      <p:sp>
        <p:nvSpPr>
          <p:cNvPr id="155" name="Google Shape;155;p6"/>
          <p:cNvSpPr txBox="1"/>
          <p:nvPr/>
        </p:nvSpPr>
        <p:spPr>
          <a:xfrm>
            <a:off x="5149901" y="1682496"/>
            <a:ext cx="1889150" cy="347472"/>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94A3BE"/>
              </a:buClr>
              <a:buSzPts val="1000"/>
              <a:buFont typeface="Calibri"/>
              <a:buNone/>
            </a:pPr>
            <a:r>
              <a:rPr lang="en-US" sz="1000" b="0" i="0" u="none" strike="noStrike" cap="none">
                <a:solidFill>
                  <a:srgbClr val="94A3BE"/>
                </a:solidFill>
                <a:latin typeface="Calibri"/>
                <a:ea typeface="Calibri"/>
                <a:cs typeface="Calibri"/>
                <a:sym typeface="Calibri"/>
              </a:rPr>
              <a:t>TCP/53480</a:t>
            </a:r>
            <a:endParaRPr sz="1000" b="0" i="0" u="none" strike="noStrike" cap="none">
              <a:solidFill>
                <a:schemeClr val="dk1"/>
              </a:solidFill>
              <a:latin typeface="Calibri"/>
              <a:ea typeface="Calibri"/>
              <a:cs typeface="Calibri"/>
              <a:sym typeface="Calibri"/>
            </a:endParaRPr>
          </a:p>
        </p:txBody>
      </p:sp>
      <p:sp>
        <p:nvSpPr>
          <p:cNvPr id="156" name="Google Shape;156;p6"/>
          <p:cNvSpPr/>
          <p:nvPr/>
        </p:nvSpPr>
        <p:spPr>
          <a:xfrm>
            <a:off x="7313371" y="1115568"/>
            <a:ext cx="2072030" cy="960120"/>
          </a:xfrm>
          <a:prstGeom prst="roundRect">
            <a:avLst>
              <a:gd name="adj" fmla="val 7619"/>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6"/>
          <p:cNvSpPr txBox="1"/>
          <p:nvPr/>
        </p:nvSpPr>
        <p:spPr>
          <a:xfrm>
            <a:off x="7404811" y="1225296"/>
            <a:ext cx="188915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2200"/>
              <a:buFont typeface="Calibri"/>
              <a:buNone/>
            </a:pPr>
            <a:r>
              <a:rPr lang="en-US" sz="2200" b="1" i="0" u="none" strike="noStrike" cap="none">
                <a:solidFill>
                  <a:srgbClr val="35C6F4"/>
                </a:solidFill>
                <a:latin typeface="Calibri"/>
                <a:ea typeface="Calibri"/>
                <a:cs typeface="Calibri"/>
                <a:sym typeface="Calibri"/>
              </a:rPr>
              <a:t>112</a:t>
            </a:r>
            <a:endParaRPr sz="2200" b="0" i="0" u="none" strike="noStrike" cap="none">
              <a:solidFill>
                <a:schemeClr val="dk1"/>
              </a:solidFill>
              <a:latin typeface="Calibri"/>
              <a:ea typeface="Calibri"/>
              <a:cs typeface="Calibri"/>
              <a:sym typeface="Calibri"/>
            </a:endParaRPr>
          </a:p>
        </p:txBody>
      </p:sp>
      <p:sp>
        <p:nvSpPr>
          <p:cNvPr id="158" name="Google Shape;158;p6"/>
          <p:cNvSpPr txBox="1"/>
          <p:nvPr/>
        </p:nvSpPr>
        <p:spPr>
          <a:xfrm>
            <a:off x="7404811" y="1682496"/>
            <a:ext cx="1889150" cy="347472"/>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94A3BE"/>
              </a:buClr>
              <a:buSzPts val="1000"/>
              <a:buFont typeface="Calibri"/>
              <a:buNone/>
            </a:pPr>
            <a:r>
              <a:rPr lang="en-US" sz="1000" b="0" i="0" u="none" strike="noStrike" cap="none">
                <a:solidFill>
                  <a:srgbClr val="94A3BE"/>
                </a:solidFill>
                <a:latin typeface="Calibri"/>
                <a:ea typeface="Calibri"/>
                <a:cs typeface="Calibri"/>
                <a:sym typeface="Calibri"/>
              </a:rPr>
              <a:t>DNS Records</a:t>
            </a:r>
            <a:endParaRPr sz="1000" b="0" i="0" u="none" strike="noStrike" cap="none">
              <a:solidFill>
                <a:schemeClr val="dk1"/>
              </a:solidFill>
              <a:latin typeface="Calibri"/>
              <a:ea typeface="Calibri"/>
              <a:cs typeface="Calibri"/>
              <a:sym typeface="Calibri"/>
            </a:endParaRPr>
          </a:p>
        </p:txBody>
      </p:sp>
      <p:sp>
        <p:nvSpPr>
          <p:cNvPr id="159" name="Google Shape;159;p6"/>
          <p:cNvSpPr/>
          <p:nvPr/>
        </p:nvSpPr>
        <p:spPr>
          <a:xfrm>
            <a:off x="9568282" y="1115568"/>
            <a:ext cx="2072030" cy="960120"/>
          </a:xfrm>
          <a:prstGeom prst="roundRect">
            <a:avLst>
              <a:gd name="adj" fmla="val 7619"/>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6"/>
          <p:cNvSpPr txBox="1"/>
          <p:nvPr/>
        </p:nvSpPr>
        <p:spPr>
          <a:xfrm>
            <a:off x="9659722" y="1225296"/>
            <a:ext cx="188915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2200"/>
              <a:buFont typeface="Calibri"/>
              <a:buNone/>
            </a:pPr>
            <a:r>
              <a:rPr lang="en-US" sz="2200" b="1" i="0" u="none" strike="noStrike" cap="none">
                <a:solidFill>
                  <a:srgbClr val="35C6F4"/>
                </a:solidFill>
                <a:latin typeface="Calibri"/>
                <a:ea typeface="Calibri"/>
                <a:cs typeface="Calibri"/>
                <a:sym typeface="Calibri"/>
              </a:rPr>
              <a:t>4</a:t>
            </a:r>
            <a:endParaRPr sz="2200" b="0" i="0" u="none" strike="noStrike" cap="none">
              <a:solidFill>
                <a:schemeClr val="dk1"/>
              </a:solidFill>
              <a:latin typeface="Calibri"/>
              <a:ea typeface="Calibri"/>
              <a:cs typeface="Calibri"/>
              <a:sym typeface="Calibri"/>
            </a:endParaRPr>
          </a:p>
        </p:txBody>
      </p:sp>
      <p:sp>
        <p:nvSpPr>
          <p:cNvPr id="161" name="Google Shape;161;p6"/>
          <p:cNvSpPr txBox="1"/>
          <p:nvPr/>
        </p:nvSpPr>
        <p:spPr>
          <a:xfrm>
            <a:off x="9659722" y="1682496"/>
            <a:ext cx="1889150" cy="347472"/>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94A3BE"/>
              </a:buClr>
              <a:buSzPts val="1000"/>
              <a:buFont typeface="Calibri"/>
              <a:buNone/>
            </a:pPr>
            <a:r>
              <a:rPr lang="en-US" sz="1000" b="0" i="0" u="none" strike="noStrike" cap="none">
                <a:solidFill>
                  <a:srgbClr val="94A3BE"/>
                </a:solidFill>
                <a:latin typeface="Calibri"/>
                <a:ea typeface="Calibri"/>
                <a:cs typeface="Calibri"/>
                <a:sym typeface="Calibri"/>
              </a:rPr>
              <a:t>Frame-Size Outliers</a:t>
            </a:r>
            <a:endParaRPr sz="1000" b="0" i="0" u="none" strike="noStrike" cap="none">
              <a:solidFill>
                <a:schemeClr val="dk1"/>
              </a:solidFill>
              <a:latin typeface="Calibri"/>
              <a:ea typeface="Calibri"/>
              <a:cs typeface="Calibri"/>
              <a:sym typeface="Calibri"/>
            </a:endParaRPr>
          </a:p>
        </p:txBody>
      </p:sp>
      <p:sp>
        <p:nvSpPr>
          <p:cNvPr id="162" name="Google Shape;162;p6"/>
          <p:cNvSpPr/>
          <p:nvPr/>
        </p:nvSpPr>
        <p:spPr>
          <a:xfrm>
            <a:off x="548640" y="2331720"/>
            <a:ext cx="5349240" cy="2331720"/>
          </a:xfrm>
          <a:prstGeom prst="roundRect">
            <a:avLst>
              <a:gd name="adj" fmla="val 3529"/>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6"/>
          <p:cNvSpPr txBox="1"/>
          <p:nvPr/>
        </p:nvSpPr>
        <p:spPr>
          <a:xfrm>
            <a:off x="822960" y="2496312"/>
            <a:ext cx="4800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250"/>
              <a:buFont typeface="Calibri"/>
              <a:buNone/>
            </a:pPr>
            <a:r>
              <a:rPr lang="en-US" sz="1250" b="1" i="0" u="none" strike="noStrike" cap="none">
                <a:solidFill>
                  <a:srgbClr val="35C6F4"/>
                </a:solidFill>
                <a:latin typeface="Calibri"/>
                <a:ea typeface="Calibri"/>
                <a:cs typeface="Calibri"/>
                <a:sym typeface="Calibri"/>
              </a:rPr>
              <a:t>TRAFFIC DIRECTION</a:t>
            </a:r>
            <a:endParaRPr sz="1250" b="0" i="0" u="none" strike="noStrike" cap="none">
              <a:solidFill>
                <a:schemeClr val="dk1"/>
              </a:solidFill>
              <a:latin typeface="Calibri"/>
              <a:ea typeface="Calibri"/>
              <a:cs typeface="Calibri"/>
              <a:sym typeface="Calibri"/>
            </a:endParaRPr>
          </a:p>
        </p:txBody>
      </p:sp>
      <p:sp>
        <p:nvSpPr>
          <p:cNvPr id="164" name="Google Shape;164;p6"/>
          <p:cNvSpPr txBox="1"/>
          <p:nvPr/>
        </p:nvSpPr>
        <p:spPr>
          <a:xfrm>
            <a:off x="822960" y="2953512"/>
            <a:ext cx="141732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E"/>
              </a:buClr>
              <a:buSzPts val="1100"/>
              <a:buFont typeface="Calibri"/>
              <a:buNone/>
            </a:pPr>
            <a:r>
              <a:rPr lang="en-US" sz="1100" b="0" i="0" u="none" strike="noStrike" cap="none">
                <a:solidFill>
                  <a:srgbClr val="94A3BE"/>
                </a:solidFill>
                <a:latin typeface="Calibri"/>
                <a:ea typeface="Calibri"/>
                <a:cs typeface="Calibri"/>
                <a:sym typeface="Calibri"/>
              </a:rPr>
              <a:t>Internal → Public</a:t>
            </a:r>
            <a:endParaRPr sz="1100" b="0" i="0" u="none" strike="noStrike" cap="none">
              <a:solidFill>
                <a:schemeClr val="dk1"/>
              </a:solidFill>
              <a:latin typeface="Calibri"/>
              <a:ea typeface="Calibri"/>
              <a:cs typeface="Calibri"/>
              <a:sym typeface="Calibri"/>
            </a:endParaRPr>
          </a:p>
        </p:txBody>
      </p:sp>
      <p:sp>
        <p:nvSpPr>
          <p:cNvPr id="165" name="Google Shape;165;p6"/>
          <p:cNvSpPr/>
          <p:nvPr/>
        </p:nvSpPr>
        <p:spPr>
          <a:xfrm>
            <a:off x="2331720" y="3008376"/>
            <a:ext cx="2880360" cy="182880"/>
          </a:xfrm>
          <a:prstGeom prst="roundRect">
            <a:avLst>
              <a:gd name="adj" fmla="val 20000"/>
            </a:avLst>
          </a:prstGeom>
          <a:solidFill>
            <a:srgbClr val="1A25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6"/>
          <p:cNvSpPr/>
          <p:nvPr/>
        </p:nvSpPr>
        <p:spPr>
          <a:xfrm>
            <a:off x="2331720" y="3008376"/>
            <a:ext cx="2880360" cy="182880"/>
          </a:xfrm>
          <a:prstGeom prst="roundRect">
            <a:avLst>
              <a:gd name="adj" fmla="val 20000"/>
            </a:avLst>
          </a:prstGeom>
          <a:solidFill>
            <a:srgbClr val="35C6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6"/>
          <p:cNvSpPr txBox="1"/>
          <p:nvPr/>
        </p:nvSpPr>
        <p:spPr>
          <a:xfrm>
            <a:off x="5303520" y="2935224"/>
            <a:ext cx="8229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250"/>
              <a:buFont typeface="Calibri"/>
              <a:buNone/>
            </a:pPr>
            <a:r>
              <a:rPr lang="en-US" sz="1250" b="1" i="0" u="none" strike="noStrike" cap="none">
                <a:solidFill>
                  <a:srgbClr val="F4F7FB"/>
                </a:solidFill>
                <a:latin typeface="Calibri"/>
                <a:ea typeface="Calibri"/>
                <a:cs typeface="Calibri"/>
                <a:sym typeface="Calibri"/>
              </a:rPr>
              <a:t>1,785</a:t>
            </a:r>
            <a:endParaRPr sz="1250" b="0" i="0" u="none" strike="noStrike" cap="none">
              <a:solidFill>
                <a:schemeClr val="dk1"/>
              </a:solidFill>
              <a:latin typeface="Calibri"/>
              <a:ea typeface="Calibri"/>
              <a:cs typeface="Calibri"/>
              <a:sym typeface="Calibri"/>
            </a:endParaRPr>
          </a:p>
        </p:txBody>
      </p:sp>
      <p:sp>
        <p:nvSpPr>
          <p:cNvPr id="168" name="Google Shape;168;p6"/>
          <p:cNvSpPr txBox="1"/>
          <p:nvPr/>
        </p:nvSpPr>
        <p:spPr>
          <a:xfrm>
            <a:off x="822960" y="3520440"/>
            <a:ext cx="141732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E"/>
              </a:buClr>
              <a:buSzPts val="1100"/>
              <a:buFont typeface="Calibri"/>
              <a:buNone/>
            </a:pPr>
            <a:r>
              <a:rPr lang="en-US" sz="1100" b="0" i="0" u="none" strike="noStrike" cap="none">
                <a:solidFill>
                  <a:srgbClr val="94A3BE"/>
                </a:solidFill>
                <a:latin typeface="Calibri"/>
                <a:ea typeface="Calibri"/>
                <a:cs typeface="Calibri"/>
                <a:sym typeface="Calibri"/>
              </a:rPr>
              <a:t>Public → Internal</a:t>
            </a:r>
            <a:endParaRPr sz="1100" b="0" i="0" u="none" strike="noStrike" cap="none">
              <a:solidFill>
                <a:schemeClr val="dk1"/>
              </a:solidFill>
              <a:latin typeface="Calibri"/>
              <a:ea typeface="Calibri"/>
              <a:cs typeface="Calibri"/>
              <a:sym typeface="Calibri"/>
            </a:endParaRPr>
          </a:p>
        </p:txBody>
      </p:sp>
      <p:sp>
        <p:nvSpPr>
          <p:cNvPr id="169" name="Google Shape;169;p6"/>
          <p:cNvSpPr/>
          <p:nvPr/>
        </p:nvSpPr>
        <p:spPr>
          <a:xfrm>
            <a:off x="2331720" y="3575304"/>
            <a:ext cx="2880360" cy="182880"/>
          </a:xfrm>
          <a:prstGeom prst="roundRect">
            <a:avLst>
              <a:gd name="adj" fmla="val 20000"/>
            </a:avLst>
          </a:prstGeom>
          <a:solidFill>
            <a:srgbClr val="1A25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6"/>
          <p:cNvSpPr/>
          <p:nvPr/>
        </p:nvSpPr>
        <p:spPr>
          <a:xfrm>
            <a:off x="2331720" y="3575304"/>
            <a:ext cx="2807746" cy="182880"/>
          </a:xfrm>
          <a:prstGeom prst="roundRect">
            <a:avLst>
              <a:gd name="adj" fmla="val 20000"/>
            </a:avLst>
          </a:prstGeom>
          <a:solidFill>
            <a:srgbClr val="35C6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6"/>
          <p:cNvSpPr txBox="1"/>
          <p:nvPr/>
        </p:nvSpPr>
        <p:spPr>
          <a:xfrm>
            <a:off x="5303520" y="3502152"/>
            <a:ext cx="8229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250"/>
              <a:buFont typeface="Calibri"/>
              <a:buNone/>
            </a:pPr>
            <a:r>
              <a:rPr lang="en-US" sz="1250" b="1" i="0" u="none" strike="noStrike" cap="none">
                <a:solidFill>
                  <a:srgbClr val="F4F7FB"/>
                </a:solidFill>
                <a:latin typeface="Calibri"/>
                <a:ea typeface="Calibri"/>
                <a:cs typeface="Calibri"/>
                <a:sym typeface="Calibri"/>
              </a:rPr>
              <a:t>1,740</a:t>
            </a:r>
            <a:endParaRPr sz="1250" b="0" i="0" u="none" strike="noStrike" cap="none">
              <a:solidFill>
                <a:schemeClr val="dk1"/>
              </a:solidFill>
              <a:latin typeface="Calibri"/>
              <a:ea typeface="Calibri"/>
              <a:cs typeface="Calibri"/>
              <a:sym typeface="Calibri"/>
            </a:endParaRPr>
          </a:p>
        </p:txBody>
      </p:sp>
      <p:sp>
        <p:nvSpPr>
          <p:cNvPr id="172" name="Google Shape;172;p6"/>
          <p:cNvSpPr/>
          <p:nvPr/>
        </p:nvSpPr>
        <p:spPr>
          <a:xfrm>
            <a:off x="822960" y="4142232"/>
            <a:ext cx="4800600" cy="384048"/>
          </a:xfrm>
          <a:prstGeom prst="roundRect">
            <a:avLst>
              <a:gd name="adj" fmla="val 14286"/>
            </a:avLst>
          </a:prstGeom>
          <a:solidFill>
            <a:srgbClr val="0E1626"/>
          </a:solidFill>
          <a:ln w="9525" cap="flat" cmpd="sng">
            <a:solidFill>
              <a:srgbClr val="1A25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6"/>
          <p:cNvSpPr txBox="1"/>
          <p:nvPr/>
        </p:nvSpPr>
        <p:spPr>
          <a:xfrm>
            <a:off x="1005840" y="4142232"/>
            <a:ext cx="44348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100"/>
              <a:buFont typeface="Calibri"/>
              <a:buNone/>
            </a:pPr>
            <a:r>
              <a:rPr lang="en-US" sz="1100" b="1" i="0" u="none" strike="noStrike" cap="none">
                <a:solidFill>
                  <a:srgbClr val="35C6F4"/>
                </a:solidFill>
                <a:latin typeface="Calibri"/>
                <a:ea typeface="Calibri"/>
                <a:cs typeface="Calibri"/>
                <a:sym typeface="Calibri"/>
              </a:rPr>
              <a:t>3,525 combined records  (99.32% of IP-bearing records)</a:t>
            </a:r>
            <a:endParaRPr sz="1100" b="0" i="0" u="none" strike="noStrike" cap="none">
              <a:solidFill>
                <a:schemeClr val="dk1"/>
              </a:solidFill>
              <a:latin typeface="Calibri"/>
              <a:ea typeface="Calibri"/>
              <a:cs typeface="Calibri"/>
              <a:sym typeface="Calibri"/>
            </a:endParaRPr>
          </a:p>
        </p:txBody>
      </p:sp>
      <p:sp>
        <p:nvSpPr>
          <p:cNvPr id="174" name="Google Shape;174;p6"/>
          <p:cNvSpPr/>
          <p:nvPr/>
        </p:nvSpPr>
        <p:spPr>
          <a:xfrm>
            <a:off x="6108192" y="2331720"/>
            <a:ext cx="5532120" cy="2331720"/>
          </a:xfrm>
          <a:prstGeom prst="roundRect">
            <a:avLst>
              <a:gd name="adj" fmla="val 3529"/>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6"/>
          <p:cNvSpPr txBox="1"/>
          <p:nvPr/>
        </p:nvSpPr>
        <p:spPr>
          <a:xfrm>
            <a:off x="6382512" y="2496312"/>
            <a:ext cx="4983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250"/>
              <a:buFont typeface="Calibri"/>
              <a:buNone/>
            </a:pPr>
            <a:r>
              <a:rPr lang="en-US" sz="1250" b="1" i="0" u="none" strike="noStrike" cap="none">
                <a:solidFill>
                  <a:srgbClr val="35C6F4"/>
                </a:solidFill>
                <a:latin typeface="Calibri"/>
                <a:ea typeface="Calibri"/>
                <a:cs typeface="Calibri"/>
                <a:sym typeface="Calibri"/>
              </a:rPr>
              <a:t>DOMINANT RELATIONSHIP</a:t>
            </a:r>
            <a:endParaRPr sz="1250" b="0" i="0" u="none" strike="noStrike" cap="none">
              <a:solidFill>
                <a:schemeClr val="dk1"/>
              </a:solidFill>
              <a:latin typeface="Calibri"/>
              <a:ea typeface="Calibri"/>
              <a:cs typeface="Calibri"/>
              <a:sym typeface="Calibri"/>
            </a:endParaRPr>
          </a:p>
        </p:txBody>
      </p:sp>
      <p:sp>
        <p:nvSpPr>
          <p:cNvPr id="176" name="Google Shape;176;p6"/>
          <p:cNvSpPr/>
          <p:nvPr/>
        </p:nvSpPr>
        <p:spPr>
          <a:xfrm>
            <a:off x="6428232" y="3017520"/>
            <a:ext cx="1737360" cy="548640"/>
          </a:xfrm>
          <a:prstGeom prst="roundRect">
            <a:avLst>
              <a:gd name="adj" fmla="val 13333"/>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6"/>
          <p:cNvSpPr txBox="1"/>
          <p:nvPr/>
        </p:nvSpPr>
        <p:spPr>
          <a:xfrm>
            <a:off x="6428232" y="3017520"/>
            <a:ext cx="173736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4F7FB"/>
              </a:buClr>
              <a:buSzPts val="1200"/>
              <a:buFont typeface="Courier New"/>
              <a:buNone/>
            </a:pPr>
            <a:r>
              <a:rPr lang="en-US" sz="1200" b="1" i="0" u="none" strike="noStrike" cap="none">
                <a:solidFill>
                  <a:srgbClr val="F4F7FB"/>
                </a:solidFill>
                <a:latin typeface="Courier New"/>
                <a:ea typeface="Courier New"/>
                <a:cs typeface="Courier New"/>
                <a:sym typeface="Courier New"/>
              </a:rPr>
              <a:t>10.10.0.33</a:t>
            </a:r>
            <a:endParaRPr sz="1200" b="0" i="0" u="none" strike="noStrike" cap="none">
              <a:solidFill>
                <a:schemeClr val="dk1"/>
              </a:solidFill>
              <a:latin typeface="Calibri"/>
              <a:ea typeface="Calibri"/>
              <a:cs typeface="Calibri"/>
              <a:sym typeface="Calibri"/>
            </a:endParaRPr>
          </a:p>
        </p:txBody>
      </p:sp>
      <p:sp>
        <p:nvSpPr>
          <p:cNvPr id="178" name="Google Shape;178;p6"/>
          <p:cNvSpPr/>
          <p:nvPr/>
        </p:nvSpPr>
        <p:spPr>
          <a:xfrm>
            <a:off x="9582912" y="3017520"/>
            <a:ext cx="1737360" cy="548640"/>
          </a:xfrm>
          <a:prstGeom prst="roundRect">
            <a:avLst>
              <a:gd name="adj" fmla="val 13333"/>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6"/>
          <p:cNvSpPr txBox="1"/>
          <p:nvPr/>
        </p:nvSpPr>
        <p:spPr>
          <a:xfrm>
            <a:off x="9582912" y="3017520"/>
            <a:ext cx="173736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4F7FB"/>
              </a:buClr>
              <a:buSzPts val="1200"/>
              <a:buFont typeface="Courier New"/>
              <a:buNone/>
            </a:pPr>
            <a:r>
              <a:rPr lang="en-US" sz="1200" b="1" i="0" u="none" strike="noStrike" cap="none">
                <a:solidFill>
                  <a:srgbClr val="F4F7FB"/>
                </a:solidFill>
                <a:latin typeface="Courier New"/>
                <a:ea typeface="Courier New"/>
                <a:cs typeface="Courier New"/>
                <a:sym typeface="Courier New"/>
              </a:rPr>
              <a:t>18.184.26.60</a:t>
            </a:r>
            <a:endParaRPr sz="1200" b="0" i="0" u="none" strike="noStrike" cap="none">
              <a:solidFill>
                <a:schemeClr val="dk1"/>
              </a:solidFill>
              <a:latin typeface="Calibri"/>
              <a:ea typeface="Calibri"/>
              <a:cs typeface="Calibri"/>
              <a:sym typeface="Calibri"/>
            </a:endParaRPr>
          </a:p>
        </p:txBody>
      </p:sp>
      <p:sp>
        <p:nvSpPr>
          <p:cNvPr id="180" name="Google Shape;180;p6"/>
          <p:cNvSpPr txBox="1"/>
          <p:nvPr/>
        </p:nvSpPr>
        <p:spPr>
          <a:xfrm>
            <a:off x="8165592" y="3044952"/>
            <a:ext cx="141732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200"/>
              <a:buFont typeface="Calibri"/>
              <a:buNone/>
            </a:pPr>
            <a:r>
              <a:rPr lang="en-US" sz="1200" b="1" i="0" u="none" strike="noStrike" cap="none">
                <a:solidFill>
                  <a:srgbClr val="35C6F4"/>
                </a:solidFill>
                <a:latin typeface="Calibri"/>
                <a:ea typeface="Calibri"/>
                <a:cs typeface="Calibri"/>
                <a:sym typeface="Calibri"/>
              </a:rPr>
              <a:t>→  877</a:t>
            </a:r>
            <a:endParaRPr sz="1200" b="0" i="0" u="none" strike="noStrike" cap="none">
              <a:solidFill>
                <a:schemeClr val="dk1"/>
              </a:solidFill>
              <a:latin typeface="Calibri"/>
              <a:ea typeface="Calibri"/>
              <a:cs typeface="Calibri"/>
              <a:sym typeface="Calibri"/>
            </a:endParaRPr>
          </a:p>
        </p:txBody>
      </p:sp>
      <p:sp>
        <p:nvSpPr>
          <p:cNvPr id="181" name="Google Shape;181;p6"/>
          <p:cNvSpPr txBox="1"/>
          <p:nvPr/>
        </p:nvSpPr>
        <p:spPr>
          <a:xfrm>
            <a:off x="8165592" y="3310128"/>
            <a:ext cx="141732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200"/>
              <a:buFont typeface="Calibri"/>
              <a:buNone/>
            </a:pPr>
            <a:r>
              <a:rPr lang="en-US" sz="1200" b="1" i="0" u="none" strike="noStrike" cap="none">
                <a:solidFill>
                  <a:srgbClr val="35C6F4"/>
                </a:solidFill>
                <a:latin typeface="Calibri"/>
                <a:ea typeface="Calibri"/>
                <a:cs typeface="Calibri"/>
                <a:sym typeface="Calibri"/>
              </a:rPr>
              <a:t>848  ←</a:t>
            </a:r>
            <a:endParaRPr sz="1200" b="0" i="0" u="none" strike="noStrike" cap="none">
              <a:solidFill>
                <a:schemeClr val="dk1"/>
              </a:solidFill>
              <a:latin typeface="Calibri"/>
              <a:ea typeface="Calibri"/>
              <a:cs typeface="Calibri"/>
              <a:sym typeface="Calibri"/>
            </a:endParaRPr>
          </a:p>
        </p:txBody>
      </p:sp>
      <p:sp>
        <p:nvSpPr>
          <p:cNvPr id="182" name="Google Shape;182;p6"/>
          <p:cNvSpPr txBox="1"/>
          <p:nvPr/>
        </p:nvSpPr>
        <p:spPr>
          <a:xfrm>
            <a:off x="6428232" y="3621024"/>
            <a:ext cx="17373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E"/>
              </a:buClr>
              <a:buSzPts val="900"/>
              <a:buFont typeface="Calibri"/>
              <a:buNone/>
            </a:pPr>
            <a:r>
              <a:rPr lang="en-US" sz="900" b="0" i="0" u="none" strike="noStrike" cap="none">
                <a:solidFill>
                  <a:srgbClr val="94A3BE"/>
                </a:solidFill>
                <a:latin typeface="Calibri"/>
                <a:ea typeface="Calibri"/>
                <a:cs typeface="Calibri"/>
                <a:sym typeface="Calibri"/>
              </a:rPr>
              <a:t>INTERNAL</a:t>
            </a:r>
            <a:endParaRPr sz="900" b="0" i="0" u="none" strike="noStrike" cap="none">
              <a:solidFill>
                <a:schemeClr val="dk1"/>
              </a:solidFill>
              <a:latin typeface="Calibri"/>
              <a:ea typeface="Calibri"/>
              <a:cs typeface="Calibri"/>
              <a:sym typeface="Calibri"/>
            </a:endParaRPr>
          </a:p>
        </p:txBody>
      </p:sp>
      <p:sp>
        <p:nvSpPr>
          <p:cNvPr id="183" name="Google Shape;183;p6"/>
          <p:cNvSpPr txBox="1"/>
          <p:nvPr/>
        </p:nvSpPr>
        <p:spPr>
          <a:xfrm>
            <a:off x="9582912" y="3621024"/>
            <a:ext cx="17373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E"/>
              </a:buClr>
              <a:buSzPts val="900"/>
              <a:buFont typeface="Calibri"/>
              <a:buNone/>
            </a:pPr>
            <a:r>
              <a:rPr lang="en-US" sz="900" b="0" i="0" u="none" strike="noStrike" cap="none">
                <a:solidFill>
                  <a:srgbClr val="94A3BE"/>
                </a:solidFill>
                <a:latin typeface="Calibri"/>
                <a:ea typeface="Calibri"/>
                <a:cs typeface="Calibri"/>
                <a:sym typeface="Calibri"/>
              </a:rPr>
              <a:t>EXTERNAL</a:t>
            </a:r>
            <a:endParaRPr sz="900" b="0" i="0" u="none" strike="noStrike" cap="none">
              <a:solidFill>
                <a:schemeClr val="dk1"/>
              </a:solidFill>
              <a:latin typeface="Calibri"/>
              <a:ea typeface="Calibri"/>
              <a:cs typeface="Calibri"/>
              <a:sym typeface="Calibri"/>
            </a:endParaRPr>
          </a:p>
        </p:txBody>
      </p:sp>
      <p:sp>
        <p:nvSpPr>
          <p:cNvPr id="184" name="Google Shape;184;p6"/>
          <p:cNvSpPr/>
          <p:nvPr/>
        </p:nvSpPr>
        <p:spPr>
          <a:xfrm>
            <a:off x="6382512" y="4069080"/>
            <a:ext cx="4983480" cy="502920"/>
          </a:xfrm>
          <a:prstGeom prst="roundRect">
            <a:avLst>
              <a:gd name="adj" fmla="val 10909"/>
            </a:avLst>
          </a:prstGeom>
          <a:solidFill>
            <a:srgbClr val="0E1626"/>
          </a:solidFill>
          <a:ln w="9525" cap="flat" cmpd="sng">
            <a:solidFill>
              <a:srgbClr val="1A25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6"/>
          <p:cNvSpPr txBox="1"/>
          <p:nvPr/>
        </p:nvSpPr>
        <p:spPr>
          <a:xfrm>
            <a:off x="6565392" y="4069080"/>
            <a:ext cx="461772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150"/>
              <a:buFont typeface="Calibri"/>
              <a:buNone/>
            </a:pPr>
            <a:r>
              <a:rPr lang="en-US" sz="1150" b="1" i="0" u="none" strike="noStrike" cap="none">
                <a:solidFill>
                  <a:srgbClr val="35C6F4"/>
                </a:solidFill>
                <a:latin typeface="Calibri"/>
                <a:ea typeface="Calibri"/>
                <a:cs typeface="Calibri"/>
                <a:sym typeface="Calibri"/>
              </a:rPr>
              <a:t>1,725 combined records  •  48.08% of the complete 3,588-record dataset</a:t>
            </a:r>
            <a:endParaRPr sz="1150" b="0" i="0" u="none" strike="noStrike" cap="none">
              <a:solidFill>
                <a:schemeClr val="dk1"/>
              </a:solidFill>
              <a:latin typeface="Calibri"/>
              <a:ea typeface="Calibri"/>
              <a:cs typeface="Calibri"/>
              <a:sym typeface="Calibri"/>
            </a:endParaRPr>
          </a:p>
        </p:txBody>
      </p:sp>
      <p:sp>
        <p:nvSpPr>
          <p:cNvPr id="186" name="Google Shape;186;p6"/>
          <p:cNvSpPr/>
          <p:nvPr/>
        </p:nvSpPr>
        <p:spPr>
          <a:xfrm>
            <a:off x="548640" y="4828032"/>
            <a:ext cx="11091672" cy="566928"/>
          </a:xfrm>
          <a:prstGeom prst="roundRect">
            <a:avLst>
              <a:gd name="adj" fmla="val 11290"/>
            </a:avLst>
          </a:prstGeom>
          <a:solidFill>
            <a:srgbClr val="3A2E14"/>
          </a:solidFill>
          <a:ln w="9525"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6"/>
          <p:cNvSpPr txBox="1"/>
          <p:nvPr/>
        </p:nvSpPr>
        <p:spPr>
          <a:xfrm>
            <a:off x="777240" y="4828032"/>
            <a:ext cx="10634472" cy="566928"/>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F4F7FB"/>
              </a:buClr>
              <a:buSzPts val="1000"/>
              <a:buFont typeface="Calibri"/>
              <a:buNone/>
            </a:pPr>
            <a:r>
              <a:rPr lang="en-US" sz="1000" b="0" i="0" u="none" strike="noStrike" cap="none">
                <a:solidFill>
                  <a:srgbClr val="F4F7FB"/>
                </a:solidFill>
                <a:latin typeface="Calibri"/>
                <a:ea typeface="Calibri"/>
                <a:cs typeface="Calibri"/>
                <a:sym typeface="Calibri"/>
              </a:rPr>
              <a:t>The remaining 24 IP-bearing records: 16 local broadcast records (10.10.0.255) and 8 multicast records (239.255.255.250). Excluded from the Internal ↔ Public calculation as special local/network-discovery traffic, not ordinary public-unicast communication.</a:t>
            </a:r>
            <a:endParaRPr sz="1000" b="0" i="0" u="none" strike="noStrike" cap="none">
              <a:solidFill>
                <a:schemeClr val="dk1"/>
              </a:solidFill>
              <a:latin typeface="Calibri"/>
              <a:ea typeface="Calibri"/>
              <a:cs typeface="Calibri"/>
              <a:sym typeface="Calibri"/>
            </a:endParaRPr>
          </a:p>
        </p:txBody>
      </p:sp>
      <p:sp>
        <p:nvSpPr>
          <p:cNvPr id="188" name="Google Shape;188;p6"/>
          <p:cNvSpPr txBox="1"/>
          <p:nvPr/>
        </p:nvSpPr>
        <p:spPr>
          <a:xfrm>
            <a:off x="548640" y="5513832"/>
            <a:ext cx="11091672"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E"/>
              </a:buClr>
              <a:buSzPts val="1150"/>
              <a:buFont typeface="Calibri"/>
              <a:buNone/>
            </a:pPr>
            <a:r>
              <a:rPr lang="en-US" sz="1150" b="0" i="1" u="none" strike="noStrike" cap="none">
                <a:solidFill>
                  <a:srgbClr val="94A3BE"/>
                </a:solidFill>
                <a:latin typeface="Calibri"/>
                <a:ea typeface="Calibri"/>
                <a:cs typeface="Calibri"/>
                <a:sym typeface="Calibri"/>
              </a:rPr>
              <a:t>Communication concentration is investigation-relevant, but volume alone does not establish malicious activity.</a:t>
            </a:r>
            <a:endParaRPr sz="1150" b="0" i="0" u="none" strike="noStrike" cap="none">
              <a:solidFill>
                <a:schemeClr val="dk1"/>
              </a:solidFill>
              <a:latin typeface="Calibri"/>
              <a:ea typeface="Calibri"/>
              <a:cs typeface="Calibri"/>
              <a:sym typeface="Calibri"/>
            </a:endParaRPr>
          </a:p>
        </p:txBody>
      </p:sp>
      <p:sp>
        <p:nvSpPr>
          <p:cNvPr id="189" name="Google Shape;189;p6"/>
          <p:cNvSpPr txBox="1"/>
          <p:nvPr/>
        </p:nvSpPr>
        <p:spPr>
          <a:xfrm>
            <a:off x="548640" y="6565392"/>
            <a:ext cx="6400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E6E8C"/>
              </a:buClr>
              <a:buSzPts val="900"/>
              <a:buFont typeface="Calibri"/>
              <a:buNone/>
            </a:pPr>
            <a:r>
              <a:rPr lang="en-US" sz="900" b="0" i="0" u="none" strike="noStrike" cap="none">
                <a:solidFill>
                  <a:srgbClr val="5E6E8C"/>
                </a:solidFill>
                <a:latin typeface="Calibri"/>
                <a:ea typeface="Calibri"/>
                <a:cs typeface="Calibri"/>
                <a:sym typeface="Calibri"/>
              </a:rPr>
              <a:t>AI-POWERED PCAP ANALYSIS &amp; THREAT DETECTION</a:t>
            </a:r>
            <a:endParaRPr sz="900" b="0" i="0" u="none" strike="noStrike" cap="none">
              <a:solidFill>
                <a:schemeClr val="dk1"/>
              </a:solidFill>
              <a:latin typeface="Calibri"/>
              <a:ea typeface="Calibri"/>
              <a:cs typeface="Calibri"/>
              <a:sym typeface="Calibri"/>
            </a:endParaRPr>
          </a:p>
        </p:txBody>
      </p:sp>
      <p:sp>
        <p:nvSpPr>
          <p:cNvPr id="190" name="Google Shape;190;p6"/>
          <p:cNvSpPr txBox="1"/>
          <p:nvPr/>
        </p:nvSpPr>
        <p:spPr>
          <a:xfrm>
            <a:off x="10972800" y="6565392"/>
            <a:ext cx="66751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E6E8C"/>
              </a:buClr>
              <a:buSzPts val="900"/>
              <a:buFont typeface="Calibri"/>
              <a:buNone/>
            </a:pPr>
            <a:r>
              <a:rPr lang="en-US" sz="900" b="0" i="0" u="none" strike="noStrike" cap="none" dirty="0">
                <a:solidFill>
                  <a:srgbClr val="5E6E8C"/>
                </a:solidFill>
                <a:latin typeface="Calibri"/>
                <a:ea typeface="Calibri"/>
                <a:cs typeface="Calibri"/>
                <a:sym typeface="Calibri"/>
              </a:rPr>
              <a:t>04 / 09</a:t>
            </a:r>
            <a:endParaRPr sz="9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Shape 195"/>
        <p:cNvGrpSpPr/>
        <p:nvPr/>
      </p:nvGrpSpPr>
      <p:grpSpPr>
        <a:xfrm>
          <a:off x="0" y="0"/>
          <a:ext cx="0" cy="0"/>
          <a:chOff x="0" y="0"/>
          <a:chExt cx="0" cy="0"/>
        </a:xfrm>
      </p:grpSpPr>
      <p:sp>
        <p:nvSpPr>
          <p:cNvPr id="196" name="Google Shape;196;p7"/>
          <p:cNvSpPr txBox="1"/>
          <p:nvPr/>
        </p:nvSpPr>
        <p:spPr>
          <a:xfrm>
            <a:off x="548640" y="365760"/>
            <a:ext cx="1106424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3000"/>
              <a:buFont typeface="Calibri"/>
              <a:buNone/>
            </a:pPr>
            <a:r>
              <a:rPr lang="en-US" sz="3000" b="1" i="0" u="none" strike="noStrike" cap="none">
                <a:solidFill>
                  <a:srgbClr val="F4F7FB"/>
                </a:solidFill>
                <a:latin typeface="Calibri"/>
                <a:ea typeface="Calibri"/>
                <a:cs typeface="Calibri"/>
                <a:sym typeface="Calibri"/>
              </a:rPr>
              <a:t>Investigation-Relevant Indicators</a:t>
            </a:r>
            <a:endParaRPr sz="3000" b="0" i="0" u="none" strike="noStrike" cap="none">
              <a:solidFill>
                <a:schemeClr val="dk1"/>
              </a:solidFill>
              <a:latin typeface="Calibri"/>
              <a:ea typeface="Calibri"/>
              <a:cs typeface="Calibri"/>
              <a:sym typeface="Calibri"/>
            </a:endParaRPr>
          </a:p>
        </p:txBody>
      </p:sp>
      <p:sp>
        <p:nvSpPr>
          <p:cNvPr id="197" name="Google Shape;197;p7"/>
          <p:cNvSpPr/>
          <p:nvPr/>
        </p:nvSpPr>
        <p:spPr>
          <a:xfrm>
            <a:off x="548640" y="1097280"/>
            <a:ext cx="5362956" cy="1691640"/>
          </a:xfrm>
          <a:prstGeom prst="roundRect">
            <a:avLst>
              <a:gd name="adj" fmla="val 4865"/>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7"/>
          <p:cNvSpPr txBox="1"/>
          <p:nvPr/>
        </p:nvSpPr>
        <p:spPr>
          <a:xfrm>
            <a:off x="777240" y="1216152"/>
            <a:ext cx="49057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200"/>
              <a:buFont typeface="Calibri"/>
              <a:buNone/>
            </a:pPr>
            <a:r>
              <a:rPr lang="en-US" sz="1200" b="1" i="0" u="none" strike="noStrike" cap="none">
                <a:solidFill>
                  <a:srgbClr val="35C6F4"/>
                </a:solidFill>
                <a:latin typeface="Calibri"/>
                <a:ea typeface="Calibri"/>
                <a:cs typeface="Calibri"/>
                <a:sym typeface="Calibri"/>
              </a:rPr>
              <a:t>TCP/53480</a:t>
            </a:r>
            <a:endParaRPr sz="1200" b="0" i="0" u="none" strike="noStrike" cap="none">
              <a:solidFill>
                <a:schemeClr val="dk1"/>
              </a:solidFill>
              <a:latin typeface="Calibri"/>
              <a:ea typeface="Calibri"/>
              <a:cs typeface="Calibri"/>
              <a:sym typeface="Calibri"/>
            </a:endParaRPr>
          </a:p>
        </p:txBody>
      </p:sp>
      <p:sp>
        <p:nvSpPr>
          <p:cNvPr id="199" name="Google Shape;199;p7"/>
          <p:cNvSpPr txBox="1"/>
          <p:nvPr/>
        </p:nvSpPr>
        <p:spPr>
          <a:xfrm>
            <a:off x="777240" y="1481328"/>
            <a:ext cx="1463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3000"/>
              <a:buFont typeface="Calibri"/>
              <a:buNone/>
            </a:pPr>
            <a:r>
              <a:rPr lang="en-US" sz="3000" b="1" i="0" u="none" strike="noStrike" cap="none">
                <a:solidFill>
                  <a:srgbClr val="F4F7FB"/>
                </a:solidFill>
                <a:latin typeface="Calibri"/>
                <a:ea typeface="Calibri"/>
                <a:cs typeface="Calibri"/>
                <a:sym typeface="Calibri"/>
              </a:rPr>
              <a:t>804</a:t>
            </a:r>
            <a:endParaRPr sz="3000" b="0" i="0" u="none" strike="noStrike" cap="none">
              <a:solidFill>
                <a:schemeClr val="dk1"/>
              </a:solidFill>
              <a:latin typeface="Calibri"/>
              <a:ea typeface="Calibri"/>
              <a:cs typeface="Calibri"/>
              <a:sym typeface="Calibri"/>
            </a:endParaRPr>
          </a:p>
        </p:txBody>
      </p:sp>
      <p:sp>
        <p:nvSpPr>
          <p:cNvPr id="200" name="Google Shape;200;p7"/>
          <p:cNvSpPr txBox="1"/>
          <p:nvPr/>
        </p:nvSpPr>
        <p:spPr>
          <a:xfrm>
            <a:off x="777240" y="1975104"/>
            <a:ext cx="146304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E"/>
              </a:buClr>
              <a:buSzPts val="1000"/>
              <a:buFont typeface="Calibri"/>
              <a:buNone/>
            </a:pPr>
            <a:r>
              <a:rPr lang="en-US" sz="1000" b="0" i="0" u="none" strike="noStrike" cap="none">
                <a:solidFill>
                  <a:srgbClr val="94A3BE"/>
                </a:solidFill>
                <a:latin typeface="Calibri"/>
                <a:ea typeface="Calibri"/>
                <a:cs typeface="Calibri"/>
                <a:sym typeface="Calibri"/>
              </a:rPr>
              <a:t>records</a:t>
            </a:r>
            <a:endParaRPr sz="1000" b="0" i="0" u="none" strike="noStrike" cap="none">
              <a:solidFill>
                <a:schemeClr val="dk1"/>
              </a:solidFill>
              <a:latin typeface="Calibri"/>
              <a:ea typeface="Calibri"/>
              <a:cs typeface="Calibri"/>
              <a:sym typeface="Calibri"/>
            </a:endParaRPr>
          </a:p>
        </p:txBody>
      </p:sp>
      <p:sp>
        <p:nvSpPr>
          <p:cNvPr id="201" name="Google Shape;201;p7"/>
          <p:cNvSpPr txBox="1"/>
          <p:nvPr/>
        </p:nvSpPr>
        <p:spPr>
          <a:xfrm>
            <a:off x="2377440" y="1508760"/>
            <a:ext cx="3305556" cy="365760"/>
          </a:xfrm>
          <a:prstGeom prst="rect">
            <a:avLst/>
          </a:prstGeom>
          <a:noFill/>
          <a:ln>
            <a:noFill/>
          </a:ln>
        </p:spPr>
        <p:txBody>
          <a:bodyPr spcFirstLastPara="1" wrap="square" lIns="0" tIns="0" rIns="0" bIns="0" anchor="ctr" anchorCtr="0">
            <a:noAutofit/>
          </a:bodyPr>
          <a:lstStyle/>
          <a:p>
            <a:pPr marL="0" marR="0" lvl="0" indent="0" algn="l" rtl="0">
              <a:lnSpc>
                <a:spcPct val="114285"/>
              </a:lnSpc>
              <a:spcBef>
                <a:spcPts val="0"/>
              </a:spcBef>
              <a:spcAft>
                <a:spcPts val="0"/>
              </a:spcAft>
              <a:buClr>
                <a:srgbClr val="F4F7FB"/>
              </a:buClr>
              <a:buSzPts val="1050"/>
              <a:buFont typeface="Courier New"/>
              <a:buNone/>
            </a:pPr>
            <a:r>
              <a:rPr lang="en-US" sz="1050" b="1" i="0" u="none" strike="noStrike" cap="none">
                <a:solidFill>
                  <a:srgbClr val="F4F7FB"/>
                </a:solidFill>
                <a:latin typeface="Courier New"/>
                <a:ea typeface="Courier New"/>
                <a:cs typeface="Courier New"/>
                <a:sym typeface="Courier New"/>
              </a:rPr>
              <a:t>ALL 804: 18.184.26.60:80 → 10.10.0.33:53480</a:t>
            </a:r>
            <a:endParaRPr sz="1050" b="0" i="0" u="none" strike="noStrike" cap="none">
              <a:solidFill>
                <a:schemeClr val="dk1"/>
              </a:solidFill>
              <a:latin typeface="Calibri"/>
              <a:ea typeface="Calibri"/>
              <a:cs typeface="Calibri"/>
              <a:sym typeface="Calibri"/>
            </a:endParaRPr>
          </a:p>
        </p:txBody>
      </p:sp>
      <p:sp>
        <p:nvSpPr>
          <p:cNvPr id="202" name="Google Shape;202;p7"/>
          <p:cNvSpPr txBox="1"/>
          <p:nvPr/>
        </p:nvSpPr>
        <p:spPr>
          <a:xfrm>
            <a:off x="2377440" y="1965960"/>
            <a:ext cx="3305556" cy="4572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94A3BE"/>
              </a:buClr>
              <a:buSzPts val="1000"/>
              <a:buFont typeface="Calibri"/>
              <a:buNone/>
            </a:pPr>
            <a:r>
              <a:rPr lang="en-US" sz="1000" b="0" i="0" u="none" strike="noStrike" cap="none">
                <a:solidFill>
                  <a:srgbClr val="94A3BE"/>
                </a:solidFill>
                <a:latin typeface="Calibri"/>
                <a:ea typeface="Calibri"/>
                <a:cs typeface="Calibri"/>
                <a:sym typeface="Calibri"/>
              </a:rPr>
              <a:t>Protocol composition: 803 TCP-only • 1 with http:media decoding</a:t>
            </a:r>
            <a:endParaRPr sz="1000" b="0" i="0" u="none" strike="noStrike" cap="none">
              <a:solidFill>
                <a:schemeClr val="dk1"/>
              </a:solidFill>
              <a:latin typeface="Calibri"/>
              <a:ea typeface="Calibri"/>
              <a:cs typeface="Calibri"/>
              <a:sym typeface="Calibri"/>
            </a:endParaRPr>
          </a:p>
        </p:txBody>
      </p:sp>
      <p:sp>
        <p:nvSpPr>
          <p:cNvPr id="203" name="Google Shape;203;p7"/>
          <p:cNvSpPr txBox="1"/>
          <p:nvPr/>
        </p:nvSpPr>
        <p:spPr>
          <a:xfrm>
            <a:off x="777240" y="2468880"/>
            <a:ext cx="490575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E6E8C"/>
              </a:buClr>
              <a:buSzPts val="950"/>
              <a:buFont typeface="Calibri"/>
              <a:buNone/>
            </a:pPr>
            <a:r>
              <a:rPr lang="en-US" sz="950" b="0" i="1" u="none" strike="noStrike" cap="none">
                <a:solidFill>
                  <a:srgbClr val="5E6E8C"/>
                </a:solidFill>
                <a:latin typeface="Calibri"/>
                <a:ea typeface="Calibri"/>
                <a:cs typeface="Calibri"/>
                <a:sym typeface="Calibri"/>
              </a:rPr>
              <a:t>Port number alone is not proof of malicious activity.</a:t>
            </a:r>
            <a:endParaRPr sz="950" b="0" i="0" u="none" strike="noStrike" cap="none">
              <a:solidFill>
                <a:schemeClr val="dk1"/>
              </a:solidFill>
              <a:latin typeface="Calibri"/>
              <a:ea typeface="Calibri"/>
              <a:cs typeface="Calibri"/>
              <a:sym typeface="Calibri"/>
            </a:endParaRPr>
          </a:p>
        </p:txBody>
      </p:sp>
      <p:sp>
        <p:nvSpPr>
          <p:cNvPr id="204" name="Google Shape;204;p7"/>
          <p:cNvSpPr/>
          <p:nvPr/>
        </p:nvSpPr>
        <p:spPr>
          <a:xfrm>
            <a:off x="6277356" y="1097280"/>
            <a:ext cx="5362956" cy="1691640"/>
          </a:xfrm>
          <a:prstGeom prst="roundRect">
            <a:avLst>
              <a:gd name="adj" fmla="val 4865"/>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7"/>
          <p:cNvSpPr txBox="1"/>
          <p:nvPr/>
        </p:nvSpPr>
        <p:spPr>
          <a:xfrm>
            <a:off x="6505956" y="1216152"/>
            <a:ext cx="49057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200"/>
              <a:buFont typeface="Calibri"/>
              <a:buNone/>
            </a:pPr>
            <a:r>
              <a:rPr lang="en-US" sz="1200" b="1" i="0" u="none" strike="noStrike" cap="none">
                <a:solidFill>
                  <a:srgbClr val="35C6F4"/>
                </a:solidFill>
                <a:latin typeface="Calibri"/>
                <a:ea typeface="Calibri"/>
                <a:cs typeface="Calibri"/>
                <a:sym typeface="Calibri"/>
              </a:rPr>
              <a:t>DNS</a:t>
            </a:r>
            <a:endParaRPr sz="1200" b="0" i="0" u="none" strike="noStrike" cap="none">
              <a:solidFill>
                <a:schemeClr val="dk1"/>
              </a:solidFill>
              <a:latin typeface="Calibri"/>
              <a:ea typeface="Calibri"/>
              <a:cs typeface="Calibri"/>
              <a:sym typeface="Calibri"/>
            </a:endParaRPr>
          </a:p>
        </p:txBody>
      </p:sp>
      <p:sp>
        <p:nvSpPr>
          <p:cNvPr id="206" name="Google Shape;206;p7"/>
          <p:cNvSpPr txBox="1"/>
          <p:nvPr/>
        </p:nvSpPr>
        <p:spPr>
          <a:xfrm>
            <a:off x="6505956" y="1481328"/>
            <a:ext cx="1463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3000"/>
              <a:buFont typeface="Calibri"/>
              <a:buNone/>
            </a:pPr>
            <a:r>
              <a:rPr lang="en-US" sz="3000" b="1" i="0" u="none" strike="noStrike" cap="none">
                <a:solidFill>
                  <a:srgbClr val="F4F7FB"/>
                </a:solidFill>
                <a:latin typeface="Calibri"/>
                <a:ea typeface="Calibri"/>
                <a:cs typeface="Calibri"/>
                <a:sym typeface="Calibri"/>
              </a:rPr>
              <a:t>112</a:t>
            </a:r>
            <a:endParaRPr sz="3000" b="0" i="0" u="none" strike="noStrike" cap="none">
              <a:solidFill>
                <a:schemeClr val="dk1"/>
              </a:solidFill>
              <a:latin typeface="Calibri"/>
              <a:ea typeface="Calibri"/>
              <a:cs typeface="Calibri"/>
              <a:sym typeface="Calibri"/>
            </a:endParaRPr>
          </a:p>
        </p:txBody>
      </p:sp>
      <p:sp>
        <p:nvSpPr>
          <p:cNvPr id="207" name="Google Shape;207;p7"/>
          <p:cNvSpPr txBox="1"/>
          <p:nvPr/>
        </p:nvSpPr>
        <p:spPr>
          <a:xfrm>
            <a:off x="6505956" y="1975104"/>
            <a:ext cx="146304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E"/>
              </a:buClr>
              <a:buSzPts val="1000"/>
              <a:buFont typeface="Calibri"/>
              <a:buNone/>
            </a:pPr>
            <a:r>
              <a:rPr lang="en-US" sz="1000" b="0" i="0" u="none" strike="noStrike" cap="none">
                <a:solidFill>
                  <a:srgbClr val="94A3BE"/>
                </a:solidFill>
                <a:latin typeface="Calibri"/>
                <a:ea typeface="Calibri"/>
                <a:cs typeface="Calibri"/>
                <a:sym typeface="Calibri"/>
              </a:rPr>
              <a:t>records</a:t>
            </a:r>
            <a:endParaRPr sz="1000" b="0" i="0" u="none" strike="noStrike" cap="none">
              <a:solidFill>
                <a:schemeClr val="dk1"/>
              </a:solidFill>
              <a:latin typeface="Calibri"/>
              <a:ea typeface="Calibri"/>
              <a:cs typeface="Calibri"/>
              <a:sym typeface="Calibri"/>
            </a:endParaRPr>
          </a:p>
        </p:txBody>
      </p:sp>
      <p:sp>
        <p:nvSpPr>
          <p:cNvPr id="208" name="Google Shape;208;p7"/>
          <p:cNvSpPr txBox="1"/>
          <p:nvPr/>
        </p:nvSpPr>
        <p:spPr>
          <a:xfrm>
            <a:off x="8106156" y="1508760"/>
            <a:ext cx="330555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050"/>
              <a:buFont typeface="Courier New"/>
              <a:buNone/>
            </a:pPr>
            <a:r>
              <a:rPr lang="en-US" sz="1050" b="1" i="0" u="none" strike="noStrike" cap="none">
                <a:solidFill>
                  <a:srgbClr val="F4F7FB"/>
                </a:solidFill>
                <a:latin typeface="Courier New"/>
                <a:ea typeface="Courier New"/>
                <a:cs typeface="Courier New"/>
                <a:sym typeface="Courier New"/>
              </a:rPr>
              <a:t>58: 10.10.0.33 → 8.8.8.8</a:t>
            </a:r>
            <a:endParaRPr sz="1050" b="0" i="0" u="none" strike="noStrike" cap="none">
              <a:solidFill>
                <a:schemeClr val="dk1"/>
              </a:solidFill>
              <a:latin typeface="Calibri"/>
              <a:ea typeface="Calibri"/>
              <a:cs typeface="Calibri"/>
              <a:sym typeface="Calibri"/>
            </a:endParaRPr>
          </a:p>
        </p:txBody>
      </p:sp>
      <p:sp>
        <p:nvSpPr>
          <p:cNvPr id="209" name="Google Shape;209;p7"/>
          <p:cNvSpPr txBox="1"/>
          <p:nvPr/>
        </p:nvSpPr>
        <p:spPr>
          <a:xfrm>
            <a:off x="8106156" y="1783080"/>
            <a:ext cx="330555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050"/>
              <a:buFont typeface="Courier New"/>
              <a:buNone/>
            </a:pPr>
            <a:r>
              <a:rPr lang="en-US" sz="1050" b="1" i="0" u="none" strike="noStrike" cap="none">
                <a:solidFill>
                  <a:srgbClr val="F4F7FB"/>
                </a:solidFill>
                <a:latin typeface="Courier New"/>
                <a:ea typeface="Courier New"/>
                <a:cs typeface="Courier New"/>
                <a:sym typeface="Courier New"/>
              </a:rPr>
              <a:t>54: 8.8.8.8 → 10.10.0.33</a:t>
            </a:r>
            <a:endParaRPr sz="1050" b="0" i="0" u="none" strike="noStrike" cap="none">
              <a:solidFill>
                <a:schemeClr val="dk1"/>
              </a:solidFill>
              <a:latin typeface="Calibri"/>
              <a:ea typeface="Calibri"/>
              <a:cs typeface="Calibri"/>
              <a:sym typeface="Calibri"/>
            </a:endParaRPr>
          </a:p>
        </p:txBody>
      </p:sp>
      <p:sp>
        <p:nvSpPr>
          <p:cNvPr id="210" name="Google Shape;210;p7"/>
          <p:cNvSpPr/>
          <p:nvPr/>
        </p:nvSpPr>
        <p:spPr>
          <a:xfrm>
            <a:off x="8106156" y="2121408"/>
            <a:ext cx="2103120" cy="320040"/>
          </a:xfrm>
          <a:prstGeom prst="roundRect">
            <a:avLst>
              <a:gd name="adj" fmla="val 14286"/>
            </a:avLst>
          </a:prstGeom>
          <a:solidFill>
            <a:srgbClr val="3A2E14"/>
          </a:solidFill>
          <a:ln w="9525"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7"/>
          <p:cNvSpPr txBox="1"/>
          <p:nvPr/>
        </p:nvSpPr>
        <p:spPr>
          <a:xfrm>
            <a:off x="8197596" y="2121408"/>
            <a:ext cx="19659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950"/>
              <a:buFont typeface="Calibri"/>
              <a:buNone/>
            </a:pPr>
            <a:r>
              <a:rPr lang="en-US" sz="950" b="1" i="0" u="none" strike="noStrike" cap="none">
                <a:solidFill>
                  <a:srgbClr val="F5A623"/>
                </a:solidFill>
                <a:latin typeface="Calibri"/>
                <a:ea typeface="Calibri"/>
                <a:cs typeface="Calibri"/>
                <a:sym typeface="Calibri"/>
              </a:rPr>
              <a:t>Requires contextual validation</a:t>
            </a:r>
            <a:endParaRPr sz="950" b="0" i="0" u="none" strike="noStrike" cap="none">
              <a:solidFill>
                <a:schemeClr val="dk1"/>
              </a:solidFill>
              <a:latin typeface="Calibri"/>
              <a:ea typeface="Calibri"/>
              <a:cs typeface="Calibri"/>
              <a:sym typeface="Calibri"/>
            </a:endParaRPr>
          </a:p>
        </p:txBody>
      </p:sp>
      <p:sp>
        <p:nvSpPr>
          <p:cNvPr id="212" name="Google Shape;212;p7"/>
          <p:cNvSpPr/>
          <p:nvPr/>
        </p:nvSpPr>
        <p:spPr>
          <a:xfrm>
            <a:off x="548640" y="2953512"/>
            <a:ext cx="5362956" cy="1691640"/>
          </a:xfrm>
          <a:prstGeom prst="roundRect">
            <a:avLst>
              <a:gd name="adj" fmla="val 4865"/>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7"/>
          <p:cNvSpPr txBox="1"/>
          <p:nvPr/>
        </p:nvSpPr>
        <p:spPr>
          <a:xfrm>
            <a:off x="777240" y="3072384"/>
            <a:ext cx="49057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200"/>
              <a:buFont typeface="Calibri"/>
              <a:buNone/>
            </a:pPr>
            <a:r>
              <a:rPr lang="en-US" sz="1200" b="1" i="0" u="none" strike="noStrike" cap="none">
                <a:solidFill>
                  <a:srgbClr val="35C6F4"/>
                </a:solidFill>
                <a:latin typeface="Calibri"/>
                <a:ea typeface="Calibri"/>
                <a:cs typeface="Calibri"/>
                <a:sym typeface="Calibri"/>
              </a:rPr>
              <a:t>FRAME SIZE</a:t>
            </a:r>
            <a:endParaRPr sz="1200" b="0" i="0" u="none" strike="noStrike" cap="none">
              <a:solidFill>
                <a:schemeClr val="dk1"/>
              </a:solidFill>
              <a:latin typeface="Calibri"/>
              <a:ea typeface="Calibri"/>
              <a:cs typeface="Calibri"/>
              <a:sym typeface="Calibri"/>
            </a:endParaRPr>
          </a:p>
        </p:txBody>
      </p:sp>
      <p:sp>
        <p:nvSpPr>
          <p:cNvPr id="214" name="Google Shape;214;p7"/>
          <p:cNvSpPr txBox="1"/>
          <p:nvPr/>
        </p:nvSpPr>
        <p:spPr>
          <a:xfrm>
            <a:off x="777240" y="3337560"/>
            <a:ext cx="9144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3000"/>
              <a:buFont typeface="Calibri"/>
              <a:buNone/>
            </a:pPr>
            <a:r>
              <a:rPr lang="en-US" sz="3000" b="1" i="0" u="none" strike="noStrike" cap="none">
                <a:solidFill>
                  <a:srgbClr val="F4F7FB"/>
                </a:solidFill>
                <a:latin typeface="Calibri"/>
                <a:ea typeface="Calibri"/>
                <a:cs typeface="Calibri"/>
                <a:sym typeface="Calibri"/>
              </a:rPr>
              <a:t>4</a:t>
            </a:r>
            <a:endParaRPr sz="3000" b="0" i="0" u="none" strike="noStrike" cap="none">
              <a:solidFill>
                <a:schemeClr val="dk1"/>
              </a:solidFill>
              <a:latin typeface="Calibri"/>
              <a:ea typeface="Calibri"/>
              <a:cs typeface="Calibri"/>
              <a:sym typeface="Calibri"/>
            </a:endParaRPr>
          </a:p>
        </p:txBody>
      </p:sp>
      <p:sp>
        <p:nvSpPr>
          <p:cNvPr id="215" name="Google Shape;215;p7"/>
          <p:cNvSpPr txBox="1"/>
          <p:nvPr/>
        </p:nvSpPr>
        <p:spPr>
          <a:xfrm>
            <a:off x="777240" y="3831336"/>
            <a:ext cx="1371600" cy="457200"/>
          </a:xfrm>
          <a:prstGeom prst="rect">
            <a:avLst/>
          </a:prstGeom>
          <a:noFill/>
          <a:ln>
            <a:noFill/>
          </a:ln>
        </p:spPr>
        <p:txBody>
          <a:bodyPr spcFirstLastPara="1" wrap="square" lIns="0" tIns="0" rIns="0" bIns="0" anchor="ctr" anchorCtr="0">
            <a:noAutofit/>
          </a:bodyPr>
          <a:lstStyle/>
          <a:p>
            <a:pPr marL="0" marR="0" lvl="0" indent="0" algn="l" rtl="0">
              <a:lnSpc>
                <a:spcPct val="115789"/>
              </a:lnSpc>
              <a:spcBef>
                <a:spcPts val="0"/>
              </a:spcBef>
              <a:spcAft>
                <a:spcPts val="0"/>
              </a:spcAft>
              <a:buClr>
                <a:srgbClr val="94A3BE"/>
              </a:buClr>
              <a:buSzPts val="950"/>
              <a:buFont typeface="Calibri"/>
              <a:buNone/>
            </a:pPr>
            <a:r>
              <a:rPr lang="en-US" sz="950" b="0" i="0" u="none" strike="noStrike" cap="none">
                <a:solidFill>
                  <a:srgbClr val="94A3BE"/>
                </a:solidFill>
                <a:latin typeface="Calibri"/>
                <a:ea typeface="Calibri"/>
                <a:cs typeface="Calibri"/>
                <a:sym typeface="Calibri"/>
              </a:rPr>
              <a:t>statistical</a:t>
            </a:r>
            <a:endParaRPr sz="950" b="0" i="0" u="none" strike="noStrike" cap="none">
              <a:solidFill>
                <a:schemeClr val="dk1"/>
              </a:solidFill>
              <a:latin typeface="Calibri"/>
              <a:ea typeface="Calibri"/>
              <a:cs typeface="Calibri"/>
              <a:sym typeface="Calibri"/>
            </a:endParaRPr>
          </a:p>
          <a:p>
            <a:pPr marL="0" marR="0" lvl="0" indent="0" algn="l" rtl="0">
              <a:lnSpc>
                <a:spcPct val="115789"/>
              </a:lnSpc>
              <a:spcBef>
                <a:spcPts val="0"/>
              </a:spcBef>
              <a:spcAft>
                <a:spcPts val="0"/>
              </a:spcAft>
              <a:buClr>
                <a:srgbClr val="94A3BE"/>
              </a:buClr>
              <a:buSzPts val="950"/>
              <a:buFont typeface="Calibri"/>
              <a:buNone/>
            </a:pPr>
            <a:r>
              <a:rPr lang="en-US" sz="950" b="0" i="0" u="none" strike="noStrike" cap="none">
                <a:solidFill>
                  <a:srgbClr val="94A3BE"/>
                </a:solidFill>
                <a:latin typeface="Calibri"/>
                <a:ea typeface="Calibri"/>
                <a:cs typeface="Calibri"/>
                <a:sym typeface="Calibri"/>
              </a:rPr>
              <a:t>outliers</a:t>
            </a:r>
            <a:endParaRPr sz="950" b="0" i="0" u="none" strike="noStrike" cap="none">
              <a:solidFill>
                <a:schemeClr val="dk1"/>
              </a:solidFill>
              <a:latin typeface="Calibri"/>
              <a:ea typeface="Calibri"/>
              <a:cs typeface="Calibri"/>
              <a:sym typeface="Calibri"/>
            </a:endParaRPr>
          </a:p>
        </p:txBody>
      </p:sp>
      <p:sp>
        <p:nvSpPr>
          <p:cNvPr id="216" name="Google Shape;216;p7"/>
          <p:cNvSpPr txBox="1"/>
          <p:nvPr/>
        </p:nvSpPr>
        <p:spPr>
          <a:xfrm>
            <a:off x="1965960" y="3392424"/>
            <a:ext cx="3717036" cy="36576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4F7FB"/>
              </a:buClr>
              <a:buSzPts val="1000"/>
              <a:buFont typeface="Courier New"/>
              <a:buNone/>
            </a:pPr>
            <a:r>
              <a:rPr lang="en-US" sz="1000" b="1" i="0" u="none" strike="noStrike" cap="none">
                <a:solidFill>
                  <a:srgbClr val="F4F7FB"/>
                </a:solidFill>
                <a:latin typeface="Courier New"/>
                <a:ea typeface="Courier New"/>
                <a:cs typeface="Courier New"/>
                <a:sym typeface="Courier New"/>
              </a:rPr>
              <a:t>52,160 • 53,529 • 54,032 • 58,337 bytes</a:t>
            </a:r>
            <a:endParaRPr sz="1000" b="0" i="0" u="none" strike="noStrike" cap="none">
              <a:solidFill>
                <a:schemeClr val="dk1"/>
              </a:solidFill>
              <a:latin typeface="Calibri"/>
              <a:ea typeface="Calibri"/>
              <a:cs typeface="Calibri"/>
              <a:sym typeface="Calibri"/>
            </a:endParaRPr>
          </a:p>
        </p:txBody>
      </p:sp>
      <p:sp>
        <p:nvSpPr>
          <p:cNvPr id="217" name="Google Shape;217;p7"/>
          <p:cNvSpPr txBox="1"/>
          <p:nvPr/>
        </p:nvSpPr>
        <p:spPr>
          <a:xfrm>
            <a:off x="1965960" y="3822192"/>
            <a:ext cx="371703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E"/>
              </a:buClr>
              <a:buSzPts val="1000"/>
              <a:buFont typeface="Calibri"/>
              <a:buNone/>
            </a:pPr>
            <a:r>
              <a:rPr lang="en-US" sz="1000" b="0" i="0" u="none" strike="noStrike" cap="none">
                <a:solidFill>
                  <a:srgbClr val="94A3BE"/>
                </a:solidFill>
                <a:latin typeface="Calibri"/>
                <a:ea typeface="Calibri"/>
                <a:cs typeface="Calibri"/>
                <a:sym typeface="Calibri"/>
              </a:rPr>
              <a:t>IQR upper threshold: 3,695 bytes</a:t>
            </a:r>
            <a:endParaRPr sz="1000" b="0" i="0" u="none" strike="noStrike" cap="none">
              <a:solidFill>
                <a:schemeClr val="dk1"/>
              </a:solidFill>
              <a:latin typeface="Calibri"/>
              <a:ea typeface="Calibri"/>
              <a:cs typeface="Calibri"/>
              <a:sym typeface="Calibri"/>
            </a:endParaRPr>
          </a:p>
        </p:txBody>
      </p:sp>
      <p:sp>
        <p:nvSpPr>
          <p:cNvPr id="218" name="Google Shape;218;p7"/>
          <p:cNvSpPr txBox="1"/>
          <p:nvPr/>
        </p:nvSpPr>
        <p:spPr>
          <a:xfrm>
            <a:off x="777240" y="4325112"/>
            <a:ext cx="490575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E6E8C"/>
              </a:buClr>
              <a:buSzPts val="950"/>
              <a:buFont typeface="Calibri"/>
              <a:buNone/>
            </a:pPr>
            <a:r>
              <a:rPr lang="en-US" sz="950" b="0" i="1" u="none" strike="noStrike" cap="none">
                <a:solidFill>
                  <a:srgbClr val="5E6E8C"/>
                </a:solidFill>
                <a:latin typeface="Calibri"/>
                <a:ea typeface="Calibri"/>
                <a:cs typeface="Calibri"/>
                <a:sym typeface="Calibri"/>
              </a:rPr>
              <a:t>Frame size alone does not establish exfiltration, tunnelling, or compromise.</a:t>
            </a:r>
            <a:endParaRPr sz="950" b="0" i="0" u="none" strike="noStrike" cap="none">
              <a:solidFill>
                <a:schemeClr val="dk1"/>
              </a:solidFill>
              <a:latin typeface="Calibri"/>
              <a:ea typeface="Calibri"/>
              <a:cs typeface="Calibri"/>
              <a:sym typeface="Calibri"/>
            </a:endParaRPr>
          </a:p>
        </p:txBody>
      </p:sp>
      <p:sp>
        <p:nvSpPr>
          <p:cNvPr id="219" name="Google Shape;219;p7"/>
          <p:cNvSpPr/>
          <p:nvPr/>
        </p:nvSpPr>
        <p:spPr>
          <a:xfrm>
            <a:off x="6277356" y="2953512"/>
            <a:ext cx="5362956" cy="1691640"/>
          </a:xfrm>
          <a:prstGeom prst="roundRect">
            <a:avLst>
              <a:gd name="adj" fmla="val 4865"/>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7"/>
          <p:cNvSpPr txBox="1"/>
          <p:nvPr/>
        </p:nvSpPr>
        <p:spPr>
          <a:xfrm>
            <a:off x="6505956" y="3072384"/>
            <a:ext cx="49057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200"/>
              <a:buFont typeface="Calibri"/>
              <a:buNone/>
            </a:pPr>
            <a:r>
              <a:rPr lang="en-US" sz="1200" b="1" i="0" u="none" strike="noStrike" cap="none">
                <a:solidFill>
                  <a:srgbClr val="35C6F4"/>
                </a:solidFill>
                <a:latin typeface="Calibri"/>
                <a:ea typeface="Calibri"/>
                <a:cs typeface="Calibri"/>
                <a:sym typeface="Calibri"/>
              </a:rPr>
              <a:t>TRAFFIC BURST</a:t>
            </a:r>
            <a:endParaRPr sz="1200" b="0" i="0" u="none" strike="noStrike" cap="none">
              <a:solidFill>
                <a:schemeClr val="dk1"/>
              </a:solidFill>
              <a:latin typeface="Calibri"/>
              <a:ea typeface="Calibri"/>
              <a:cs typeface="Calibri"/>
              <a:sym typeface="Calibri"/>
            </a:endParaRPr>
          </a:p>
        </p:txBody>
      </p:sp>
      <p:sp>
        <p:nvSpPr>
          <p:cNvPr id="221" name="Google Shape;221;p7"/>
          <p:cNvSpPr txBox="1"/>
          <p:nvPr/>
        </p:nvSpPr>
        <p:spPr>
          <a:xfrm>
            <a:off x="6505956" y="3319272"/>
            <a:ext cx="18288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2600"/>
              <a:buFont typeface="Calibri"/>
              <a:buNone/>
            </a:pPr>
            <a:r>
              <a:rPr lang="en-US" sz="2600" b="1" i="0" u="none" strike="noStrike" cap="none">
                <a:solidFill>
                  <a:srgbClr val="F4F7FB"/>
                </a:solidFill>
                <a:latin typeface="Calibri"/>
                <a:ea typeface="Calibri"/>
                <a:cs typeface="Calibri"/>
                <a:sym typeface="Calibri"/>
              </a:rPr>
              <a:t>2,097</a:t>
            </a:r>
            <a:endParaRPr sz="2600" b="0" i="0" u="none" strike="noStrike" cap="none">
              <a:solidFill>
                <a:schemeClr val="dk1"/>
              </a:solidFill>
              <a:latin typeface="Calibri"/>
              <a:ea typeface="Calibri"/>
              <a:cs typeface="Calibri"/>
              <a:sym typeface="Calibri"/>
            </a:endParaRPr>
          </a:p>
        </p:txBody>
      </p:sp>
      <p:sp>
        <p:nvSpPr>
          <p:cNvPr id="222" name="Google Shape;222;p7"/>
          <p:cNvSpPr txBox="1"/>
          <p:nvPr/>
        </p:nvSpPr>
        <p:spPr>
          <a:xfrm>
            <a:off x="6505956" y="3758184"/>
            <a:ext cx="2743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E"/>
              </a:buClr>
              <a:buSzPts val="1000"/>
              <a:buFont typeface="Calibri"/>
              <a:buNone/>
            </a:pPr>
            <a:r>
              <a:rPr lang="en-US" sz="1000" b="0" i="0" u="none" strike="noStrike" cap="none">
                <a:solidFill>
                  <a:srgbClr val="94A3BE"/>
                </a:solidFill>
                <a:latin typeface="Calibri"/>
                <a:ea typeface="Calibri"/>
                <a:cs typeface="Calibri"/>
                <a:sym typeface="Calibri"/>
              </a:rPr>
              <a:t>records  •  peak 01:59–02:00</a:t>
            </a:r>
            <a:endParaRPr sz="1000" b="0" i="0" u="none" strike="noStrike" cap="none">
              <a:solidFill>
                <a:schemeClr val="dk1"/>
              </a:solidFill>
              <a:latin typeface="Calibri"/>
              <a:ea typeface="Calibri"/>
              <a:cs typeface="Calibri"/>
              <a:sym typeface="Calibri"/>
            </a:endParaRPr>
          </a:p>
        </p:txBody>
      </p:sp>
      <p:sp>
        <p:nvSpPr>
          <p:cNvPr id="223" name="Google Shape;223;p7"/>
          <p:cNvSpPr/>
          <p:nvPr/>
        </p:nvSpPr>
        <p:spPr>
          <a:xfrm>
            <a:off x="9089136" y="4094183"/>
            <a:ext cx="164592" cy="166921"/>
          </a:xfrm>
          <a:prstGeom prst="roundRect">
            <a:avLst>
              <a:gd name="adj" fmla="val 5556"/>
            </a:avLst>
          </a:prstGeom>
          <a:solidFill>
            <a:srgbClr val="163244"/>
          </a:solidFill>
          <a:ln w="9525"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7"/>
          <p:cNvSpPr/>
          <p:nvPr/>
        </p:nvSpPr>
        <p:spPr>
          <a:xfrm>
            <a:off x="9308592" y="3758184"/>
            <a:ext cx="164592" cy="502920"/>
          </a:xfrm>
          <a:prstGeom prst="roundRect">
            <a:avLst>
              <a:gd name="adj" fmla="val 5556"/>
            </a:avLst>
          </a:prstGeom>
          <a:solidFill>
            <a:srgbClr val="F5A6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7"/>
          <p:cNvSpPr/>
          <p:nvPr/>
        </p:nvSpPr>
        <p:spPr>
          <a:xfrm>
            <a:off x="9528048" y="4224528"/>
            <a:ext cx="164592" cy="36576"/>
          </a:xfrm>
          <a:prstGeom prst="roundRect">
            <a:avLst>
              <a:gd name="adj" fmla="val 25000"/>
            </a:avLst>
          </a:prstGeom>
          <a:solidFill>
            <a:srgbClr val="163244"/>
          </a:solidFill>
          <a:ln w="9525"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7"/>
          <p:cNvSpPr/>
          <p:nvPr/>
        </p:nvSpPr>
        <p:spPr>
          <a:xfrm>
            <a:off x="9747504" y="4224528"/>
            <a:ext cx="164592" cy="36576"/>
          </a:xfrm>
          <a:prstGeom prst="roundRect">
            <a:avLst>
              <a:gd name="adj" fmla="val 25000"/>
            </a:avLst>
          </a:prstGeom>
          <a:solidFill>
            <a:srgbClr val="163244"/>
          </a:solidFill>
          <a:ln w="9525"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a:off x="9966960" y="4224528"/>
            <a:ext cx="164592" cy="36576"/>
          </a:xfrm>
          <a:prstGeom prst="roundRect">
            <a:avLst>
              <a:gd name="adj" fmla="val 25000"/>
            </a:avLst>
          </a:prstGeom>
          <a:solidFill>
            <a:srgbClr val="163244"/>
          </a:solidFill>
          <a:ln w="9525"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7"/>
          <p:cNvSpPr/>
          <p:nvPr/>
        </p:nvSpPr>
        <p:spPr>
          <a:xfrm>
            <a:off x="10186416" y="4224528"/>
            <a:ext cx="164592" cy="36576"/>
          </a:xfrm>
          <a:prstGeom prst="roundRect">
            <a:avLst>
              <a:gd name="adj" fmla="val 25000"/>
            </a:avLst>
          </a:prstGeom>
          <a:solidFill>
            <a:srgbClr val="163244"/>
          </a:solidFill>
          <a:ln w="9525"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7"/>
          <p:cNvSpPr/>
          <p:nvPr/>
        </p:nvSpPr>
        <p:spPr>
          <a:xfrm>
            <a:off x="10405872" y="4224528"/>
            <a:ext cx="164592" cy="36576"/>
          </a:xfrm>
          <a:prstGeom prst="roundRect">
            <a:avLst>
              <a:gd name="adj" fmla="val 25000"/>
            </a:avLst>
          </a:prstGeom>
          <a:solidFill>
            <a:srgbClr val="163244"/>
          </a:solidFill>
          <a:ln w="9525"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7"/>
          <p:cNvSpPr/>
          <p:nvPr/>
        </p:nvSpPr>
        <p:spPr>
          <a:xfrm>
            <a:off x="10625328" y="4224528"/>
            <a:ext cx="164592" cy="36576"/>
          </a:xfrm>
          <a:prstGeom prst="roundRect">
            <a:avLst>
              <a:gd name="adj" fmla="val 25000"/>
            </a:avLst>
          </a:prstGeom>
          <a:solidFill>
            <a:srgbClr val="163244"/>
          </a:solidFill>
          <a:ln w="9525"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7"/>
          <p:cNvSpPr/>
          <p:nvPr/>
        </p:nvSpPr>
        <p:spPr>
          <a:xfrm>
            <a:off x="10844784" y="4224528"/>
            <a:ext cx="164592" cy="36576"/>
          </a:xfrm>
          <a:prstGeom prst="roundRect">
            <a:avLst>
              <a:gd name="adj" fmla="val 25000"/>
            </a:avLst>
          </a:prstGeom>
          <a:solidFill>
            <a:srgbClr val="163244"/>
          </a:solidFill>
          <a:ln w="9525"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7"/>
          <p:cNvSpPr/>
          <p:nvPr/>
        </p:nvSpPr>
        <p:spPr>
          <a:xfrm>
            <a:off x="11064240" y="4224528"/>
            <a:ext cx="164592" cy="36576"/>
          </a:xfrm>
          <a:prstGeom prst="roundRect">
            <a:avLst>
              <a:gd name="adj" fmla="val 25000"/>
            </a:avLst>
          </a:prstGeom>
          <a:solidFill>
            <a:srgbClr val="163244"/>
          </a:solidFill>
          <a:ln w="9525"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7"/>
          <p:cNvSpPr/>
          <p:nvPr/>
        </p:nvSpPr>
        <p:spPr>
          <a:xfrm>
            <a:off x="11283696" y="4224528"/>
            <a:ext cx="164592" cy="36576"/>
          </a:xfrm>
          <a:prstGeom prst="roundRect">
            <a:avLst>
              <a:gd name="adj" fmla="val 25000"/>
            </a:avLst>
          </a:prstGeom>
          <a:solidFill>
            <a:srgbClr val="163244"/>
          </a:solidFill>
          <a:ln w="9525"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7"/>
          <p:cNvSpPr txBox="1"/>
          <p:nvPr/>
        </p:nvSpPr>
        <p:spPr>
          <a:xfrm>
            <a:off x="6505956" y="4050792"/>
            <a:ext cx="49057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E"/>
              </a:buClr>
              <a:buSzPts val="950"/>
              <a:buFont typeface="Calibri"/>
              <a:buNone/>
            </a:pPr>
            <a:r>
              <a:rPr lang="en-US" sz="950" b="0" i="0" u="none" strike="noStrike" cap="none">
                <a:solidFill>
                  <a:srgbClr val="94A3BE"/>
                </a:solidFill>
                <a:latin typeface="Calibri"/>
                <a:ea typeface="Calibri"/>
                <a:cs typeface="Calibri"/>
                <a:sym typeface="Calibri"/>
              </a:rPr>
              <a:t>Capture duration: ~10 min 10.40 sec (10.1733 min)</a:t>
            </a:r>
            <a:endParaRPr sz="950" b="0" i="0" u="none" strike="noStrike" cap="none">
              <a:solidFill>
                <a:schemeClr val="dk1"/>
              </a:solidFill>
              <a:latin typeface="Calibri"/>
              <a:ea typeface="Calibri"/>
              <a:cs typeface="Calibri"/>
              <a:sym typeface="Calibri"/>
            </a:endParaRPr>
          </a:p>
        </p:txBody>
      </p:sp>
      <p:sp>
        <p:nvSpPr>
          <p:cNvPr id="235" name="Google Shape;235;p7"/>
          <p:cNvSpPr txBox="1"/>
          <p:nvPr/>
        </p:nvSpPr>
        <p:spPr>
          <a:xfrm>
            <a:off x="6505956" y="4325112"/>
            <a:ext cx="490575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E6E8C"/>
              </a:buClr>
              <a:buSzPts val="950"/>
              <a:buFont typeface="Calibri"/>
              <a:buNone/>
            </a:pPr>
            <a:r>
              <a:rPr lang="en-US" sz="950" b="0" i="1" u="none" strike="noStrike" cap="none">
                <a:solidFill>
                  <a:srgbClr val="5E6E8C"/>
                </a:solidFill>
                <a:latin typeface="Calibri"/>
                <a:ea typeface="Calibri"/>
                <a:cs typeface="Calibri"/>
                <a:sym typeface="Calibri"/>
              </a:rPr>
              <a:t>A volume spike alone does not establish malicious behaviour.</a:t>
            </a:r>
            <a:endParaRPr sz="950" b="0" i="0" u="none" strike="noStrike" cap="none">
              <a:solidFill>
                <a:schemeClr val="dk1"/>
              </a:solidFill>
              <a:latin typeface="Calibri"/>
              <a:ea typeface="Calibri"/>
              <a:cs typeface="Calibri"/>
              <a:sym typeface="Calibri"/>
            </a:endParaRPr>
          </a:p>
        </p:txBody>
      </p:sp>
      <p:sp>
        <p:nvSpPr>
          <p:cNvPr id="236" name="Google Shape;236;p7"/>
          <p:cNvSpPr/>
          <p:nvPr/>
        </p:nvSpPr>
        <p:spPr>
          <a:xfrm>
            <a:off x="548640" y="4809744"/>
            <a:ext cx="11091672" cy="777240"/>
          </a:xfrm>
          <a:prstGeom prst="roundRect">
            <a:avLst>
              <a:gd name="adj" fmla="val 10588"/>
            </a:avLst>
          </a:prstGeom>
          <a:solidFill>
            <a:srgbClr val="0E1626"/>
          </a:solidFill>
          <a:ln w="9525" cap="flat" cmpd="sng">
            <a:solidFill>
              <a:srgbClr val="1A25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txBox="1"/>
          <p:nvPr/>
        </p:nvSpPr>
        <p:spPr>
          <a:xfrm>
            <a:off x="822960" y="4809744"/>
            <a:ext cx="7589520" cy="7772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F4F7FB"/>
              </a:buClr>
              <a:buSzPts val="1200"/>
              <a:buFont typeface="Calibri"/>
              <a:buNone/>
            </a:pPr>
            <a:r>
              <a:rPr lang="en-US" sz="1200" b="0" i="0" u="none" strike="noStrike" cap="none">
                <a:solidFill>
                  <a:srgbClr val="F4F7FB"/>
                </a:solidFill>
                <a:latin typeface="Calibri"/>
                <a:ea typeface="Calibri"/>
                <a:cs typeface="Calibri"/>
                <a:sym typeface="Calibri"/>
              </a:rPr>
              <a:t>Repeated and bursty communication was observed. No stable periodic interval was established.</a:t>
            </a:r>
            <a:endParaRPr sz="1200" b="0" i="0" u="none" strike="noStrike" cap="none">
              <a:solidFill>
                <a:schemeClr val="dk1"/>
              </a:solidFill>
              <a:latin typeface="Calibri"/>
              <a:ea typeface="Calibri"/>
              <a:cs typeface="Calibri"/>
              <a:sym typeface="Calibri"/>
            </a:endParaRPr>
          </a:p>
        </p:txBody>
      </p:sp>
      <p:sp>
        <p:nvSpPr>
          <p:cNvPr id="238" name="Google Shape;238;p7"/>
          <p:cNvSpPr/>
          <p:nvPr/>
        </p:nvSpPr>
        <p:spPr>
          <a:xfrm>
            <a:off x="8595360" y="4965192"/>
            <a:ext cx="2834640" cy="457200"/>
          </a:xfrm>
          <a:prstGeom prst="roundRect">
            <a:avLst>
              <a:gd name="adj" fmla="val 50000"/>
            </a:avLst>
          </a:prstGeom>
          <a:solidFill>
            <a:srgbClr val="3A1B20"/>
          </a:solidFill>
          <a:ln w="12700" cap="flat" cmpd="sng">
            <a:solidFill>
              <a:srgbClr val="E85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7"/>
          <p:cNvSpPr txBox="1"/>
          <p:nvPr/>
        </p:nvSpPr>
        <p:spPr>
          <a:xfrm>
            <a:off x="8595360" y="4965192"/>
            <a:ext cx="283464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515A"/>
              </a:buClr>
              <a:buSzPts val="1100"/>
              <a:buFont typeface="Calibri"/>
              <a:buNone/>
            </a:pPr>
            <a:r>
              <a:rPr lang="en-US" sz="1100" b="1" i="0" u="none" strike="noStrike" cap="none">
                <a:solidFill>
                  <a:srgbClr val="E8515A"/>
                </a:solidFill>
                <a:latin typeface="Calibri"/>
                <a:ea typeface="Calibri"/>
                <a:cs typeface="Calibri"/>
                <a:sym typeface="Calibri"/>
              </a:rPr>
              <a:t>BEACONING: NOT CONFIRMED</a:t>
            </a:r>
            <a:endParaRPr sz="1100" b="0" i="0" u="none" strike="noStrike" cap="none">
              <a:solidFill>
                <a:schemeClr val="dk1"/>
              </a:solidFill>
              <a:latin typeface="Calibri"/>
              <a:ea typeface="Calibri"/>
              <a:cs typeface="Calibri"/>
              <a:sym typeface="Calibri"/>
            </a:endParaRPr>
          </a:p>
        </p:txBody>
      </p:sp>
      <p:sp>
        <p:nvSpPr>
          <p:cNvPr id="240" name="Google Shape;240;p7"/>
          <p:cNvSpPr txBox="1"/>
          <p:nvPr/>
        </p:nvSpPr>
        <p:spPr>
          <a:xfrm>
            <a:off x="548640" y="5705856"/>
            <a:ext cx="1109167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E"/>
              </a:buClr>
              <a:buSzPts val="1100"/>
              <a:buFont typeface="Calibri"/>
              <a:buNone/>
            </a:pPr>
            <a:r>
              <a:rPr lang="en-US" sz="1100" b="0" i="1" u="none" strike="noStrike" cap="none">
                <a:solidFill>
                  <a:srgbClr val="94A3BE"/>
                </a:solidFill>
                <a:latin typeface="Calibri"/>
                <a:ea typeface="Calibri"/>
                <a:cs typeface="Calibri"/>
                <a:sym typeface="Calibri"/>
              </a:rPr>
              <a:t>Large DNS-associated frames do not independently prove DNS tunnelling or exfiltration.</a:t>
            </a:r>
            <a:endParaRPr sz="1100" b="0" i="0" u="none" strike="noStrike" cap="none">
              <a:solidFill>
                <a:schemeClr val="dk1"/>
              </a:solidFill>
              <a:latin typeface="Calibri"/>
              <a:ea typeface="Calibri"/>
              <a:cs typeface="Calibri"/>
              <a:sym typeface="Calibri"/>
            </a:endParaRPr>
          </a:p>
        </p:txBody>
      </p:sp>
      <p:sp>
        <p:nvSpPr>
          <p:cNvPr id="241" name="Google Shape;241;p7"/>
          <p:cNvSpPr txBox="1"/>
          <p:nvPr/>
        </p:nvSpPr>
        <p:spPr>
          <a:xfrm>
            <a:off x="548640" y="6565392"/>
            <a:ext cx="6400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E6E8C"/>
              </a:buClr>
              <a:buSzPts val="900"/>
              <a:buFont typeface="Calibri"/>
              <a:buNone/>
            </a:pPr>
            <a:r>
              <a:rPr lang="en-US" sz="900" b="0" i="0" u="none" strike="noStrike" cap="none">
                <a:solidFill>
                  <a:srgbClr val="5E6E8C"/>
                </a:solidFill>
                <a:latin typeface="Calibri"/>
                <a:ea typeface="Calibri"/>
                <a:cs typeface="Calibri"/>
                <a:sym typeface="Calibri"/>
              </a:rPr>
              <a:t>AI-POWERED PCAP ANALYSIS &amp; THREAT DETECTION</a:t>
            </a:r>
            <a:endParaRPr sz="900" b="0" i="0" u="none" strike="noStrike" cap="none">
              <a:solidFill>
                <a:schemeClr val="dk1"/>
              </a:solidFill>
              <a:latin typeface="Calibri"/>
              <a:ea typeface="Calibri"/>
              <a:cs typeface="Calibri"/>
              <a:sym typeface="Calibri"/>
            </a:endParaRPr>
          </a:p>
        </p:txBody>
      </p:sp>
      <p:sp>
        <p:nvSpPr>
          <p:cNvPr id="242" name="Google Shape;242;p7"/>
          <p:cNvSpPr txBox="1"/>
          <p:nvPr/>
        </p:nvSpPr>
        <p:spPr>
          <a:xfrm>
            <a:off x="10972800" y="6565392"/>
            <a:ext cx="66751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E6E8C"/>
              </a:buClr>
              <a:buSzPts val="900"/>
              <a:buFont typeface="Calibri"/>
              <a:buNone/>
            </a:pPr>
            <a:r>
              <a:rPr lang="en-US" sz="900" b="0" i="0" u="none" strike="noStrike" cap="none" dirty="0">
                <a:solidFill>
                  <a:srgbClr val="5E6E8C"/>
                </a:solidFill>
                <a:latin typeface="Calibri"/>
                <a:ea typeface="Calibri"/>
                <a:cs typeface="Calibri"/>
                <a:sym typeface="Calibri"/>
              </a:rPr>
              <a:t>05 / 09</a:t>
            </a:r>
            <a:endParaRPr sz="9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Shape 247"/>
        <p:cNvGrpSpPr/>
        <p:nvPr/>
      </p:nvGrpSpPr>
      <p:grpSpPr>
        <a:xfrm>
          <a:off x="0" y="0"/>
          <a:ext cx="0" cy="0"/>
          <a:chOff x="0" y="0"/>
          <a:chExt cx="0" cy="0"/>
        </a:xfrm>
      </p:grpSpPr>
      <p:sp>
        <p:nvSpPr>
          <p:cNvPr id="248" name="Google Shape;248;p8"/>
          <p:cNvSpPr txBox="1"/>
          <p:nvPr/>
        </p:nvSpPr>
        <p:spPr>
          <a:xfrm>
            <a:off x="548640" y="365760"/>
            <a:ext cx="1106424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3000"/>
              <a:buFont typeface="Calibri"/>
              <a:buNone/>
            </a:pPr>
            <a:r>
              <a:rPr lang="en-US" sz="3000" b="1" i="0" u="none" strike="noStrike" cap="none">
                <a:solidFill>
                  <a:srgbClr val="F4F7FB"/>
                </a:solidFill>
                <a:latin typeface="Calibri"/>
                <a:ea typeface="Calibri"/>
                <a:cs typeface="Calibri"/>
                <a:sym typeface="Calibri"/>
              </a:rPr>
              <a:t>Detection Rules &amp; AI-Assisted Analysis</a:t>
            </a:r>
            <a:endParaRPr sz="3000" b="0" i="0" u="none" strike="noStrike" cap="none">
              <a:solidFill>
                <a:schemeClr val="dk1"/>
              </a:solidFill>
              <a:latin typeface="Calibri"/>
              <a:ea typeface="Calibri"/>
              <a:cs typeface="Calibri"/>
              <a:sym typeface="Calibri"/>
            </a:endParaRPr>
          </a:p>
        </p:txBody>
      </p:sp>
      <p:sp>
        <p:nvSpPr>
          <p:cNvPr id="249" name="Google Shape;249;p8"/>
          <p:cNvSpPr txBox="1"/>
          <p:nvPr/>
        </p:nvSpPr>
        <p:spPr>
          <a:xfrm>
            <a:off x="548640" y="1170432"/>
            <a:ext cx="52120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300"/>
              <a:buFont typeface="Calibri"/>
              <a:buNone/>
            </a:pPr>
            <a:r>
              <a:rPr lang="en-US" sz="1300" b="1" i="0" u="none" strike="noStrike" cap="none">
                <a:solidFill>
                  <a:srgbClr val="35C6F4"/>
                </a:solidFill>
                <a:latin typeface="Calibri"/>
                <a:ea typeface="Calibri"/>
                <a:cs typeface="Calibri"/>
                <a:sym typeface="Calibri"/>
              </a:rPr>
              <a:t>FIVE DETECTION RULES</a:t>
            </a:r>
            <a:endParaRPr sz="1300" b="0" i="0" u="none" strike="noStrike" cap="none">
              <a:solidFill>
                <a:schemeClr val="dk1"/>
              </a:solidFill>
              <a:latin typeface="Calibri"/>
              <a:ea typeface="Calibri"/>
              <a:cs typeface="Calibri"/>
              <a:sym typeface="Calibri"/>
            </a:endParaRPr>
          </a:p>
        </p:txBody>
      </p:sp>
      <p:sp>
        <p:nvSpPr>
          <p:cNvPr id="250" name="Google Shape;250;p8"/>
          <p:cNvSpPr/>
          <p:nvPr/>
        </p:nvSpPr>
        <p:spPr>
          <a:xfrm>
            <a:off x="548640" y="1600200"/>
            <a:ext cx="5212080" cy="713232"/>
          </a:xfrm>
          <a:prstGeom prst="roundRect">
            <a:avLst>
              <a:gd name="adj" fmla="val 10256"/>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8"/>
          <p:cNvSpPr/>
          <p:nvPr/>
        </p:nvSpPr>
        <p:spPr>
          <a:xfrm>
            <a:off x="777240" y="1728216"/>
            <a:ext cx="457200" cy="457200"/>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8"/>
          <p:cNvSpPr txBox="1"/>
          <p:nvPr/>
        </p:nvSpPr>
        <p:spPr>
          <a:xfrm>
            <a:off x="777240" y="1719072"/>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600"/>
              <a:buFont typeface="Calibri"/>
              <a:buNone/>
            </a:pPr>
            <a:r>
              <a:rPr lang="en-US" sz="1600" b="1" i="0" u="none" strike="noStrike" cap="none">
                <a:solidFill>
                  <a:srgbClr val="35C6F4"/>
                </a:solidFill>
                <a:latin typeface="Calibri"/>
                <a:ea typeface="Calibri"/>
                <a:cs typeface="Calibri"/>
                <a:sym typeface="Calibri"/>
              </a:rPr>
              <a:t>1</a:t>
            </a:r>
            <a:endParaRPr sz="1600" b="0" i="0" u="none" strike="noStrike" cap="none">
              <a:solidFill>
                <a:schemeClr val="dk1"/>
              </a:solidFill>
              <a:latin typeface="Calibri"/>
              <a:ea typeface="Calibri"/>
              <a:cs typeface="Calibri"/>
              <a:sym typeface="Calibri"/>
            </a:endParaRPr>
          </a:p>
        </p:txBody>
      </p:sp>
      <p:sp>
        <p:nvSpPr>
          <p:cNvPr id="253" name="Google Shape;253;p8"/>
          <p:cNvSpPr txBox="1"/>
          <p:nvPr/>
        </p:nvSpPr>
        <p:spPr>
          <a:xfrm>
            <a:off x="1417320" y="1600200"/>
            <a:ext cx="4114800" cy="713232"/>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4F7FB"/>
              </a:buClr>
              <a:buSzPts val="1250"/>
              <a:buFont typeface="Calibri"/>
              <a:buNone/>
            </a:pPr>
            <a:r>
              <a:rPr lang="en-US" sz="1250" b="1" i="0" u="none" strike="noStrike" cap="none">
                <a:solidFill>
                  <a:srgbClr val="F4F7FB"/>
                </a:solidFill>
                <a:latin typeface="Calibri"/>
                <a:ea typeface="Calibri"/>
                <a:cs typeface="Calibri"/>
                <a:sym typeface="Calibri"/>
              </a:rPr>
              <a:t>Possible Automated External Communication Detection</a:t>
            </a:r>
            <a:endParaRPr sz="1250" b="0" i="0" u="none" strike="noStrike" cap="none">
              <a:solidFill>
                <a:schemeClr val="dk1"/>
              </a:solidFill>
              <a:latin typeface="Calibri"/>
              <a:ea typeface="Calibri"/>
              <a:cs typeface="Calibri"/>
              <a:sym typeface="Calibri"/>
            </a:endParaRPr>
          </a:p>
        </p:txBody>
      </p:sp>
      <p:sp>
        <p:nvSpPr>
          <p:cNvPr id="254" name="Google Shape;254;p8"/>
          <p:cNvSpPr/>
          <p:nvPr/>
        </p:nvSpPr>
        <p:spPr>
          <a:xfrm>
            <a:off x="548640" y="2450592"/>
            <a:ext cx="5212080" cy="713232"/>
          </a:xfrm>
          <a:prstGeom prst="roundRect">
            <a:avLst>
              <a:gd name="adj" fmla="val 10256"/>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p:nvPr/>
        </p:nvSpPr>
        <p:spPr>
          <a:xfrm>
            <a:off x="777240" y="2578608"/>
            <a:ext cx="457200" cy="457200"/>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8"/>
          <p:cNvSpPr txBox="1"/>
          <p:nvPr/>
        </p:nvSpPr>
        <p:spPr>
          <a:xfrm>
            <a:off x="777240" y="2569464"/>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600"/>
              <a:buFont typeface="Calibri"/>
              <a:buNone/>
            </a:pPr>
            <a:r>
              <a:rPr lang="en-US" sz="1600" b="1" i="0" u="none" strike="noStrike" cap="none">
                <a:solidFill>
                  <a:srgbClr val="35C6F4"/>
                </a:solidFill>
                <a:latin typeface="Calibri"/>
                <a:ea typeface="Calibri"/>
                <a:cs typeface="Calibri"/>
                <a:sym typeface="Calibri"/>
              </a:rPr>
              <a:t>2</a:t>
            </a:r>
            <a:endParaRPr sz="1600" b="0" i="0" u="none" strike="noStrike" cap="none">
              <a:solidFill>
                <a:schemeClr val="dk1"/>
              </a:solidFill>
              <a:latin typeface="Calibri"/>
              <a:ea typeface="Calibri"/>
              <a:cs typeface="Calibri"/>
              <a:sym typeface="Calibri"/>
            </a:endParaRPr>
          </a:p>
        </p:txBody>
      </p:sp>
      <p:sp>
        <p:nvSpPr>
          <p:cNvPr id="257" name="Google Shape;257;p8"/>
          <p:cNvSpPr txBox="1"/>
          <p:nvPr/>
        </p:nvSpPr>
        <p:spPr>
          <a:xfrm>
            <a:off x="1417320" y="2450592"/>
            <a:ext cx="4114800" cy="713232"/>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4F7FB"/>
              </a:buClr>
              <a:buSzPts val="1250"/>
              <a:buFont typeface="Calibri"/>
              <a:buNone/>
            </a:pPr>
            <a:r>
              <a:rPr lang="en-US" sz="1250" b="1" i="0" u="none" strike="noStrike" cap="none">
                <a:solidFill>
                  <a:srgbClr val="F4F7FB"/>
                </a:solidFill>
                <a:latin typeface="Calibri"/>
                <a:ea typeface="Calibri"/>
                <a:cs typeface="Calibri"/>
                <a:sym typeface="Calibri"/>
              </a:rPr>
              <a:t>Unencrypted HTTP Communication Monitoring</a:t>
            </a:r>
            <a:endParaRPr sz="1250" b="0" i="0" u="none" strike="noStrike" cap="none">
              <a:solidFill>
                <a:schemeClr val="dk1"/>
              </a:solidFill>
              <a:latin typeface="Calibri"/>
              <a:ea typeface="Calibri"/>
              <a:cs typeface="Calibri"/>
              <a:sym typeface="Calibri"/>
            </a:endParaRPr>
          </a:p>
        </p:txBody>
      </p:sp>
      <p:sp>
        <p:nvSpPr>
          <p:cNvPr id="258" name="Google Shape;258;p8"/>
          <p:cNvSpPr/>
          <p:nvPr/>
        </p:nvSpPr>
        <p:spPr>
          <a:xfrm>
            <a:off x="548640" y="3300984"/>
            <a:ext cx="5212080" cy="713232"/>
          </a:xfrm>
          <a:prstGeom prst="roundRect">
            <a:avLst>
              <a:gd name="adj" fmla="val 10256"/>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8"/>
          <p:cNvSpPr/>
          <p:nvPr/>
        </p:nvSpPr>
        <p:spPr>
          <a:xfrm>
            <a:off x="777240" y="3429000"/>
            <a:ext cx="457200" cy="457200"/>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8"/>
          <p:cNvSpPr txBox="1"/>
          <p:nvPr/>
        </p:nvSpPr>
        <p:spPr>
          <a:xfrm>
            <a:off x="777240" y="3419856"/>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600"/>
              <a:buFont typeface="Calibri"/>
              <a:buNone/>
            </a:pPr>
            <a:r>
              <a:rPr lang="en-US" sz="1600" b="1" i="0" u="none" strike="noStrike" cap="none">
                <a:solidFill>
                  <a:srgbClr val="35C6F4"/>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261" name="Google Shape;261;p8"/>
          <p:cNvSpPr txBox="1"/>
          <p:nvPr/>
        </p:nvSpPr>
        <p:spPr>
          <a:xfrm>
            <a:off x="1417320" y="3300984"/>
            <a:ext cx="4114800" cy="713232"/>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4F7FB"/>
              </a:buClr>
              <a:buSzPts val="1250"/>
              <a:buFont typeface="Calibri"/>
              <a:buNone/>
            </a:pPr>
            <a:r>
              <a:rPr lang="en-US" sz="1250" b="1" i="0" u="none" strike="noStrike" cap="none">
                <a:solidFill>
                  <a:srgbClr val="F4F7FB"/>
                </a:solidFill>
                <a:latin typeface="Calibri"/>
                <a:ea typeface="Calibri"/>
                <a:cs typeface="Calibri"/>
                <a:sym typeface="Calibri"/>
              </a:rPr>
              <a:t>Unusual Data Transfer Volume Detection</a:t>
            </a:r>
            <a:endParaRPr sz="1250" b="0" i="0" u="none" strike="noStrike" cap="none">
              <a:solidFill>
                <a:schemeClr val="dk1"/>
              </a:solidFill>
              <a:latin typeface="Calibri"/>
              <a:ea typeface="Calibri"/>
              <a:cs typeface="Calibri"/>
              <a:sym typeface="Calibri"/>
            </a:endParaRPr>
          </a:p>
        </p:txBody>
      </p:sp>
      <p:sp>
        <p:nvSpPr>
          <p:cNvPr id="262" name="Google Shape;262;p8"/>
          <p:cNvSpPr/>
          <p:nvPr/>
        </p:nvSpPr>
        <p:spPr>
          <a:xfrm>
            <a:off x="548640" y="4151376"/>
            <a:ext cx="5212080" cy="713232"/>
          </a:xfrm>
          <a:prstGeom prst="roundRect">
            <a:avLst>
              <a:gd name="adj" fmla="val 10256"/>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8"/>
          <p:cNvSpPr/>
          <p:nvPr/>
        </p:nvSpPr>
        <p:spPr>
          <a:xfrm>
            <a:off x="777240" y="4279392"/>
            <a:ext cx="457200" cy="457200"/>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8"/>
          <p:cNvSpPr txBox="1"/>
          <p:nvPr/>
        </p:nvSpPr>
        <p:spPr>
          <a:xfrm>
            <a:off x="777240" y="4270248"/>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600"/>
              <a:buFont typeface="Calibri"/>
              <a:buNone/>
            </a:pPr>
            <a:r>
              <a:rPr lang="en-US" sz="1600" b="1" i="0" u="none" strike="noStrike" cap="none">
                <a:solidFill>
                  <a:srgbClr val="35C6F4"/>
                </a:solidFill>
                <a:latin typeface="Calibri"/>
                <a:ea typeface="Calibri"/>
                <a:cs typeface="Calibri"/>
                <a:sym typeface="Calibri"/>
              </a:rPr>
              <a:t>4</a:t>
            </a:r>
            <a:endParaRPr sz="1600" b="0" i="0" u="none" strike="noStrike" cap="none">
              <a:solidFill>
                <a:schemeClr val="dk1"/>
              </a:solidFill>
              <a:latin typeface="Calibri"/>
              <a:ea typeface="Calibri"/>
              <a:cs typeface="Calibri"/>
              <a:sym typeface="Calibri"/>
            </a:endParaRPr>
          </a:p>
        </p:txBody>
      </p:sp>
      <p:sp>
        <p:nvSpPr>
          <p:cNvPr id="265" name="Google Shape;265;p8"/>
          <p:cNvSpPr txBox="1"/>
          <p:nvPr/>
        </p:nvSpPr>
        <p:spPr>
          <a:xfrm>
            <a:off x="1417320" y="4151376"/>
            <a:ext cx="4114800" cy="713232"/>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4F7FB"/>
              </a:buClr>
              <a:buSzPts val="1250"/>
              <a:buFont typeface="Calibri"/>
              <a:buNone/>
            </a:pPr>
            <a:r>
              <a:rPr lang="en-US" sz="1250" b="1" i="0" u="none" strike="noStrike" cap="none">
                <a:solidFill>
                  <a:srgbClr val="F4F7FB"/>
                </a:solidFill>
                <a:latin typeface="Calibri"/>
                <a:ea typeface="Calibri"/>
                <a:cs typeface="Calibri"/>
                <a:sym typeface="Calibri"/>
              </a:rPr>
              <a:t>DNS Traffic Anomaly Detection</a:t>
            </a:r>
            <a:endParaRPr sz="1250" b="0" i="0" u="none" strike="noStrike" cap="none">
              <a:solidFill>
                <a:schemeClr val="dk1"/>
              </a:solidFill>
              <a:latin typeface="Calibri"/>
              <a:ea typeface="Calibri"/>
              <a:cs typeface="Calibri"/>
              <a:sym typeface="Calibri"/>
            </a:endParaRPr>
          </a:p>
        </p:txBody>
      </p:sp>
      <p:sp>
        <p:nvSpPr>
          <p:cNvPr id="266" name="Google Shape;266;p8"/>
          <p:cNvSpPr/>
          <p:nvPr/>
        </p:nvSpPr>
        <p:spPr>
          <a:xfrm>
            <a:off x="548640" y="5001768"/>
            <a:ext cx="5212080" cy="713232"/>
          </a:xfrm>
          <a:prstGeom prst="roundRect">
            <a:avLst>
              <a:gd name="adj" fmla="val 10256"/>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8"/>
          <p:cNvSpPr/>
          <p:nvPr/>
        </p:nvSpPr>
        <p:spPr>
          <a:xfrm>
            <a:off x="777240" y="5129784"/>
            <a:ext cx="457200" cy="457200"/>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8"/>
          <p:cNvSpPr txBox="1"/>
          <p:nvPr/>
        </p:nvSpPr>
        <p:spPr>
          <a:xfrm>
            <a:off x="777240" y="512064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600"/>
              <a:buFont typeface="Calibri"/>
              <a:buNone/>
            </a:pPr>
            <a:r>
              <a:rPr lang="en-US" sz="1600" b="1" i="0" u="none" strike="noStrike" cap="none">
                <a:solidFill>
                  <a:srgbClr val="35C6F4"/>
                </a:solidFill>
                <a:latin typeface="Calibri"/>
                <a:ea typeface="Calibri"/>
                <a:cs typeface="Calibri"/>
                <a:sym typeface="Calibri"/>
              </a:rPr>
              <a:t>5</a:t>
            </a:r>
            <a:endParaRPr sz="1600" b="0" i="0" u="none" strike="noStrike" cap="none">
              <a:solidFill>
                <a:schemeClr val="dk1"/>
              </a:solidFill>
              <a:latin typeface="Calibri"/>
              <a:ea typeface="Calibri"/>
              <a:cs typeface="Calibri"/>
              <a:sym typeface="Calibri"/>
            </a:endParaRPr>
          </a:p>
        </p:txBody>
      </p:sp>
      <p:sp>
        <p:nvSpPr>
          <p:cNvPr id="269" name="Google Shape;269;p8"/>
          <p:cNvSpPr txBox="1"/>
          <p:nvPr/>
        </p:nvSpPr>
        <p:spPr>
          <a:xfrm>
            <a:off x="1417320" y="5001768"/>
            <a:ext cx="4114800" cy="713232"/>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4F7FB"/>
              </a:buClr>
              <a:buSzPts val="1250"/>
              <a:buFont typeface="Calibri"/>
              <a:buNone/>
            </a:pPr>
            <a:r>
              <a:rPr lang="en-US" sz="1250" b="1" i="0" u="none" strike="noStrike" cap="none">
                <a:solidFill>
                  <a:srgbClr val="F4F7FB"/>
                </a:solidFill>
                <a:latin typeface="Calibri"/>
                <a:ea typeface="Calibri"/>
                <a:cs typeface="Calibri"/>
                <a:sym typeface="Calibri"/>
              </a:rPr>
              <a:t>New External Communication Monitoring</a:t>
            </a:r>
            <a:endParaRPr sz="1250" b="0" i="0" u="none" strike="noStrike" cap="none">
              <a:solidFill>
                <a:schemeClr val="dk1"/>
              </a:solidFill>
              <a:latin typeface="Calibri"/>
              <a:ea typeface="Calibri"/>
              <a:cs typeface="Calibri"/>
              <a:sym typeface="Calibri"/>
            </a:endParaRPr>
          </a:p>
        </p:txBody>
      </p:sp>
      <p:sp>
        <p:nvSpPr>
          <p:cNvPr id="270" name="Google Shape;270;p8"/>
          <p:cNvSpPr txBox="1"/>
          <p:nvPr/>
        </p:nvSpPr>
        <p:spPr>
          <a:xfrm>
            <a:off x="6035040" y="1170432"/>
            <a:ext cx="560527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300"/>
              <a:buFont typeface="Calibri"/>
              <a:buNone/>
            </a:pPr>
            <a:r>
              <a:rPr lang="en-US" sz="1300" b="1" i="0" u="none" strike="noStrike" cap="none">
                <a:solidFill>
                  <a:srgbClr val="35C6F4"/>
                </a:solidFill>
                <a:latin typeface="Calibri"/>
                <a:ea typeface="Calibri"/>
                <a:cs typeface="Calibri"/>
                <a:sym typeface="Calibri"/>
              </a:rPr>
              <a:t>AI CONTRIBUTION</a:t>
            </a:r>
            <a:endParaRPr sz="1300" b="0" i="0" u="none" strike="noStrike" cap="none">
              <a:solidFill>
                <a:schemeClr val="dk1"/>
              </a:solidFill>
              <a:latin typeface="Calibri"/>
              <a:ea typeface="Calibri"/>
              <a:cs typeface="Calibri"/>
              <a:sym typeface="Calibri"/>
            </a:endParaRPr>
          </a:p>
        </p:txBody>
      </p:sp>
      <p:sp>
        <p:nvSpPr>
          <p:cNvPr id="271" name="Google Shape;271;p8"/>
          <p:cNvSpPr/>
          <p:nvPr/>
        </p:nvSpPr>
        <p:spPr>
          <a:xfrm>
            <a:off x="6035040" y="1508760"/>
            <a:ext cx="5605272" cy="2331720"/>
          </a:xfrm>
          <a:prstGeom prst="roundRect">
            <a:avLst>
              <a:gd name="adj" fmla="val 3529"/>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8"/>
          <p:cNvSpPr txBox="1"/>
          <p:nvPr/>
        </p:nvSpPr>
        <p:spPr>
          <a:xfrm>
            <a:off x="6291072" y="1691640"/>
            <a:ext cx="228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100"/>
              <a:buFont typeface="Calibri"/>
              <a:buNone/>
            </a:pPr>
            <a:r>
              <a:rPr lang="en-US" sz="1100" b="1" i="0" u="none" strike="noStrike" cap="none">
                <a:solidFill>
                  <a:srgbClr val="35C6F4"/>
                </a:solidFill>
                <a:latin typeface="Calibri"/>
                <a:ea typeface="Calibri"/>
                <a:cs typeface="Calibri"/>
                <a:sym typeface="Calibri"/>
              </a:rPr>
              <a:t>▸</a:t>
            </a:r>
            <a:endParaRPr sz="1100" b="0" i="0" u="none" strike="noStrike" cap="none">
              <a:solidFill>
                <a:schemeClr val="dk1"/>
              </a:solidFill>
              <a:latin typeface="Calibri"/>
              <a:ea typeface="Calibri"/>
              <a:cs typeface="Calibri"/>
              <a:sym typeface="Calibri"/>
            </a:endParaRPr>
          </a:p>
        </p:txBody>
      </p:sp>
      <p:sp>
        <p:nvSpPr>
          <p:cNvPr id="273" name="Google Shape;273;p8"/>
          <p:cNvSpPr txBox="1"/>
          <p:nvPr/>
        </p:nvSpPr>
        <p:spPr>
          <a:xfrm>
            <a:off x="6537960" y="1691640"/>
            <a:ext cx="482803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150"/>
              <a:buFont typeface="Calibri"/>
              <a:buNone/>
            </a:pPr>
            <a:r>
              <a:rPr lang="en-US" sz="1150" b="0" i="0" u="none" strike="noStrike" cap="none">
                <a:solidFill>
                  <a:srgbClr val="F4F7FB"/>
                </a:solidFill>
                <a:latin typeface="Calibri"/>
                <a:ea typeface="Calibri"/>
                <a:cs typeface="Calibri"/>
                <a:sym typeface="Calibri"/>
              </a:rPr>
              <a:t>Identifying communication patterns</a:t>
            </a:r>
            <a:endParaRPr sz="1150" b="0" i="0" u="none" strike="noStrike" cap="none">
              <a:solidFill>
                <a:schemeClr val="dk1"/>
              </a:solidFill>
              <a:latin typeface="Calibri"/>
              <a:ea typeface="Calibri"/>
              <a:cs typeface="Calibri"/>
              <a:sym typeface="Calibri"/>
            </a:endParaRPr>
          </a:p>
        </p:txBody>
      </p:sp>
      <p:sp>
        <p:nvSpPr>
          <p:cNvPr id="274" name="Google Shape;274;p8"/>
          <p:cNvSpPr txBox="1"/>
          <p:nvPr/>
        </p:nvSpPr>
        <p:spPr>
          <a:xfrm>
            <a:off x="6291072" y="1997964"/>
            <a:ext cx="228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100"/>
              <a:buFont typeface="Calibri"/>
              <a:buNone/>
            </a:pPr>
            <a:r>
              <a:rPr lang="en-US" sz="1100" b="1" i="0" u="none" strike="noStrike" cap="none">
                <a:solidFill>
                  <a:srgbClr val="35C6F4"/>
                </a:solidFill>
                <a:latin typeface="Calibri"/>
                <a:ea typeface="Calibri"/>
                <a:cs typeface="Calibri"/>
                <a:sym typeface="Calibri"/>
              </a:rPr>
              <a:t>▸</a:t>
            </a:r>
            <a:endParaRPr sz="1100" b="0" i="0" u="none" strike="noStrike" cap="none">
              <a:solidFill>
                <a:schemeClr val="dk1"/>
              </a:solidFill>
              <a:latin typeface="Calibri"/>
              <a:ea typeface="Calibri"/>
              <a:cs typeface="Calibri"/>
              <a:sym typeface="Calibri"/>
            </a:endParaRPr>
          </a:p>
        </p:txBody>
      </p:sp>
      <p:sp>
        <p:nvSpPr>
          <p:cNvPr id="275" name="Google Shape;275;p8"/>
          <p:cNvSpPr txBox="1"/>
          <p:nvPr/>
        </p:nvSpPr>
        <p:spPr>
          <a:xfrm>
            <a:off x="6537960" y="1997964"/>
            <a:ext cx="482803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150"/>
              <a:buFont typeface="Calibri"/>
              <a:buNone/>
            </a:pPr>
            <a:r>
              <a:rPr lang="en-US" sz="1150" b="0" i="0" u="none" strike="noStrike" cap="none">
                <a:solidFill>
                  <a:srgbClr val="F4F7FB"/>
                </a:solidFill>
                <a:latin typeface="Calibri"/>
                <a:ea typeface="Calibri"/>
                <a:cs typeface="Calibri"/>
                <a:sym typeface="Calibri"/>
              </a:rPr>
              <a:t>Classifying internal / external relationships</a:t>
            </a:r>
            <a:endParaRPr sz="1150" b="0" i="0" u="none" strike="noStrike" cap="none">
              <a:solidFill>
                <a:schemeClr val="dk1"/>
              </a:solidFill>
              <a:latin typeface="Calibri"/>
              <a:ea typeface="Calibri"/>
              <a:cs typeface="Calibri"/>
              <a:sym typeface="Calibri"/>
            </a:endParaRPr>
          </a:p>
        </p:txBody>
      </p:sp>
      <p:sp>
        <p:nvSpPr>
          <p:cNvPr id="276" name="Google Shape;276;p8"/>
          <p:cNvSpPr txBox="1"/>
          <p:nvPr/>
        </p:nvSpPr>
        <p:spPr>
          <a:xfrm>
            <a:off x="6291072" y="2304288"/>
            <a:ext cx="228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100"/>
              <a:buFont typeface="Calibri"/>
              <a:buNone/>
            </a:pPr>
            <a:r>
              <a:rPr lang="en-US" sz="1100" b="1" i="0" u="none" strike="noStrike" cap="none">
                <a:solidFill>
                  <a:srgbClr val="35C6F4"/>
                </a:solidFill>
                <a:latin typeface="Calibri"/>
                <a:ea typeface="Calibri"/>
                <a:cs typeface="Calibri"/>
                <a:sym typeface="Calibri"/>
              </a:rPr>
              <a:t>▸</a:t>
            </a:r>
            <a:endParaRPr sz="1100" b="0" i="0" u="none" strike="noStrike" cap="none">
              <a:solidFill>
                <a:schemeClr val="dk1"/>
              </a:solidFill>
              <a:latin typeface="Calibri"/>
              <a:ea typeface="Calibri"/>
              <a:cs typeface="Calibri"/>
              <a:sym typeface="Calibri"/>
            </a:endParaRPr>
          </a:p>
        </p:txBody>
      </p:sp>
      <p:sp>
        <p:nvSpPr>
          <p:cNvPr id="277" name="Google Shape;277;p8"/>
          <p:cNvSpPr txBox="1"/>
          <p:nvPr/>
        </p:nvSpPr>
        <p:spPr>
          <a:xfrm>
            <a:off x="6537960" y="2304288"/>
            <a:ext cx="482803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150"/>
              <a:buFont typeface="Calibri"/>
              <a:buNone/>
            </a:pPr>
            <a:r>
              <a:rPr lang="en-US" sz="1150" b="0" i="0" u="none" strike="noStrike" cap="none">
                <a:solidFill>
                  <a:srgbClr val="F4F7FB"/>
                </a:solidFill>
                <a:latin typeface="Calibri"/>
                <a:ea typeface="Calibri"/>
                <a:cs typeface="Calibri"/>
                <a:sym typeface="Calibri"/>
              </a:rPr>
              <a:t>Examining protocol and port distributions</a:t>
            </a:r>
            <a:endParaRPr sz="1150" b="0" i="0" u="none" strike="noStrike" cap="none">
              <a:solidFill>
                <a:schemeClr val="dk1"/>
              </a:solidFill>
              <a:latin typeface="Calibri"/>
              <a:ea typeface="Calibri"/>
              <a:cs typeface="Calibri"/>
              <a:sym typeface="Calibri"/>
            </a:endParaRPr>
          </a:p>
        </p:txBody>
      </p:sp>
      <p:sp>
        <p:nvSpPr>
          <p:cNvPr id="278" name="Google Shape;278;p8"/>
          <p:cNvSpPr txBox="1"/>
          <p:nvPr/>
        </p:nvSpPr>
        <p:spPr>
          <a:xfrm>
            <a:off x="6291072" y="2610612"/>
            <a:ext cx="228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100"/>
              <a:buFont typeface="Calibri"/>
              <a:buNone/>
            </a:pPr>
            <a:r>
              <a:rPr lang="en-US" sz="1100" b="1" i="0" u="none" strike="noStrike" cap="none">
                <a:solidFill>
                  <a:srgbClr val="35C6F4"/>
                </a:solidFill>
                <a:latin typeface="Calibri"/>
                <a:ea typeface="Calibri"/>
                <a:cs typeface="Calibri"/>
                <a:sym typeface="Calibri"/>
              </a:rPr>
              <a:t>▸</a:t>
            </a:r>
            <a:endParaRPr sz="1100" b="0" i="0" u="none" strike="noStrike" cap="none">
              <a:solidFill>
                <a:schemeClr val="dk1"/>
              </a:solidFill>
              <a:latin typeface="Calibri"/>
              <a:ea typeface="Calibri"/>
              <a:cs typeface="Calibri"/>
              <a:sym typeface="Calibri"/>
            </a:endParaRPr>
          </a:p>
        </p:txBody>
      </p:sp>
      <p:sp>
        <p:nvSpPr>
          <p:cNvPr id="279" name="Google Shape;279;p8"/>
          <p:cNvSpPr txBox="1"/>
          <p:nvPr/>
        </p:nvSpPr>
        <p:spPr>
          <a:xfrm>
            <a:off x="6537960" y="2610612"/>
            <a:ext cx="482803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150"/>
              <a:buFont typeface="Calibri"/>
              <a:buNone/>
            </a:pPr>
            <a:r>
              <a:rPr lang="en-US" sz="1150" b="0" i="0" u="none" strike="noStrike" cap="none">
                <a:solidFill>
                  <a:srgbClr val="F4F7FB"/>
                </a:solidFill>
                <a:latin typeface="Calibri"/>
                <a:ea typeface="Calibri"/>
                <a:cs typeface="Calibri"/>
                <a:sym typeface="Calibri"/>
              </a:rPr>
              <a:t>Identifying investigation priorities</a:t>
            </a:r>
            <a:endParaRPr sz="1150" b="0" i="0" u="none" strike="noStrike" cap="none">
              <a:solidFill>
                <a:schemeClr val="dk1"/>
              </a:solidFill>
              <a:latin typeface="Calibri"/>
              <a:ea typeface="Calibri"/>
              <a:cs typeface="Calibri"/>
              <a:sym typeface="Calibri"/>
            </a:endParaRPr>
          </a:p>
        </p:txBody>
      </p:sp>
      <p:sp>
        <p:nvSpPr>
          <p:cNvPr id="280" name="Google Shape;280;p8"/>
          <p:cNvSpPr txBox="1"/>
          <p:nvPr/>
        </p:nvSpPr>
        <p:spPr>
          <a:xfrm>
            <a:off x="6291072" y="2916936"/>
            <a:ext cx="228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100"/>
              <a:buFont typeface="Calibri"/>
              <a:buNone/>
            </a:pPr>
            <a:r>
              <a:rPr lang="en-US" sz="1100" b="1" i="0" u="none" strike="noStrike" cap="none">
                <a:solidFill>
                  <a:srgbClr val="35C6F4"/>
                </a:solidFill>
                <a:latin typeface="Calibri"/>
                <a:ea typeface="Calibri"/>
                <a:cs typeface="Calibri"/>
                <a:sym typeface="Calibri"/>
              </a:rPr>
              <a:t>▸</a:t>
            </a:r>
            <a:endParaRPr sz="1100" b="0" i="0" u="none" strike="noStrike" cap="none">
              <a:solidFill>
                <a:schemeClr val="dk1"/>
              </a:solidFill>
              <a:latin typeface="Calibri"/>
              <a:ea typeface="Calibri"/>
              <a:cs typeface="Calibri"/>
              <a:sym typeface="Calibri"/>
            </a:endParaRPr>
          </a:p>
        </p:txBody>
      </p:sp>
      <p:sp>
        <p:nvSpPr>
          <p:cNvPr id="281" name="Google Shape;281;p8"/>
          <p:cNvSpPr txBox="1"/>
          <p:nvPr/>
        </p:nvSpPr>
        <p:spPr>
          <a:xfrm>
            <a:off x="6537960" y="2916936"/>
            <a:ext cx="482803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150"/>
              <a:buFont typeface="Calibri"/>
              <a:buNone/>
            </a:pPr>
            <a:r>
              <a:rPr lang="en-US" sz="1150" b="0" i="0" u="none" strike="noStrike" cap="none">
                <a:solidFill>
                  <a:srgbClr val="F4F7FB"/>
                </a:solidFill>
                <a:latin typeface="Calibri"/>
                <a:ea typeface="Calibri"/>
                <a:cs typeface="Calibri"/>
                <a:sym typeface="Calibri"/>
              </a:rPr>
              <a:t>Interpreting visualizations</a:t>
            </a:r>
            <a:endParaRPr sz="1150" b="0" i="0" u="none" strike="noStrike" cap="none">
              <a:solidFill>
                <a:schemeClr val="dk1"/>
              </a:solidFill>
              <a:latin typeface="Calibri"/>
              <a:ea typeface="Calibri"/>
              <a:cs typeface="Calibri"/>
              <a:sym typeface="Calibri"/>
            </a:endParaRPr>
          </a:p>
        </p:txBody>
      </p:sp>
      <p:sp>
        <p:nvSpPr>
          <p:cNvPr id="282" name="Google Shape;282;p8"/>
          <p:cNvSpPr txBox="1"/>
          <p:nvPr/>
        </p:nvSpPr>
        <p:spPr>
          <a:xfrm>
            <a:off x="6291072" y="3223260"/>
            <a:ext cx="228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100"/>
              <a:buFont typeface="Calibri"/>
              <a:buNone/>
            </a:pPr>
            <a:r>
              <a:rPr lang="en-US" sz="1100" b="1" i="0" u="none" strike="noStrike" cap="none">
                <a:solidFill>
                  <a:srgbClr val="35C6F4"/>
                </a:solidFill>
                <a:latin typeface="Calibri"/>
                <a:ea typeface="Calibri"/>
                <a:cs typeface="Calibri"/>
                <a:sym typeface="Calibri"/>
              </a:rPr>
              <a:t>▸</a:t>
            </a:r>
            <a:endParaRPr sz="1100" b="0" i="0" u="none" strike="noStrike" cap="none">
              <a:solidFill>
                <a:schemeClr val="dk1"/>
              </a:solidFill>
              <a:latin typeface="Calibri"/>
              <a:ea typeface="Calibri"/>
              <a:cs typeface="Calibri"/>
              <a:sym typeface="Calibri"/>
            </a:endParaRPr>
          </a:p>
        </p:txBody>
      </p:sp>
      <p:sp>
        <p:nvSpPr>
          <p:cNvPr id="283" name="Google Shape;283;p8"/>
          <p:cNvSpPr txBox="1"/>
          <p:nvPr/>
        </p:nvSpPr>
        <p:spPr>
          <a:xfrm>
            <a:off x="6537960" y="3223260"/>
            <a:ext cx="482803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150"/>
              <a:buFont typeface="Calibri"/>
              <a:buNone/>
            </a:pPr>
            <a:r>
              <a:rPr lang="en-US" sz="1150" b="0" i="0" u="none" strike="noStrike" cap="none">
                <a:solidFill>
                  <a:srgbClr val="F4F7FB"/>
                </a:solidFill>
                <a:latin typeface="Calibri"/>
                <a:ea typeface="Calibri"/>
                <a:cs typeface="Calibri"/>
                <a:sym typeface="Calibri"/>
              </a:rPr>
              <a:t>Developing detection-rule logic</a:t>
            </a:r>
            <a:endParaRPr sz="1150" b="0" i="0" u="none" strike="noStrike" cap="none">
              <a:solidFill>
                <a:schemeClr val="dk1"/>
              </a:solidFill>
              <a:latin typeface="Calibri"/>
              <a:ea typeface="Calibri"/>
              <a:cs typeface="Calibri"/>
              <a:sym typeface="Calibri"/>
            </a:endParaRPr>
          </a:p>
        </p:txBody>
      </p:sp>
      <p:sp>
        <p:nvSpPr>
          <p:cNvPr id="284" name="Google Shape;284;p8"/>
          <p:cNvSpPr txBox="1"/>
          <p:nvPr/>
        </p:nvSpPr>
        <p:spPr>
          <a:xfrm>
            <a:off x="6291072" y="3529584"/>
            <a:ext cx="228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100"/>
              <a:buFont typeface="Calibri"/>
              <a:buNone/>
            </a:pPr>
            <a:r>
              <a:rPr lang="en-US" sz="1100" b="1" i="0" u="none" strike="noStrike" cap="none">
                <a:solidFill>
                  <a:srgbClr val="35C6F4"/>
                </a:solidFill>
                <a:latin typeface="Calibri"/>
                <a:ea typeface="Calibri"/>
                <a:cs typeface="Calibri"/>
                <a:sym typeface="Calibri"/>
              </a:rPr>
              <a:t>▸</a:t>
            </a:r>
            <a:endParaRPr sz="1100" b="0" i="0" u="none" strike="noStrike" cap="none">
              <a:solidFill>
                <a:schemeClr val="dk1"/>
              </a:solidFill>
              <a:latin typeface="Calibri"/>
              <a:ea typeface="Calibri"/>
              <a:cs typeface="Calibri"/>
              <a:sym typeface="Calibri"/>
            </a:endParaRPr>
          </a:p>
        </p:txBody>
      </p:sp>
      <p:sp>
        <p:nvSpPr>
          <p:cNvPr id="285" name="Google Shape;285;p8"/>
          <p:cNvSpPr txBox="1"/>
          <p:nvPr/>
        </p:nvSpPr>
        <p:spPr>
          <a:xfrm>
            <a:off x="6537960" y="3529584"/>
            <a:ext cx="482803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150"/>
              <a:buFont typeface="Calibri"/>
              <a:buNone/>
            </a:pPr>
            <a:r>
              <a:rPr lang="en-US" sz="1150" b="0" i="0" u="none" strike="noStrike" cap="none">
                <a:solidFill>
                  <a:srgbClr val="F4F7FB"/>
                </a:solidFill>
                <a:latin typeface="Calibri"/>
                <a:ea typeface="Calibri"/>
                <a:cs typeface="Calibri"/>
                <a:sym typeface="Calibri"/>
              </a:rPr>
              <a:t>Supporting incident-response reasoning</a:t>
            </a:r>
            <a:endParaRPr sz="1150" b="0" i="0" u="none" strike="noStrike" cap="none">
              <a:solidFill>
                <a:schemeClr val="dk1"/>
              </a:solidFill>
              <a:latin typeface="Calibri"/>
              <a:ea typeface="Calibri"/>
              <a:cs typeface="Calibri"/>
              <a:sym typeface="Calibri"/>
            </a:endParaRPr>
          </a:p>
        </p:txBody>
      </p:sp>
      <p:sp>
        <p:nvSpPr>
          <p:cNvPr id="286" name="Google Shape;286;p8"/>
          <p:cNvSpPr txBox="1"/>
          <p:nvPr/>
        </p:nvSpPr>
        <p:spPr>
          <a:xfrm>
            <a:off x="6035040" y="4023360"/>
            <a:ext cx="560527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300"/>
              <a:buFont typeface="Calibri"/>
              <a:buNone/>
            </a:pPr>
            <a:r>
              <a:rPr lang="en-US" sz="1300" b="1" i="0" u="none" strike="noStrike" cap="none">
                <a:solidFill>
                  <a:srgbClr val="35C6F4"/>
                </a:solidFill>
                <a:latin typeface="Calibri"/>
                <a:ea typeface="Calibri"/>
                <a:cs typeface="Calibri"/>
                <a:sym typeface="Calibri"/>
              </a:rPr>
              <a:t>HUMAN / ANALYST VERIFICATION</a:t>
            </a:r>
            <a:endParaRPr sz="1300" b="0" i="0" u="none" strike="noStrike" cap="none">
              <a:solidFill>
                <a:schemeClr val="dk1"/>
              </a:solidFill>
              <a:latin typeface="Calibri"/>
              <a:ea typeface="Calibri"/>
              <a:cs typeface="Calibri"/>
              <a:sym typeface="Calibri"/>
            </a:endParaRPr>
          </a:p>
        </p:txBody>
      </p:sp>
      <p:sp>
        <p:nvSpPr>
          <p:cNvPr id="287" name="Google Shape;287;p8"/>
          <p:cNvSpPr/>
          <p:nvPr/>
        </p:nvSpPr>
        <p:spPr>
          <a:xfrm>
            <a:off x="6035040" y="4343400"/>
            <a:ext cx="5605272" cy="1417320"/>
          </a:xfrm>
          <a:prstGeom prst="roundRect">
            <a:avLst>
              <a:gd name="adj" fmla="val 5806"/>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8"/>
          <p:cNvSpPr txBox="1"/>
          <p:nvPr/>
        </p:nvSpPr>
        <p:spPr>
          <a:xfrm>
            <a:off x="6309360" y="4480560"/>
            <a:ext cx="5056632" cy="1143000"/>
          </a:xfrm>
          <a:prstGeom prst="rect">
            <a:avLst/>
          </a:prstGeom>
          <a:noFill/>
          <a:ln>
            <a:noFill/>
          </a:ln>
        </p:spPr>
        <p:txBody>
          <a:bodyPr spcFirstLastPara="1" wrap="square" lIns="0" tIns="0" rIns="0" bIns="0" anchor="ctr" anchorCtr="0">
            <a:noAutofit/>
          </a:bodyPr>
          <a:lstStyle/>
          <a:p>
            <a:pPr marL="0" marR="0" lvl="0" indent="0" algn="l" rtl="0">
              <a:lnSpc>
                <a:spcPct val="139130"/>
              </a:lnSpc>
              <a:spcBef>
                <a:spcPts val="0"/>
              </a:spcBef>
              <a:spcAft>
                <a:spcPts val="0"/>
              </a:spcAft>
              <a:buClr>
                <a:srgbClr val="94A3BE"/>
              </a:buClr>
              <a:buSzPts val="1150"/>
              <a:buFont typeface="Calibri"/>
              <a:buNone/>
            </a:pPr>
            <a:r>
              <a:rPr lang="en-US" sz="1150" b="0" i="0" u="none" strike="noStrike" cap="none">
                <a:solidFill>
                  <a:srgbClr val="94A3BE"/>
                </a:solidFill>
                <a:latin typeface="Calibri"/>
                <a:ea typeface="Calibri"/>
                <a:cs typeface="Calibri"/>
                <a:sym typeface="Calibri"/>
              </a:rPr>
              <a:t>Human verification validated record counts, communication relationships, IP classification, protocol classification, port observations, frame-size statistics, timeline results, traffic direction, and final security interpretation.</a:t>
            </a:r>
            <a:endParaRPr sz="1150" b="0" i="0" u="none" strike="noStrike" cap="none">
              <a:solidFill>
                <a:schemeClr val="dk1"/>
              </a:solidFill>
              <a:latin typeface="Calibri"/>
              <a:ea typeface="Calibri"/>
              <a:cs typeface="Calibri"/>
              <a:sym typeface="Calibri"/>
            </a:endParaRPr>
          </a:p>
        </p:txBody>
      </p:sp>
      <p:sp>
        <p:nvSpPr>
          <p:cNvPr id="289" name="Google Shape;289;p8"/>
          <p:cNvSpPr/>
          <p:nvPr/>
        </p:nvSpPr>
        <p:spPr>
          <a:xfrm>
            <a:off x="548640" y="5870448"/>
            <a:ext cx="11091672" cy="530352"/>
          </a:xfrm>
          <a:prstGeom prst="roundRect">
            <a:avLst>
              <a:gd name="adj" fmla="val 15517"/>
            </a:avLst>
          </a:prstGeom>
          <a:solidFill>
            <a:srgbClr val="0E1626"/>
          </a:solidFill>
          <a:ln w="9525" cap="flat" cmpd="sng">
            <a:solidFill>
              <a:srgbClr val="1A25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8"/>
          <p:cNvSpPr txBox="1"/>
          <p:nvPr/>
        </p:nvSpPr>
        <p:spPr>
          <a:xfrm>
            <a:off x="548640" y="5870448"/>
            <a:ext cx="11091672" cy="53035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1400"/>
              <a:buFont typeface="Calibri"/>
              <a:buNone/>
            </a:pPr>
            <a:r>
              <a:rPr lang="en-US" sz="1400" b="1" i="1" u="none" strike="noStrike" cap="none">
                <a:solidFill>
                  <a:srgbClr val="F5A623"/>
                </a:solidFill>
                <a:latin typeface="Calibri"/>
                <a:ea typeface="Calibri"/>
                <a:cs typeface="Calibri"/>
                <a:sym typeface="Calibri"/>
              </a:rPr>
              <a:t>“AI was used as an analytical assistant — not as final evidence.”</a:t>
            </a:r>
            <a:endParaRPr sz="1400" b="0" i="0" u="none" strike="noStrike" cap="none">
              <a:solidFill>
                <a:schemeClr val="dk1"/>
              </a:solidFill>
              <a:latin typeface="Calibri"/>
              <a:ea typeface="Calibri"/>
              <a:cs typeface="Calibri"/>
              <a:sym typeface="Calibri"/>
            </a:endParaRPr>
          </a:p>
        </p:txBody>
      </p:sp>
      <p:sp>
        <p:nvSpPr>
          <p:cNvPr id="291" name="Google Shape;291;p8"/>
          <p:cNvSpPr txBox="1"/>
          <p:nvPr/>
        </p:nvSpPr>
        <p:spPr>
          <a:xfrm>
            <a:off x="548640" y="6565392"/>
            <a:ext cx="6400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E6E8C"/>
              </a:buClr>
              <a:buSzPts val="900"/>
              <a:buFont typeface="Calibri"/>
              <a:buNone/>
            </a:pPr>
            <a:r>
              <a:rPr lang="en-US" sz="900" b="0" i="0" u="none" strike="noStrike" cap="none">
                <a:solidFill>
                  <a:srgbClr val="5E6E8C"/>
                </a:solidFill>
                <a:latin typeface="Calibri"/>
                <a:ea typeface="Calibri"/>
                <a:cs typeface="Calibri"/>
                <a:sym typeface="Calibri"/>
              </a:rPr>
              <a:t>AI-POWERED PCAP ANALYSIS &amp; THREAT DETECTION</a:t>
            </a:r>
            <a:endParaRPr sz="900" b="0" i="0" u="none" strike="noStrike" cap="none">
              <a:solidFill>
                <a:schemeClr val="dk1"/>
              </a:solidFill>
              <a:latin typeface="Calibri"/>
              <a:ea typeface="Calibri"/>
              <a:cs typeface="Calibri"/>
              <a:sym typeface="Calibri"/>
            </a:endParaRPr>
          </a:p>
        </p:txBody>
      </p:sp>
      <p:sp>
        <p:nvSpPr>
          <p:cNvPr id="292" name="Google Shape;292;p8"/>
          <p:cNvSpPr txBox="1"/>
          <p:nvPr/>
        </p:nvSpPr>
        <p:spPr>
          <a:xfrm>
            <a:off x="10972800" y="6565392"/>
            <a:ext cx="66751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E6E8C"/>
              </a:buClr>
              <a:buSzPts val="900"/>
              <a:buFont typeface="Calibri"/>
              <a:buNone/>
            </a:pPr>
            <a:r>
              <a:rPr lang="en-US" sz="900" b="0" i="0" u="none" strike="noStrike" cap="none" dirty="0">
                <a:solidFill>
                  <a:srgbClr val="5E6E8C"/>
                </a:solidFill>
                <a:latin typeface="Calibri"/>
                <a:ea typeface="Calibri"/>
                <a:cs typeface="Calibri"/>
                <a:sym typeface="Calibri"/>
              </a:rPr>
              <a:t>06 / 09</a:t>
            </a:r>
            <a:endParaRPr sz="9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Shape 297"/>
        <p:cNvGrpSpPr/>
        <p:nvPr/>
      </p:nvGrpSpPr>
      <p:grpSpPr>
        <a:xfrm>
          <a:off x="0" y="0"/>
          <a:ext cx="0" cy="0"/>
          <a:chOff x="0" y="0"/>
          <a:chExt cx="0" cy="0"/>
        </a:xfrm>
      </p:grpSpPr>
      <p:sp>
        <p:nvSpPr>
          <p:cNvPr id="298" name="Google Shape;298;p9"/>
          <p:cNvSpPr txBox="1"/>
          <p:nvPr/>
        </p:nvSpPr>
        <p:spPr>
          <a:xfrm>
            <a:off x="548640" y="365760"/>
            <a:ext cx="1106424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3000"/>
              <a:buFont typeface="Calibri"/>
              <a:buNone/>
            </a:pPr>
            <a:r>
              <a:rPr lang="en-US" sz="3000" b="1" i="0" u="none" strike="noStrike" cap="none">
                <a:solidFill>
                  <a:srgbClr val="F4F7FB"/>
                </a:solidFill>
                <a:latin typeface="Calibri"/>
                <a:ea typeface="Calibri"/>
                <a:cs typeface="Calibri"/>
                <a:sym typeface="Calibri"/>
              </a:rPr>
              <a:t>Incident Response Strategy</a:t>
            </a:r>
            <a:endParaRPr sz="3000" b="0" i="0" u="none" strike="noStrike" cap="none">
              <a:solidFill>
                <a:schemeClr val="dk1"/>
              </a:solidFill>
              <a:latin typeface="Calibri"/>
              <a:ea typeface="Calibri"/>
              <a:cs typeface="Calibri"/>
              <a:sym typeface="Calibri"/>
            </a:endParaRPr>
          </a:p>
        </p:txBody>
      </p:sp>
      <p:cxnSp>
        <p:nvCxnSpPr>
          <p:cNvPr id="299" name="Google Shape;299;p9"/>
          <p:cNvCxnSpPr/>
          <p:nvPr/>
        </p:nvCxnSpPr>
        <p:spPr>
          <a:xfrm>
            <a:off x="960120" y="1490472"/>
            <a:ext cx="0" cy="3657600"/>
          </a:xfrm>
          <a:prstGeom prst="straightConnector1">
            <a:avLst/>
          </a:prstGeom>
          <a:noFill/>
          <a:ln w="25400" cap="flat" cmpd="sng">
            <a:solidFill>
              <a:srgbClr val="223252"/>
            </a:solidFill>
            <a:prstDash val="solid"/>
            <a:round/>
            <a:headEnd type="none" w="sm" len="sm"/>
            <a:tailEnd type="none" w="sm" len="sm"/>
          </a:ln>
        </p:spPr>
      </p:cxnSp>
      <p:sp>
        <p:nvSpPr>
          <p:cNvPr id="300" name="Google Shape;300;p9"/>
          <p:cNvSpPr/>
          <p:nvPr/>
        </p:nvSpPr>
        <p:spPr>
          <a:xfrm>
            <a:off x="704088" y="1234440"/>
            <a:ext cx="512064" cy="512064"/>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9"/>
          <p:cNvSpPr txBox="1"/>
          <p:nvPr/>
        </p:nvSpPr>
        <p:spPr>
          <a:xfrm>
            <a:off x="704088" y="1225296"/>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600"/>
              <a:buFont typeface="Calibri"/>
              <a:buNone/>
            </a:pPr>
            <a:r>
              <a:rPr lang="en-US" sz="1600" b="1" i="0" u="none" strike="noStrike" cap="none">
                <a:solidFill>
                  <a:srgbClr val="35C6F4"/>
                </a:solidFill>
                <a:latin typeface="Calibri"/>
                <a:ea typeface="Calibri"/>
                <a:cs typeface="Calibri"/>
                <a:sym typeface="Calibri"/>
              </a:rPr>
              <a:t>1</a:t>
            </a:r>
            <a:endParaRPr sz="1600" b="0" i="0" u="none" strike="noStrike" cap="none">
              <a:solidFill>
                <a:schemeClr val="dk1"/>
              </a:solidFill>
              <a:latin typeface="Calibri"/>
              <a:ea typeface="Calibri"/>
              <a:cs typeface="Calibri"/>
              <a:sym typeface="Calibri"/>
            </a:endParaRPr>
          </a:p>
        </p:txBody>
      </p:sp>
      <p:sp>
        <p:nvSpPr>
          <p:cNvPr id="302" name="Google Shape;302;p9"/>
          <p:cNvSpPr txBox="1"/>
          <p:nvPr/>
        </p:nvSpPr>
        <p:spPr>
          <a:xfrm>
            <a:off x="1417320" y="1234440"/>
            <a:ext cx="210312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500"/>
              <a:buFont typeface="Calibri"/>
              <a:buNone/>
            </a:pPr>
            <a:r>
              <a:rPr lang="en-US" sz="1500" b="1" i="0" u="none" strike="noStrike" cap="none">
                <a:solidFill>
                  <a:srgbClr val="F4F7FB"/>
                </a:solidFill>
                <a:latin typeface="Calibri"/>
                <a:ea typeface="Calibri"/>
                <a:cs typeface="Calibri"/>
                <a:sym typeface="Calibri"/>
              </a:rPr>
              <a:t>ISOLATE</a:t>
            </a:r>
            <a:endParaRPr sz="1500" b="0" i="0" u="none" strike="noStrike" cap="none">
              <a:solidFill>
                <a:schemeClr val="dk1"/>
              </a:solidFill>
              <a:latin typeface="Calibri"/>
              <a:ea typeface="Calibri"/>
              <a:cs typeface="Calibri"/>
              <a:sym typeface="Calibri"/>
            </a:endParaRPr>
          </a:p>
        </p:txBody>
      </p:sp>
      <p:sp>
        <p:nvSpPr>
          <p:cNvPr id="303" name="Google Shape;303;p9"/>
          <p:cNvSpPr txBox="1"/>
          <p:nvPr/>
        </p:nvSpPr>
        <p:spPr>
          <a:xfrm>
            <a:off x="3657600" y="1234440"/>
            <a:ext cx="7955280" cy="530352"/>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94A3BE"/>
              </a:buClr>
              <a:buSzPts val="1250"/>
              <a:buFont typeface="Calibri"/>
              <a:buNone/>
            </a:pPr>
            <a:r>
              <a:rPr lang="en-US" sz="1250" b="0" i="0" u="none" strike="noStrike" cap="none">
                <a:solidFill>
                  <a:srgbClr val="94A3BE"/>
                </a:solidFill>
                <a:latin typeface="Calibri"/>
                <a:ea typeface="Calibri"/>
                <a:cs typeface="Calibri"/>
                <a:sym typeface="Calibri"/>
              </a:rPr>
              <a:t>Preserve evidence; isolate 10.10.0.33 if required.</a:t>
            </a:r>
            <a:endParaRPr sz="1250" b="0" i="0" u="none" strike="noStrike" cap="none">
              <a:solidFill>
                <a:schemeClr val="dk1"/>
              </a:solidFill>
              <a:latin typeface="Calibri"/>
              <a:ea typeface="Calibri"/>
              <a:cs typeface="Calibri"/>
              <a:sym typeface="Calibri"/>
            </a:endParaRPr>
          </a:p>
        </p:txBody>
      </p:sp>
      <p:sp>
        <p:nvSpPr>
          <p:cNvPr id="304" name="Google Shape;304;p9"/>
          <p:cNvSpPr/>
          <p:nvPr/>
        </p:nvSpPr>
        <p:spPr>
          <a:xfrm>
            <a:off x="704088" y="1965960"/>
            <a:ext cx="512064" cy="512064"/>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9"/>
          <p:cNvSpPr txBox="1"/>
          <p:nvPr/>
        </p:nvSpPr>
        <p:spPr>
          <a:xfrm>
            <a:off x="704088" y="1956816"/>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600"/>
              <a:buFont typeface="Calibri"/>
              <a:buNone/>
            </a:pPr>
            <a:r>
              <a:rPr lang="en-US" sz="1600" b="1" i="0" u="none" strike="noStrike" cap="none">
                <a:solidFill>
                  <a:srgbClr val="35C6F4"/>
                </a:solidFill>
                <a:latin typeface="Calibri"/>
                <a:ea typeface="Calibri"/>
                <a:cs typeface="Calibri"/>
                <a:sym typeface="Calibri"/>
              </a:rPr>
              <a:t>2</a:t>
            </a:r>
            <a:endParaRPr sz="1600" b="0" i="0" u="none" strike="noStrike" cap="none">
              <a:solidFill>
                <a:schemeClr val="dk1"/>
              </a:solidFill>
              <a:latin typeface="Calibri"/>
              <a:ea typeface="Calibri"/>
              <a:cs typeface="Calibri"/>
              <a:sym typeface="Calibri"/>
            </a:endParaRPr>
          </a:p>
        </p:txBody>
      </p:sp>
      <p:sp>
        <p:nvSpPr>
          <p:cNvPr id="306" name="Google Shape;306;p9"/>
          <p:cNvSpPr txBox="1"/>
          <p:nvPr/>
        </p:nvSpPr>
        <p:spPr>
          <a:xfrm>
            <a:off x="1417320" y="1965960"/>
            <a:ext cx="210312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500"/>
              <a:buFont typeface="Calibri"/>
              <a:buNone/>
            </a:pPr>
            <a:r>
              <a:rPr lang="en-US" sz="1500" b="1" i="0" u="none" strike="noStrike" cap="none">
                <a:solidFill>
                  <a:srgbClr val="F4F7FB"/>
                </a:solidFill>
                <a:latin typeface="Calibri"/>
                <a:ea typeface="Calibri"/>
                <a:cs typeface="Calibri"/>
                <a:sym typeface="Calibri"/>
              </a:rPr>
              <a:t>INVESTIGATE</a:t>
            </a:r>
            <a:endParaRPr sz="1500" b="0" i="0" u="none" strike="noStrike" cap="none">
              <a:solidFill>
                <a:schemeClr val="dk1"/>
              </a:solidFill>
              <a:latin typeface="Calibri"/>
              <a:ea typeface="Calibri"/>
              <a:cs typeface="Calibri"/>
              <a:sym typeface="Calibri"/>
            </a:endParaRPr>
          </a:p>
        </p:txBody>
      </p:sp>
      <p:sp>
        <p:nvSpPr>
          <p:cNvPr id="307" name="Google Shape;307;p9"/>
          <p:cNvSpPr txBox="1"/>
          <p:nvPr/>
        </p:nvSpPr>
        <p:spPr>
          <a:xfrm>
            <a:off x="3657600" y="1965960"/>
            <a:ext cx="7955280" cy="530352"/>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94A3BE"/>
              </a:buClr>
              <a:buSzPts val="1250"/>
              <a:buFont typeface="Calibri"/>
              <a:buNone/>
            </a:pPr>
            <a:r>
              <a:rPr lang="en-US" sz="1250" b="0" i="0" u="none" strike="noStrike" cap="none">
                <a:solidFill>
                  <a:srgbClr val="94A3BE"/>
                </a:solidFill>
                <a:latin typeface="Calibri"/>
                <a:ea typeface="Calibri"/>
                <a:cs typeface="Calibri"/>
                <a:sym typeface="Calibri"/>
              </a:rPr>
              <a:t>Correlate PCAP, endpoint, DNS, logs, threat intelligence and baseline.</a:t>
            </a:r>
            <a:endParaRPr sz="1250" b="0" i="0" u="none" strike="noStrike" cap="none">
              <a:solidFill>
                <a:schemeClr val="dk1"/>
              </a:solidFill>
              <a:latin typeface="Calibri"/>
              <a:ea typeface="Calibri"/>
              <a:cs typeface="Calibri"/>
              <a:sym typeface="Calibri"/>
            </a:endParaRPr>
          </a:p>
        </p:txBody>
      </p:sp>
      <p:sp>
        <p:nvSpPr>
          <p:cNvPr id="308" name="Google Shape;308;p9"/>
          <p:cNvSpPr/>
          <p:nvPr/>
        </p:nvSpPr>
        <p:spPr>
          <a:xfrm>
            <a:off x="704088" y="2697480"/>
            <a:ext cx="512064" cy="512064"/>
          </a:xfrm>
          <a:prstGeom prst="ellipse">
            <a:avLst/>
          </a:prstGeom>
          <a:solidFill>
            <a:srgbClr val="3A2E14"/>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9"/>
          <p:cNvSpPr txBox="1"/>
          <p:nvPr/>
        </p:nvSpPr>
        <p:spPr>
          <a:xfrm>
            <a:off x="704088" y="2688336"/>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1600"/>
              <a:buFont typeface="Calibri"/>
              <a:buNone/>
            </a:pPr>
            <a:r>
              <a:rPr lang="en-US" sz="1600" b="1" i="0" u="none" strike="noStrike" cap="none">
                <a:solidFill>
                  <a:srgbClr val="F5A623"/>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310" name="Google Shape;310;p9"/>
          <p:cNvSpPr txBox="1"/>
          <p:nvPr/>
        </p:nvSpPr>
        <p:spPr>
          <a:xfrm>
            <a:off x="1417320" y="2697480"/>
            <a:ext cx="210312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500"/>
              <a:buFont typeface="Calibri"/>
              <a:buNone/>
            </a:pPr>
            <a:r>
              <a:rPr lang="en-US" sz="1500" b="1" i="0" u="none" strike="noStrike" cap="none">
                <a:solidFill>
                  <a:srgbClr val="F5A623"/>
                </a:solidFill>
                <a:latin typeface="Calibri"/>
                <a:ea typeface="Calibri"/>
                <a:cs typeface="Calibri"/>
                <a:sym typeface="Calibri"/>
              </a:rPr>
              <a:t>REMEDIATE</a:t>
            </a:r>
            <a:endParaRPr sz="1500" b="0" i="0" u="none" strike="noStrike" cap="none">
              <a:solidFill>
                <a:schemeClr val="dk1"/>
              </a:solidFill>
              <a:latin typeface="Calibri"/>
              <a:ea typeface="Calibri"/>
              <a:cs typeface="Calibri"/>
              <a:sym typeface="Calibri"/>
            </a:endParaRPr>
          </a:p>
        </p:txBody>
      </p:sp>
      <p:sp>
        <p:nvSpPr>
          <p:cNvPr id="311" name="Google Shape;311;p9"/>
          <p:cNvSpPr txBox="1"/>
          <p:nvPr/>
        </p:nvSpPr>
        <p:spPr>
          <a:xfrm>
            <a:off x="3657600" y="2697480"/>
            <a:ext cx="7955280" cy="530352"/>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94A3BE"/>
              </a:buClr>
              <a:buSzPts val="1250"/>
              <a:buFont typeface="Calibri"/>
              <a:buNone/>
            </a:pPr>
            <a:r>
              <a:rPr lang="en-US" sz="1250" b="0" i="0" u="none" strike="noStrike" cap="none">
                <a:solidFill>
                  <a:srgbClr val="94A3BE"/>
                </a:solidFill>
                <a:latin typeface="Calibri"/>
                <a:ea typeface="Calibri"/>
                <a:cs typeface="Calibri"/>
                <a:sym typeface="Calibri"/>
              </a:rPr>
              <a:t>If compromise is confirmed: remove malware/persistence and patch.</a:t>
            </a:r>
            <a:endParaRPr sz="1250" b="0" i="0" u="none" strike="noStrike" cap="none">
              <a:solidFill>
                <a:schemeClr val="dk1"/>
              </a:solidFill>
              <a:latin typeface="Calibri"/>
              <a:ea typeface="Calibri"/>
              <a:cs typeface="Calibri"/>
              <a:sym typeface="Calibri"/>
            </a:endParaRPr>
          </a:p>
        </p:txBody>
      </p:sp>
      <p:sp>
        <p:nvSpPr>
          <p:cNvPr id="312" name="Google Shape;312;p9"/>
          <p:cNvSpPr/>
          <p:nvPr/>
        </p:nvSpPr>
        <p:spPr>
          <a:xfrm>
            <a:off x="704088" y="3429000"/>
            <a:ext cx="512064" cy="512064"/>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9"/>
          <p:cNvSpPr txBox="1"/>
          <p:nvPr/>
        </p:nvSpPr>
        <p:spPr>
          <a:xfrm>
            <a:off x="704088" y="3419856"/>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600"/>
              <a:buFont typeface="Calibri"/>
              <a:buNone/>
            </a:pPr>
            <a:r>
              <a:rPr lang="en-US" sz="1600" b="1" i="0" u="none" strike="noStrike" cap="none">
                <a:solidFill>
                  <a:srgbClr val="35C6F4"/>
                </a:solidFill>
                <a:latin typeface="Calibri"/>
                <a:ea typeface="Calibri"/>
                <a:cs typeface="Calibri"/>
                <a:sym typeface="Calibri"/>
              </a:rPr>
              <a:t>4</a:t>
            </a:r>
            <a:endParaRPr sz="1600" b="0" i="0" u="none" strike="noStrike" cap="none">
              <a:solidFill>
                <a:schemeClr val="dk1"/>
              </a:solidFill>
              <a:latin typeface="Calibri"/>
              <a:ea typeface="Calibri"/>
              <a:cs typeface="Calibri"/>
              <a:sym typeface="Calibri"/>
            </a:endParaRPr>
          </a:p>
        </p:txBody>
      </p:sp>
      <p:sp>
        <p:nvSpPr>
          <p:cNvPr id="314" name="Google Shape;314;p9"/>
          <p:cNvSpPr txBox="1"/>
          <p:nvPr/>
        </p:nvSpPr>
        <p:spPr>
          <a:xfrm>
            <a:off x="1417320" y="3429000"/>
            <a:ext cx="210312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500"/>
              <a:buFont typeface="Calibri"/>
              <a:buNone/>
            </a:pPr>
            <a:r>
              <a:rPr lang="en-US" sz="1500" b="1" i="0" u="none" strike="noStrike" cap="none">
                <a:solidFill>
                  <a:srgbClr val="F4F7FB"/>
                </a:solidFill>
                <a:latin typeface="Calibri"/>
                <a:ea typeface="Calibri"/>
                <a:cs typeface="Calibri"/>
                <a:sym typeface="Calibri"/>
              </a:rPr>
              <a:t>VALIDATE</a:t>
            </a:r>
            <a:endParaRPr sz="1500" b="0" i="0" u="none" strike="noStrike" cap="none">
              <a:solidFill>
                <a:schemeClr val="dk1"/>
              </a:solidFill>
              <a:latin typeface="Calibri"/>
              <a:ea typeface="Calibri"/>
              <a:cs typeface="Calibri"/>
              <a:sym typeface="Calibri"/>
            </a:endParaRPr>
          </a:p>
        </p:txBody>
      </p:sp>
      <p:sp>
        <p:nvSpPr>
          <p:cNvPr id="315" name="Google Shape;315;p9"/>
          <p:cNvSpPr txBox="1"/>
          <p:nvPr/>
        </p:nvSpPr>
        <p:spPr>
          <a:xfrm>
            <a:off x="3657600" y="3429000"/>
            <a:ext cx="7955280" cy="530352"/>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94A3BE"/>
              </a:buClr>
              <a:buSzPts val="1250"/>
              <a:buFont typeface="Calibri"/>
              <a:buNone/>
            </a:pPr>
            <a:r>
              <a:rPr lang="en-US" sz="1250" b="0" i="0" u="none" strike="noStrike" cap="none">
                <a:solidFill>
                  <a:srgbClr val="94A3BE"/>
                </a:solidFill>
                <a:latin typeface="Calibri"/>
                <a:ea typeface="Calibri"/>
                <a:cs typeface="Calibri"/>
                <a:sym typeface="Calibri"/>
              </a:rPr>
              <a:t>Verify controls, processes, connections, DNS and recurrence.</a:t>
            </a:r>
            <a:endParaRPr sz="1250" b="0" i="0" u="none" strike="noStrike" cap="none">
              <a:solidFill>
                <a:schemeClr val="dk1"/>
              </a:solidFill>
              <a:latin typeface="Calibri"/>
              <a:ea typeface="Calibri"/>
              <a:cs typeface="Calibri"/>
              <a:sym typeface="Calibri"/>
            </a:endParaRPr>
          </a:p>
        </p:txBody>
      </p:sp>
      <p:sp>
        <p:nvSpPr>
          <p:cNvPr id="316" name="Google Shape;316;p9"/>
          <p:cNvSpPr/>
          <p:nvPr/>
        </p:nvSpPr>
        <p:spPr>
          <a:xfrm>
            <a:off x="704088" y="4160520"/>
            <a:ext cx="512064" cy="512064"/>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9"/>
          <p:cNvSpPr txBox="1"/>
          <p:nvPr/>
        </p:nvSpPr>
        <p:spPr>
          <a:xfrm>
            <a:off x="704088" y="4151376"/>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600"/>
              <a:buFont typeface="Calibri"/>
              <a:buNone/>
            </a:pPr>
            <a:r>
              <a:rPr lang="en-US" sz="1600" b="1" i="0" u="none" strike="noStrike" cap="none">
                <a:solidFill>
                  <a:srgbClr val="35C6F4"/>
                </a:solidFill>
                <a:latin typeface="Calibri"/>
                <a:ea typeface="Calibri"/>
                <a:cs typeface="Calibri"/>
                <a:sym typeface="Calibri"/>
              </a:rPr>
              <a:t>5</a:t>
            </a:r>
            <a:endParaRPr sz="1600" b="0" i="0" u="none" strike="noStrike" cap="none">
              <a:solidFill>
                <a:schemeClr val="dk1"/>
              </a:solidFill>
              <a:latin typeface="Calibri"/>
              <a:ea typeface="Calibri"/>
              <a:cs typeface="Calibri"/>
              <a:sym typeface="Calibri"/>
            </a:endParaRPr>
          </a:p>
        </p:txBody>
      </p:sp>
      <p:sp>
        <p:nvSpPr>
          <p:cNvPr id="318" name="Google Shape;318;p9"/>
          <p:cNvSpPr txBox="1"/>
          <p:nvPr/>
        </p:nvSpPr>
        <p:spPr>
          <a:xfrm>
            <a:off x="1417320" y="4160520"/>
            <a:ext cx="210312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500"/>
              <a:buFont typeface="Calibri"/>
              <a:buNone/>
            </a:pPr>
            <a:r>
              <a:rPr lang="en-US" sz="1500" b="1" i="0" u="none" strike="noStrike" cap="none">
                <a:solidFill>
                  <a:srgbClr val="F4F7FB"/>
                </a:solidFill>
                <a:latin typeface="Calibri"/>
                <a:ea typeface="Calibri"/>
                <a:cs typeface="Calibri"/>
                <a:sym typeface="Calibri"/>
              </a:rPr>
              <a:t>RECONNECT</a:t>
            </a:r>
            <a:endParaRPr sz="1500" b="0" i="0" u="none" strike="noStrike" cap="none">
              <a:solidFill>
                <a:schemeClr val="dk1"/>
              </a:solidFill>
              <a:latin typeface="Calibri"/>
              <a:ea typeface="Calibri"/>
              <a:cs typeface="Calibri"/>
              <a:sym typeface="Calibri"/>
            </a:endParaRPr>
          </a:p>
        </p:txBody>
      </p:sp>
      <p:sp>
        <p:nvSpPr>
          <p:cNvPr id="319" name="Google Shape;319;p9"/>
          <p:cNvSpPr txBox="1"/>
          <p:nvPr/>
        </p:nvSpPr>
        <p:spPr>
          <a:xfrm>
            <a:off x="3657600" y="4169312"/>
            <a:ext cx="7955280" cy="530352"/>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94A3BE"/>
              </a:buClr>
              <a:buSzPts val="1250"/>
              <a:buFont typeface="Calibri"/>
              <a:buNone/>
            </a:pPr>
            <a:r>
              <a:rPr lang="en-US" sz="1250" b="0" i="0" u="none" strike="noStrike" cap="none">
                <a:solidFill>
                  <a:srgbClr val="94A3BE"/>
                </a:solidFill>
                <a:latin typeface="Calibri"/>
                <a:ea typeface="Calibri"/>
                <a:cs typeface="Calibri"/>
                <a:sym typeface="Calibri"/>
              </a:rPr>
              <a:t>Return host to normal network operation after validation.</a:t>
            </a:r>
            <a:endParaRPr sz="1250" b="0" i="0" u="none" strike="noStrike" cap="none">
              <a:solidFill>
                <a:schemeClr val="dk1"/>
              </a:solidFill>
              <a:latin typeface="Calibri"/>
              <a:ea typeface="Calibri"/>
              <a:cs typeface="Calibri"/>
              <a:sym typeface="Calibri"/>
            </a:endParaRPr>
          </a:p>
        </p:txBody>
      </p:sp>
      <p:sp>
        <p:nvSpPr>
          <p:cNvPr id="320" name="Google Shape;320;p9"/>
          <p:cNvSpPr/>
          <p:nvPr/>
        </p:nvSpPr>
        <p:spPr>
          <a:xfrm>
            <a:off x="704088" y="4892040"/>
            <a:ext cx="512064" cy="512064"/>
          </a:xfrm>
          <a:prstGeom prst="ellipse">
            <a:avLst/>
          </a:prstGeom>
          <a:solidFill>
            <a:srgbClr val="163244"/>
          </a:solidFill>
          <a:ln w="12700" cap="flat" cmpd="sng">
            <a:solidFill>
              <a:srgbClr val="35C6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9"/>
          <p:cNvSpPr txBox="1"/>
          <p:nvPr/>
        </p:nvSpPr>
        <p:spPr>
          <a:xfrm>
            <a:off x="704088" y="4882896"/>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5C6F4"/>
              </a:buClr>
              <a:buSzPts val="1600"/>
              <a:buFont typeface="Calibri"/>
              <a:buNone/>
            </a:pPr>
            <a:r>
              <a:rPr lang="en-US" sz="1600" b="1" i="0" u="none" strike="noStrike" cap="none">
                <a:solidFill>
                  <a:srgbClr val="35C6F4"/>
                </a:solidFill>
                <a:latin typeface="Calibri"/>
                <a:ea typeface="Calibri"/>
                <a:cs typeface="Calibri"/>
                <a:sym typeface="Calibri"/>
              </a:rPr>
              <a:t>6</a:t>
            </a:r>
            <a:endParaRPr sz="1600" b="0" i="0" u="none" strike="noStrike" cap="none">
              <a:solidFill>
                <a:schemeClr val="dk1"/>
              </a:solidFill>
              <a:latin typeface="Calibri"/>
              <a:ea typeface="Calibri"/>
              <a:cs typeface="Calibri"/>
              <a:sym typeface="Calibri"/>
            </a:endParaRPr>
          </a:p>
        </p:txBody>
      </p:sp>
      <p:sp>
        <p:nvSpPr>
          <p:cNvPr id="322" name="Google Shape;322;p9"/>
          <p:cNvSpPr txBox="1"/>
          <p:nvPr/>
        </p:nvSpPr>
        <p:spPr>
          <a:xfrm>
            <a:off x="1417320" y="4892040"/>
            <a:ext cx="210312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500"/>
              <a:buFont typeface="Calibri"/>
              <a:buNone/>
            </a:pPr>
            <a:r>
              <a:rPr lang="en-US" sz="1500" b="1" i="0" u="none" strike="noStrike" cap="none">
                <a:solidFill>
                  <a:srgbClr val="F4F7FB"/>
                </a:solidFill>
                <a:latin typeface="Calibri"/>
                <a:ea typeface="Calibri"/>
                <a:cs typeface="Calibri"/>
                <a:sym typeface="Calibri"/>
              </a:rPr>
              <a:t>MONITOR</a:t>
            </a:r>
            <a:endParaRPr sz="1500" b="0" i="0" u="none" strike="noStrike" cap="none">
              <a:solidFill>
                <a:schemeClr val="dk1"/>
              </a:solidFill>
              <a:latin typeface="Calibri"/>
              <a:ea typeface="Calibri"/>
              <a:cs typeface="Calibri"/>
              <a:sym typeface="Calibri"/>
            </a:endParaRPr>
          </a:p>
        </p:txBody>
      </p:sp>
      <p:sp>
        <p:nvSpPr>
          <p:cNvPr id="323" name="Google Shape;323;p9"/>
          <p:cNvSpPr txBox="1"/>
          <p:nvPr/>
        </p:nvSpPr>
        <p:spPr>
          <a:xfrm>
            <a:off x="3657600" y="4892040"/>
            <a:ext cx="7955280" cy="530352"/>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94A3BE"/>
              </a:buClr>
              <a:buSzPts val="1250"/>
              <a:buFont typeface="Calibri"/>
              <a:buNone/>
            </a:pPr>
            <a:r>
              <a:rPr lang="en-US" sz="1250" b="0" i="0" u="none" strike="noStrike" cap="none">
                <a:solidFill>
                  <a:srgbClr val="94A3BE"/>
                </a:solidFill>
                <a:latin typeface="Calibri"/>
                <a:ea typeface="Calibri"/>
                <a:cs typeface="Calibri"/>
                <a:sym typeface="Calibri"/>
              </a:rPr>
              <a:t>Maintain heightened monitoring for at least 30 days.</a:t>
            </a:r>
            <a:endParaRPr sz="1250" b="0" i="0" u="none" strike="noStrike" cap="none">
              <a:solidFill>
                <a:schemeClr val="dk1"/>
              </a:solidFill>
              <a:latin typeface="Calibri"/>
              <a:ea typeface="Calibri"/>
              <a:cs typeface="Calibri"/>
              <a:sym typeface="Calibri"/>
            </a:endParaRPr>
          </a:p>
        </p:txBody>
      </p:sp>
      <p:sp>
        <p:nvSpPr>
          <p:cNvPr id="324" name="Google Shape;324;p9"/>
          <p:cNvSpPr/>
          <p:nvPr/>
        </p:nvSpPr>
        <p:spPr>
          <a:xfrm>
            <a:off x="548640" y="5760720"/>
            <a:ext cx="11091672" cy="658368"/>
          </a:xfrm>
          <a:prstGeom prst="roundRect">
            <a:avLst>
              <a:gd name="adj" fmla="val 12500"/>
            </a:avLst>
          </a:prstGeom>
          <a:solidFill>
            <a:srgbClr val="0E1626"/>
          </a:solidFill>
          <a:ln w="9525" cap="flat" cmpd="sng">
            <a:solidFill>
              <a:srgbClr val="1A25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9"/>
          <p:cNvSpPr txBox="1"/>
          <p:nvPr/>
        </p:nvSpPr>
        <p:spPr>
          <a:xfrm>
            <a:off x="822960" y="5760720"/>
            <a:ext cx="10543032" cy="658368"/>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35C6F4"/>
              </a:buClr>
              <a:buSzPts val="1250"/>
              <a:buFont typeface="Calibri"/>
              <a:buNone/>
            </a:pPr>
            <a:r>
              <a:rPr lang="en-US" sz="1250" b="0" i="1" u="none" strike="noStrike" cap="none">
                <a:solidFill>
                  <a:srgbClr val="35C6F4"/>
                </a:solidFill>
                <a:latin typeface="Calibri"/>
                <a:ea typeface="Calibri"/>
                <a:cs typeface="Calibri"/>
                <a:sym typeface="Calibri"/>
              </a:rPr>
              <a:t>“Containment, eradication and recovery should be proportional to validated evidence and should not assume compromise without confirmation.”</a:t>
            </a:r>
            <a:endParaRPr sz="1250" b="0" i="0" u="none" strike="noStrike" cap="none">
              <a:solidFill>
                <a:schemeClr val="dk1"/>
              </a:solidFill>
              <a:latin typeface="Calibri"/>
              <a:ea typeface="Calibri"/>
              <a:cs typeface="Calibri"/>
              <a:sym typeface="Calibri"/>
            </a:endParaRPr>
          </a:p>
        </p:txBody>
      </p:sp>
      <p:sp>
        <p:nvSpPr>
          <p:cNvPr id="326" name="Google Shape;326;p9"/>
          <p:cNvSpPr txBox="1"/>
          <p:nvPr/>
        </p:nvSpPr>
        <p:spPr>
          <a:xfrm>
            <a:off x="548640" y="6565392"/>
            <a:ext cx="6400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E6E8C"/>
              </a:buClr>
              <a:buSzPts val="900"/>
              <a:buFont typeface="Calibri"/>
              <a:buNone/>
            </a:pPr>
            <a:r>
              <a:rPr lang="en-US" sz="900" b="0" i="0" u="none" strike="noStrike" cap="none" dirty="0">
                <a:solidFill>
                  <a:srgbClr val="5E6E8C"/>
                </a:solidFill>
                <a:latin typeface="Calibri"/>
                <a:ea typeface="Calibri"/>
                <a:cs typeface="Calibri"/>
                <a:sym typeface="Calibri"/>
              </a:rPr>
              <a:t>AI-POWERED PCAP ANALYSIS &amp; THREAT DETECTION</a:t>
            </a:r>
            <a:endParaRPr sz="900" b="0" i="0" u="none" strike="noStrike" cap="none" dirty="0">
              <a:solidFill>
                <a:schemeClr val="dk1"/>
              </a:solidFill>
              <a:latin typeface="Calibri"/>
              <a:ea typeface="Calibri"/>
              <a:cs typeface="Calibri"/>
              <a:sym typeface="Calibri"/>
            </a:endParaRPr>
          </a:p>
        </p:txBody>
      </p:sp>
      <p:sp>
        <p:nvSpPr>
          <p:cNvPr id="327" name="Google Shape;327;p9"/>
          <p:cNvSpPr txBox="1"/>
          <p:nvPr/>
        </p:nvSpPr>
        <p:spPr>
          <a:xfrm>
            <a:off x="10972800" y="6565392"/>
            <a:ext cx="66751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E6E8C"/>
              </a:buClr>
              <a:buSzPts val="900"/>
              <a:buFont typeface="Calibri"/>
              <a:buNone/>
            </a:pPr>
            <a:r>
              <a:rPr lang="en-US" sz="900" b="0" i="0" u="none" strike="noStrike" cap="none" dirty="0">
                <a:solidFill>
                  <a:srgbClr val="5E6E8C"/>
                </a:solidFill>
                <a:latin typeface="Calibri"/>
                <a:ea typeface="Calibri"/>
                <a:cs typeface="Calibri"/>
                <a:sym typeface="Calibri"/>
              </a:rPr>
              <a:t>07 / 09</a:t>
            </a:r>
            <a:endParaRPr sz="9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Shape 332"/>
        <p:cNvGrpSpPr/>
        <p:nvPr/>
      </p:nvGrpSpPr>
      <p:grpSpPr>
        <a:xfrm>
          <a:off x="0" y="0"/>
          <a:ext cx="0" cy="0"/>
          <a:chOff x="0" y="0"/>
          <a:chExt cx="0" cy="0"/>
        </a:xfrm>
      </p:grpSpPr>
      <p:sp>
        <p:nvSpPr>
          <p:cNvPr id="333" name="Google Shape;333;p10"/>
          <p:cNvSpPr txBox="1"/>
          <p:nvPr/>
        </p:nvSpPr>
        <p:spPr>
          <a:xfrm>
            <a:off x="548640" y="320040"/>
            <a:ext cx="110642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2600"/>
              <a:buFont typeface="Calibri"/>
              <a:buNone/>
            </a:pPr>
            <a:r>
              <a:rPr lang="en-US" sz="2600" b="1" i="0" u="none" strike="noStrike" cap="none">
                <a:solidFill>
                  <a:srgbClr val="F4F7FB"/>
                </a:solidFill>
                <a:latin typeface="Calibri"/>
                <a:ea typeface="Calibri"/>
                <a:cs typeface="Calibri"/>
                <a:sym typeface="Calibri"/>
              </a:rPr>
              <a:t>Final Security Assessment &amp; Recommendations</a:t>
            </a:r>
            <a:endParaRPr sz="2600" b="0" i="0" u="none" strike="noStrike" cap="none">
              <a:solidFill>
                <a:schemeClr val="dk1"/>
              </a:solidFill>
              <a:latin typeface="Calibri"/>
              <a:ea typeface="Calibri"/>
              <a:cs typeface="Calibri"/>
              <a:sym typeface="Calibri"/>
            </a:endParaRPr>
          </a:p>
        </p:txBody>
      </p:sp>
      <p:sp>
        <p:nvSpPr>
          <p:cNvPr id="334" name="Google Shape;334;p10"/>
          <p:cNvSpPr/>
          <p:nvPr/>
        </p:nvSpPr>
        <p:spPr>
          <a:xfrm>
            <a:off x="548640" y="960120"/>
            <a:ext cx="5486400" cy="777240"/>
          </a:xfrm>
          <a:prstGeom prst="roundRect">
            <a:avLst>
              <a:gd name="adj" fmla="val 11765"/>
            </a:avLst>
          </a:prstGeom>
          <a:solidFill>
            <a:srgbClr val="3A2E14"/>
          </a:solidFill>
          <a:ln w="15875"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0"/>
          <p:cNvSpPr txBox="1"/>
          <p:nvPr/>
        </p:nvSpPr>
        <p:spPr>
          <a:xfrm>
            <a:off x="822960" y="1042416"/>
            <a:ext cx="50292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000"/>
              <a:buFont typeface="Calibri"/>
              <a:buNone/>
            </a:pPr>
            <a:r>
              <a:rPr lang="en-US" sz="1000" b="1" i="0" u="none" strike="noStrike" cap="none">
                <a:solidFill>
                  <a:srgbClr val="F5A623"/>
                </a:solidFill>
                <a:latin typeface="Calibri"/>
                <a:ea typeface="Calibri"/>
                <a:cs typeface="Calibri"/>
                <a:sym typeface="Calibri"/>
              </a:rPr>
              <a:t>CURRENT STATUS</a:t>
            </a:r>
            <a:endParaRPr sz="1000" b="0" i="0" u="none" strike="noStrike" cap="none">
              <a:solidFill>
                <a:schemeClr val="dk1"/>
              </a:solidFill>
              <a:latin typeface="Calibri"/>
              <a:ea typeface="Calibri"/>
              <a:cs typeface="Calibri"/>
              <a:sym typeface="Calibri"/>
            </a:endParaRPr>
          </a:p>
        </p:txBody>
      </p:sp>
      <p:sp>
        <p:nvSpPr>
          <p:cNvPr id="336" name="Google Shape;336;p10"/>
          <p:cNvSpPr txBox="1"/>
          <p:nvPr/>
        </p:nvSpPr>
        <p:spPr>
          <a:xfrm>
            <a:off x="822960" y="1261872"/>
            <a:ext cx="502920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2200"/>
              <a:buFont typeface="Calibri"/>
              <a:buNone/>
            </a:pPr>
            <a:r>
              <a:rPr lang="en-US" sz="2200" b="1" i="0" u="none" strike="noStrike" cap="none">
                <a:solidFill>
                  <a:srgbClr val="F4F7FB"/>
                </a:solidFill>
                <a:latin typeface="Calibri"/>
                <a:ea typeface="Calibri"/>
                <a:cs typeface="Calibri"/>
                <a:sym typeface="Calibri"/>
              </a:rPr>
              <a:t>INVESTIGATION REQUIRED</a:t>
            </a:r>
            <a:endParaRPr sz="2200" b="0" i="0" u="none" strike="noStrike" cap="none">
              <a:solidFill>
                <a:schemeClr val="dk1"/>
              </a:solidFill>
              <a:latin typeface="Calibri"/>
              <a:ea typeface="Calibri"/>
              <a:cs typeface="Calibri"/>
              <a:sym typeface="Calibri"/>
            </a:endParaRPr>
          </a:p>
        </p:txBody>
      </p:sp>
      <p:sp>
        <p:nvSpPr>
          <p:cNvPr id="337" name="Google Shape;337;p10"/>
          <p:cNvSpPr/>
          <p:nvPr/>
        </p:nvSpPr>
        <p:spPr>
          <a:xfrm>
            <a:off x="6172200" y="960120"/>
            <a:ext cx="5468112" cy="777240"/>
          </a:xfrm>
          <a:prstGeom prst="roundRect">
            <a:avLst>
              <a:gd name="adj" fmla="val 11765"/>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0"/>
          <p:cNvSpPr txBox="1"/>
          <p:nvPr/>
        </p:nvSpPr>
        <p:spPr>
          <a:xfrm>
            <a:off x="6446520" y="1042416"/>
            <a:ext cx="49377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E"/>
              </a:buClr>
              <a:buSzPts val="1000"/>
              <a:buFont typeface="Calibri"/>
              <a:buNone/>
            </a:pPr>
            <a:r>
              <a:rPr lang="en-US" sz="1000" b="1" i="0" u="none" strike="noStrike" cap="none">
                <a:solidFill>
                  <a:srgbClr val="94A3BE"/>
                </a:solidFill>
                <a:latin typeface="Calibri"/>
                <a:ea typeface="Calibri"/>
                <a:cs typeface="Calibri"/>
                <a:sym typeface="Calibri"/>
              </a:rPr>
              <a:t>COMPROMISE STATUS</a:t>
            </a:r>
            <a:endParaRPr sz="1000" b="0" i="0" u="none" strike="noStrike" cap="none">
              <a:solidFill>
                <a:schemeClr val="dk1"/>
              </a:solidFill>
              <a:latin typeface="Calibri"/>
              <a:ea typeface="Calibri"/>
              <a:cs typeface="Calibri"/>
              <a:sym typeface="Calibri"/>
            </a:endParaRPr>
          </a:p>
        </p:txBody>
      </p:sp>
      <p:sp>
        <p:nvSpPr>
          <p:cNvPr id="339" name="Google Shape;339;p10"/>
          <p:cNvSpPr txBox="1"/>
          <p:nvPr/>
        </p:nvSpPr>
        <p:spPr>
          <a:xfrm>
            <a:off x="6446520" y="1261872"/>
            <a:ext cx="4937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2000"/>
              <a:buFont typeface="Calibri"/>
              <a:buNone/>
            </a:pPr>
            <a:r>
              <a:rPr lang="en-US" sz="2000" b="1" i="0" u="none" strike="noStrike" cap="none">
                <a:solidFill>
                  <a:srgbClr val="F4F7FB"/>
                </a:solidFill>
                <a:latin typeface="Calibri"/>
                <a:ea typeface="Calibri"/>
                <a:cs typeface="Calibri"/>
                <a:sym typeface="Calibri"/>
              </a:rPr>
              <a:t>NO CONFIRMED COMPROMISE</a:t>
            </a:r>
            <a:endParaRPr sz="2000" b="0" i="0" u="none" strike="noStrike" cap="none">
              <a:solidFill>
                <a:schemeClr val="dk1"/>
              </a:solidFill>
              <a:latin typeface="Calibri"/>
              <a:ea typeface="Calibri"/>
              <a:cs typeface="Calibri"/>
              <a:sym typeface="Calibri"/>
            </a:endParaRPr>
          </a:p>
        </p:txBody>
      </p:sp>
      <p:sp>
        <p:nvSpPr>
          <p:cNvPr id="340" name="Google Shape;340;p10"/>
          <p:cNvSpPr/>
          <p:nvPr/>
        </p:nvSpPr>
        <p:spPr>
          <a:xfrm>
            <a:off x="548640" y="1965960"/>
            <a:ext cx="3514344" cy="3611880"/>
          </a:xfrm>
          <a:prstGeom prst="roundRect">
            <a:avLst>
              <a:gd name="adj" fmla="val 2342"/>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0"/>
          <p:cNvSpPr txBox="1"/>
          <p:nvPr/>
        </p:nvSpPr>
        <p:spPr>
          <a:xfrm>
            <a:off x="777240" y="2130552"/>
            <a:ext cx="3057144"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1200"/>
              <a:buFont typeface="Calibri"/>
              <a:buNone/>
            </a:pPr>
            <a:r>
              <a:rPr lang="en-US" sz="1200" b="1" i="0" u="none" strike="noStrike" cap="none">
                <a:solidFill>
                  <a:srgbClr val="35C6F4"/>
                </a:solidFill>
                <a:latin typeface="Calibri"/>
                <a:ea typeface="Calibri"/>
                <a:cs typeface="Calibri"/>
                <a:sym typeface="Calibri"/>
              </a:rPr>
              <a:t>OBSERVED</a:t>
            </a:r>
            <a:endParaRPr sz="1200" b="0" i="0" u="none" strike="noStrike" cap="none">
              <a:solidFill>
                <a:schemeClr val="dk1"/>
              </a:solidFill>
              <a:latin typeface="Calibri"/>
              <a:ea typeface="Calibri"/>
              <a:cs typeface="Calibri"/>
              <a:sym typeface="Calibri"/>
            </a:endParaRPr>
          </a:p>
        </p:txBody>
      </p:sp>
      <p:sp>
        <p:nvSpPr>
          <p:cNvPr id="342" name="Google Shape;342;p10"/>
          <p:cNvSpPr txBox="1"/>
          <p:nvPr/>
        </p:nvSpPr>
        <p:spPr>
          <a:xfrm>
            <a:off x="777240" y="2587752"/>
            <a:ext cx="1828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700"/>
              <a:buFont typeface="Calibri"/>
              <a:buNone/>
            </a:pPr>
            <a:r>
              <a:rPr lang="en-US" sz="700" b="0" i="0" u="none" strike="noStrike" cap="none" dirty="0">
                <a:solidFill>
                  <a:srgbClr val="35C6F4"/>
                </a:solidFill>
                <a:latin typeface="Calibri"/>
                <a:ea typeface="Calibri"/>
                <a:cs typeface="Calibri"/>
                <a:sym typeface="Calibri"/>
              </a:rPr>
              <a:t>●</a:t>
            </a:r>
            <a:endParaRPr sz="700" b="0" i="0" u="none" strike="noStrike" cap="none" dirty="0">
              <a:solidFill>
                <a:schemeClr val="dk1"/>
              </a:solidFill>
              <a:latin typeface="Calibri"/>
              <a:ea typeface="Calibri"/>
              <a:cs typeface="Calibri"/>
              <a:sym typeface="Calibri"/>
            </a:endParaRPr>
          </a:p>
        </p:txBody>
      </p:sp>
      <p:sp>
        <p:nvSpPr>
          <p:cNvPr id="343" name="Google Shape;343;p10"/>
          <p:cNvSpPr txBox="1"/>
          <p:nvPr/>
        </p:nvSpPr>
        <p:spPr>
          <a:xfrm>
            <a:off x="987552" y="2459736"/>
            <a:ext cx="2828544" cy="4572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4F7FB"/>
              </a:buClr>
              <a:buSzPts val="1000"/>
              <a:buFont typeface="Calibri"/>
              <a:buNone/>
            </a:pPr>
            <a:r>
              <a:rPr lang="en-US" sz="1000" b="0" i="0" u="none" strike="noStrike" cap="none">
                <a:solidFill>
                  <a:srgbClr val="F4F7FB"/>
                </a:solidFill>
                <a:latin typeface="Calibri"/>
                <a:ea typeface="Calibri"/>
                <a:cs typeface="Calibri"/>
                <a:sym typeface="Calibri"/>
              </a:rPr>
              <a:t>3,525 Internal ↔ Public records</a:t>
            </a:r>
            <a:endParaRPr sz="1000" b="0" i="0" u="none" strike="noStrike" cap="none">
              <a:solidFill>
                <a:schemeClr val="dk1"/>
              </a:solidFill>
              <a:latin typeface="Calibri"/>
              <a:ea typeface="Calibri"/>
              <a:cs typeface="Calibri"/>
              <a:sym typeface="Calibri"/>
            </a:endParaRPr>
          </a:p>
        </p:txBody>
      </p:sp>
      <p:sp>
        <p:nvSpPr>
          <p:cNvPr id="344" name="Google Shape;344;p10"/>
          <p:cNvSpPr txBox="1"/>
          <p:nvPr/>
        </p:nvSpPr>
        <p:spPr>
          <a:xfrm>
            <a:off x="777240" y="2999232"/>
            <a:ext cx="1828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700"/>
              <a:buFont typeface="Calibri"/>
              <a:buNone/>
            </a:pPr>
            <a:r>
              <a:rPr lang="en-US" sz="700" b="0" i="0" u="none" strike="noStrike" cap="none">
                <a:solidFill>
                  <a:srgbClr val="35C6F4"/>
                </a:solidFill>
                <a:latin typeface="Calibri"/>
                <a:ea typeface="Calibri"/>
                <a:cs typeface="Calibri"/>
                <a:sym typeface="Calibri"/>
              </a:rPr>
              <a:t>●</a:t>
            </a:r>
            <a:endParaRPr sz="700" b="0" i="0" u="none" strike="noStrike" cap="none">
              <a:solidFill>
                <a:schemeClr val="dk1"/>
              </a:solidFill>
              <a:latin typeface="Calibri"/>
              <a:ea typeface="Calibri"/>
              <a:cs typeface="Calibri"/>
              <a:sym typeface="Calibri"/>
            </a:endParaRPr>
          </a:p>
        </p:txBody>
      </p:sp>
      <p:sp>
        <p:nvSpPr>
          <p:cNvPr id="345" name="Google Shape;345;p10"/>
          <p:cNvSpPr txBox="1"/>
          <p:nvPr/>
        </p:nvSpPr>
        <p:spPr>
          <a:xfrm>
            <a:off x="987552" y="2962656"/>
            <a:ext cx="2828544" cy="4572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4F7FB"/>
              </a:buClr>
              <a:buSzPts val="1000"/>
              <a:buFont typeface="Calibri"/>
              <a:buNone/>
            </a:pPr>
            <a:r>
              <a:rPr lang="en-US" sz="1000" b="0" i="0" u="none" strike="noStrike" cap="none" dirty="0">
                <a:solidFill>
                  <a:srgbClr val="F4F7FB"/>
                </a:solidFill>
                <a:latin typeface="Calibri"/>
                <a:ea typeface="Calibri"/>
                <a:cs typeface="Calibri"/>
                <a:sym typeface="Calibri"/>
              </a:rPr>
              <a:t>1,725 dominant relationship</a:t>
            </a:r>
            <a:endParaRPr sz="1000" b="0" i="0" u="none" strike="noStrike" cap="none" dirty="0">
              <a:solidFill>
                <a:schemeClr val="dk1"/>
              </a:solidFill>
              <a:latin typeface="Calibri"/>
              <a:ea typeface="Calibri"/>
              <a:cs typeface="Calibri"/>
              <a:sym typeface="Calibri"/>
            </a:endParaRPr>
          </a:p>
          <a:p>
            <a:pPr marL="0" marR="0" lvl="0" indent="0" algn="l" rtl="0">
              <a:lnSpc>
                <a:spcPct val="120000"/>
              </a:lnSpc>
              <a:spcBef>
                <a:spcPts val="0"/>
              </a:spcBef>
              <a:spcAft>
                <a:spcPts val="0"/>
              </a:spcAft>
              <a:buClr>
                <a:srgbClr val="F4F7FB"/>
              </a:buClr>
              <a:buSzPts val="1000"/>
              <a:buFont typeface="Calibri"/>
              <a:buNone/>
            </a:pPr>
            <a:r>
              <a:rPr lang="en-US" sz="1000" b="0" i="0" u="none" strike="noStrike" cap="none" dirty="0">
                <a:solidFill>
                  <a:srgbClr val="F4F7FB"/>
                </a:solidFill>
                <a:latin typeface="Calibri"/>
                <a:ea typeface="Calibri"/>
                <a:cs typeface="Calibri"/>
                <a:sym typeface="Calibri"/>
              </a:rPr>
              <a:t>(10.10.0.33 ↔ 18.184.26.60)</a:t>
            </a:r>
            <a:endParaRPr sz="1000" b="0" i="0" u="none" strike="noStrike" cap="none" dirty="0">
              <a:solidFill>
                <a:schemeClr val="dk1"/>
              </a:solidFill>
              <a:latin typeface="Calibri"/>
              <a:ea typeface="Calibri"/>
              <a:cs typeface="Calibri"/>
              <a:sym typeface="Calibri"/>
            </a:endParaRPr>
          </a:p>
        </p:txBody>
      </p:sp>
      <p:sp>
        <p:nvSpPr>
          <p:cNvPr id="346" name="Google Shape;346;p10"/>
          <p:cNvSpPr txBox="1"/>
          <p:nvPr/>
        </p:nvSpPr>
        <p:spPr>
          <a:xfrm>
            <a:off x="758952" y="3584448"/>
            <a:ext cx="1828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700"/>
              <a:buFont typeface="Calibri"/>
              <a:buNone/>
            </a:pPr>
            <a:r>
              <a:rPr lang="en-US" sz="700" b="0" i="0" u="none" strike="noStrike" cap="none" dirty="0">
                <a:solidFill>
                  <a:srgbClr val="35C6F4"/>
                </a:solidFill>
                <a:latin typeface="Calibri"/>
                <a:ea typeface="Calibri"/>
                <a:cs typeface="Calibri"/>
                <a:sym typeface="Calibri"/>
              </a:rPr>
              <a:t>●</a:t>
            </a:r>
            <a:endParaRPr sz="700" b="0" i="0" u="none" strike="noStrike" cap="none" dirty="0">
              <a:solidFill>
                <a:schemeClr val="dk1"/>
              </a:solidFill>
              <a:latin typeface="Calibri"/>
              <a:ea typeface="Calibri"/>
              <a:cs typeface="Calibri"/>
              <a:sym typeface="Calibri"/>
            </a:endParaRPr>
          </a:p>
        </p:txBody>
      </p:sp>
      <p:sp>
        <p:nvSpPr>
          <p:cNvPr id="347" name="Google Shape;347;p10"/>
          <p:cNvSpPr txBox="1"/>
          <p:nvPr/>
        </p:nvSpPr>
        <p:spPr>
          <a:xfrm>
            <a:off x="987552" y="3465576"/>
            <a:ext cx="2828544" cy="4572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4F7FB"/>
              </a:buClr>
              <a:buSzPts val="1000"/>
              <a:buFont typeface="Calibri"/>
              <a:buNone/>
            </a:pPr>
            <a:r>
              <a:rPr lang="en-US" sz="1000" b="0" i="0" u="none" strike="noStrike" cap="none" dirty="0">
                <a:solidFill>
                  <a:srgbClr val="F4F7FB"/>
                </a:solidFill>
                <a:latin typeface="Calibri"/>
                <a:ea typeface="Calibri"/>
                <a:cs typeface="Calibri"/>
                <a:sym typeface="Calibri"/>
              </a:rPr>
              <a:t>804 TCP/53480 records</a:t>
            </a:r>
            <a:endParaRPr sz="1000" b="0" i="0" u="none" strike="noStrike" cap="none" dirty="0">
              <a:solidFill>
                <a:schemeClr val="dk1"/>
              </a:solidFill>
              <a:latin typeface="Calibri"/>
              <a:ea typeface="Calibri"/>
              <a:cs typeface="Calibri"/>
              <a:sym typeface="Calibri"/>
            </a:endParaRPr>
          </a:p>
        </p:txBody>
      </p:sp>
      <p:sp>
        <p:nvSpPr>
          <p:cNvPr id="348" name="Google Shape;348;p10"/>
          <p:cNvSpPr txBox="1"/>
          <p:nvPr/>
        </p:nvSpPr>
        <p:spPr>
          <a:xfrm>
            <a:off x="758952" y="4114800"/>
            <a:ext cx="1828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700"/>
              <a:buFont typeface="Calibri"/>
              <a:buNone/>
            </a:pPr>
            <a:r>
              <a:rPr lang="en-US" sz="700" b="0" i="0" u="none" strike="noStrike" cap="none" dirty="0">
                <a:solidFill>
                  <a:srgbClr val="35C6F4"/>
                </a:solidFill>
                <a:latin typeface="Calibri"/>
                <a:ea typeface="Calibri"/>
                <a:cs typeface="Calibri"/>
                <a:sym typeface="Calibri"/>
              </a:rPr>
              <a:t>●</a:t>
            </a:r>
            <a:endParaRPr sz="700" b="0" i="0" u="none" strike="noStrike" cap="none" dirty="0">
              <a:solidFill>
                <a:schemeClr val="dk1"/>
              </a:solidFill>
              <a:latin typeface="Calibri"/>
              <a:ea typeface="Calibri"/>
              <a:cs typeface="Calibri"/>
              <a:sym typeface="Calibri"/>
            </a:endParaRPr>
          </a:p>
        </p:txBody>
      </p:sp>
      <p:sp>
        <p:nvSpPr>
          <p:cNvPr id="349" name="Google Shape;349;p10"/>
          <p:cNvSpPr txBox="1"/>
          <p:nvPr/>
        </p:nvSpPr>
        <p:spPr>
          <a:xfrm>
            <a:off x="987552" y="3968496"/>
            <a:ext cx="2828544" cy="4572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4F7FB"/>
              </a:buClr>
              <a:buSzPts val="1000"/>
              <a:buFont typeface="Calibri"/>
              <a:buNone/>
            </a:pPr>
            <a:r>
              <a:rPr lang="en-US" sz="1000" b="0" i="0" u="none" strike="noStrike" cap="none">
                <a:solidFill>
                  <a:srgbClr val="F4F7FB"/>
                </a:solidFill>
                <a:latin typeface="Calibri"/>
                <a:ea typeface="Calibri"/>
                <a:cs typeface="Calibri"/>
                <a:sym typeface="Calibri"/>
              </a:rPr>
              <a:t>112 DNS records</a:t>
            </a:r>
            <a:endParaRPr sz="1000" b="0" i="0" u="none" strike="noStrike" cap="none">
              <a:solidFill>
                <a:schemeClr val="dk1"/>
              </a:solidFill>
              <a:latin typeface="Calibri"/>
              <a:ea typeface="Calibri"/>
              <a:cs typeface="Calibri"/>
              <a:sym typeface="Calibri"/>
            </a:endParaRPr>
          </a:p>
        </p:txBody>
      </p:sp>
      <p:sp>
        <p:nvSpPr>
          <p:cNvPr id="350" name="Google Shape;350;p10"/>
          <p:cNvSpPr txBox="1"/>
          <p:nvPr/>
        </p:nvSpPr>
        <p:spPr>
          <a:xfrm>
            <a:off x="765986" y="4604004"/>
            <a:ext cx="1828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700"/>
              <a:buFont typeface="Calibri"/>
              <a:buNone/>
            </a:pPr>
            <a:r>
              <a:rPr lang="en-US" sz="700" b="0" i="0" u="none" strike="noStrike" cap="none">
                <a:solidFill>
                  <a:srgbClr val="35C6F4"/>
                </a:solidFill>
                <a:latin typeface="Calibri"/>
                <a:ea typeface="Calibri"/>
                <a:cs typeface="Calibri"/>
                <a:sym typeface="Calibri"/>
              </a:rPr>
              <a:t>●</a:t>
            </a:r>
            <a:endParaRPr sz="700" b="0" i="0" u="none" strike="noStrike" cap="none">
              <a:solidFill>
                <a:schemeClr val="dk1"/>
              </a:solidFill>
              <a:latin typeface="Calibri"/>
              <a:ea typeface="Calibri"/>
              <a:cs typeface="Calibri"/>
              <a:sym typeface="Calibri"/>
            </a:endParaRPr>
          </a:p>
        </p:txBody>
      </p:sp>
      <p:sp>
        <p:nvSpPr>
          <p:cNvPr id="351" name="Google Shape;351;p10"/>
          <p:cNvSpPr txBox="1"/>
          <p:nvPr/>
        </p:nvSpPr>
        <p:spPr>
          <a:xfrm>
            <a:off x="987552" y="4471416"/>
            <a:ext cx="2828544" cy="4572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4F7FB"/>
              </a:buClr>
              <a:buSzPts val="1000"/>
              <a:buFont typeface="Calibri"/>
              <a:buNone/>
            </a:pPr>
            <a:r>
              <a:rPr lang="en-US" sz="1000" b="0" i="0" u="none" strike="noStrike" cap="none">
                <a:solidFill>
                  <a:srgbClr val="F4F7FB"/>
                </a:solidFill>
                <a:latin typeface="Calibri"/>
                <a:ea typeface="Calibri"/>
                <a:cs typeface="Calibri"/>
                <a:sym typeface="Calibri"/>
              </a:rPr>
              <a:t>4 frame-size outliers</a:t>
            </a:r>
            <a:endParaRPr sz="1000" b="0" i="0" u="none" strike="noStrike" cap="none">
              <a:solidFill>
                <a:schemeClr val="dk1"/>
              </a:solidFill>
              <a:latin typeface="Calibri"/>
              <a:ea typeface="Calibri"/>
              <a:cs typeface="Calibri"/>
              <a:sym typeface="Calibri"/>
            </a:endParaRPr>
          </a:p>
        </p:txBody>
      </p:sp>
      <p:sp>
        <p:nvSpPr>
          <p:cNvPr id="352" name="Google Shape;352;p10"/>
          <p:cNvSpPr txBox="1"/>
          <p:nvPr/>
        </p:nvSpPr>
        <p:spPr>
          <a:xfrm>
            <a:off x="777240" y="5010912"/>
            <a:ext cx="1828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5C6F4"/>
              </a:buClr>
              <a:buSzPts val="700"/>
              <a:buFont typeface="Calibri"/>
              <a:buNone/>
            </a:pPr>
            <a:r>
              <a:rPr lang="en-US" sz="700" b="0" i="0" u="none" strike="noStrike" cap="none">
                <a:solidFill>
                  <a:srgbClr val="35C6F4"/>
                </a:solidFill>
                <a:latin typeface="Calibri"/>
                <a:ea typeface="Calibri"/>
                <a:cs typeface="Calibri"/>
                <a:sym typeface="Calibri"/>
              </a:rPr>
              <a:t>●</a:t>
            </a:r>
            <a:endParaRPr sz="700" b="0" i="0" u="none" strike="noStrike" cap="none">
              <a:solidFill>
                <a:schemeClr val="dk1"/>
              </a:solidFill>
              <a:latin typeface="Calibri"/>
              <a:ea typeface="Calibri"/>
              <a:cs typeface="Calibri"/>
              <a:sym typeface="Calibri"/>
            </a:endParaRPr>
          </a:p>
        </p:txBody>
      </p:sp>
      <p:sp>
        <p:nvSpPr>
          <p:cNvPr id="353" name="Google Shape;353;p10"/>
          <p:cNvSpPr txBox="1"/>
          <p:nvPr/>
        </p:nvSpPr>
        <p:spPr>
          <a:xfrm>
            <a:off x="987552" y="4974336"/>
            <a:ext cx="2828544" cy="4572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4F7FB"/>
              </a:buClr>
              <a:buSzPts val="1000"/>
              <a:buFont typeface="Calibri"/>
              <a:buNone/>
            </a:pPr>
            <a:r>
              <a:rPr lang="en-US" sz="1000" b="0" i="0" u="none" strike="noStrike" cap="none">
                <a:solidFill>
                  <a:srgbClr val="F4F7FB"/>
                </a:solidFill>
                <a:latin typeface="Calibri"/>
                <a:ea typeface="Calibri"/>
                <a:cs typeface="Calibri"/>
                <a:sym typeface="Calibri"/>
              </a:rPr>
              <a:t>2,097-record peak</a:t>
            </a:r>
            <a:endParaRPr sz="1000" b="0" i="0" u="none" strike="noStrike" cap="none">
              <a:solidFill>
                <a:schemeClr val="dk1"/>
              </a:solidFill>
              <a:latin typeface="Calibri"/>
              <a:ea typeface="Calibri"/>
              <a:cs typeface="Calibri"/>
              <a:sym typeface="Calibri"/>
            </a:endParaRPr>
          </a:p>
          <a:p>
            <a:pPr marL="0" marR="0" lvl="0" indent="0" algn="l" rtl="0">
              <a:lnSpc>
                <a:spcPct val="120000"/>
              </a:lnSpc>
              <a:spcBef>
                <a:spcPts val="0"/>
              </a:spcBef>
              <a:spcAft>
                <a:spcPts val="0"/>
              </a:spcAft>
              <a:buClr>
                <a:srgbClr val="F4F7FB"/>
              </a:buClr>
              <a:buSzPts val="1000"/>
              <a:buFont typeface="Calibri"/>
              <a:buNone/>
            </a:pPr>
            <a:r>
              <a:rPr lang="en-US" sz="1000" b="0" i="0" u="none" strike="noStrike" cap="none">
                <a:solidFill>
                  <a:srgbClr val="F4F7FB"/>
                </a:solidFill>
                <a:latin typeface="Calibri"/>
                <a:ea typeface="Calibri"/>
                <a:cs typeface="Calibri"/>
                <a:sym typeface="Calibri"/>
              </a:rPr>
              <a:t>(01:59–02:00)</a:t>
            </a:r>
            <a:endParaRPr sz="1000" b="0" i="0" u="none" strike="noStrike" cap="none">
              <a:solidFill>
                <a:schemeClr val="dk1"/>
              </a:solidFill>
              <a:latin typeface="Calibri"/>
              <a:ea typeface="Calibri"/>
              <a:cs typeface="Calibri"/>
              <a:sym typeface="Calibri"/>
            </a:endParaRPr>
          </a:p>
        </p:txBody>
      </p:sp>
      <p:sp>
        <p:nvSpPr>
          <p:cNvPr id="354" name="Google Shape;354;p10"/>
          <p:cNvSpPr/>
          <p:nvPr/>
        </p:nvSpPr>
        <p:spPr>
          <a:xfrm>
            <a:off x="4337304" y="1965960"/>
            <a:ext cx="3514344" cy="3611880"/>
          </a:xfrm>
          <a:prstGeom prst="roundRect">
            <a:avLst>
              <a:gd name="adj" fmla="val 2342"/>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0"/>
          <p:cNvSpPr txBox="1"/>
          <p:nvPr/>
        </p:nvSpPr>
        <p:spPr>
          <a:xfrm>
            <a:off x="4565904" y="2130552"/>
            <a:ext cx="3057144"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515A"/>
              </a:buClr>
              <a:buSzPts val="1200"/>
              <a:buFont typeface="Calibri"/>
              <a:buNone/>
            </a:pPr>
            <a:r>
              <a:rPr lang="en-US" sz="1200" b="1" i="0" u="none" strike="noStrike" cap="none">
                <a:solidFill>
                  <a:srgbClr val="E8515A"/>
                </a:solidFill>
                <a:latin typeface="Calibri"/>
                <a:ea typeface="Calibri"/>
                <a:cs typeface="Calibri"/>
                <a:sym typeface="Calibri"/>
              </a:rPr>
              <a:t>NOT ESTABLISHED</a:t>
            </a:r>
            <a:endParaRPr sz="1200" b="0" i="0" u="none" strike="noStrike" cap="none">
              <a:solidFill>
                <a:schemeClr val="dk1"/>
              </a:solidFill>
              <a:latin typeface="Calibri"/>
              <a:ea typeface="Calibri"/>
              <a:cs typeface="Calibri"/>
              <a:sym typeface="Calibri"/>
            </a:endParaRPr>
          </a:p>
        </p:txBody>
      </p:sp>
      <p:sp>
        <p:nvSpPr>
          <p:cNvPr id="356" name="Google Shape;356;p10"/>
          <p:cNvSpPr txBox="1"/>
          <p:nvPr/>
        </p:nvSpPr>
        <p:spPr>
          <a:xfrm>
            <a:off x="4565904" y="2404872"/>
            <a:ext cx="3057144"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E"/>
              </a:buClr>
              <a:buSzPts val="900"/>
              <a:buFont typeface="Calibri"/>
              <a:buNone/>
            </a:pPr>
            <a:r>
              <a:rPr lang="en-US" sz="900" b="0" i="1" u="none" strike="noStrike" cap="none">
                <a:solidFill>
                  <a:srgbClr val="94A3BE"/>
                </a:solidFill>
                <a:latin typeface="Calibri"/>
                <a:ea typeface="Calibri"/>
                <a:cs typeface="Calibri"/>
                <a:sym typeface="Calibri"/>
              </a:rPr>
              <a:t>From available packet metadata:</a:t>
            </a:r>
            <a:endParaRPr sz="900" b="0" i="0" u="none" strike="noStrike" cap="none">
              <a:solidFill>
                <a:schemeClr val="dk1"/>
              </a:solidFill>
              <a:latin typeface="Calibri"/>
              <a:ea typeface="Calibri"/>
              <a:cs typeface="Calibri"/>
              <a:sym typeface="Calibri"/>
            </a:endParaRPr>
          </a:p>
        </p:txBody>
      </p:sp>
      <p:sp>
        <p:nvSpPr>
          <p:cNvPr id="357" name="Google Shape;357;p10"/>
          <p:cNvSpPr txBox="1"/>
          <p:nvPr/>
        </p:nvSpPr>
        <p:spPr>
          <a:xfrm>
            <a:off x="4565904" y="2715768"/>
            <a:ext cx="2194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515A"/>
              </a:buClr>
              <a:buSzPts val="1050"/>
              <a:buFont typeface="Calibri"/>
              <a:buNone/>
            </a:pPr>
            <a:r>
              <a:rPr lang="en-US" sz="1050" b="1" i="0" u="none" strike="noStrike" cap="none">
                <a:solidFill>
                  <a:srgbClr val="E8515A"/>
                </a:solidFill>
                <a:latin typeface="Calibri"/>
                <a:ea typeface="Calibri"/>
                <a:cs typeface="Calibri"/>
                <a:sym typeface="Calibri"/>
              </a:rPr>
              <a:t>✕</a:t>
            </a:r>
            <a:endParaRPr sz="1050" b="0" i="0" u="none" strike="noStrike" cap="none">
              <a:solidFill>
                <a:schemeClr val="dk1"/>
              </a:solidFill>
              <a:latin typeface="Calibri"/>
              <a:ea typeface="Calibri"/>
              <a:cs typeface="Calibri"/>
              <a:sym typeface="Calibri"/>
            </a:endParaRPr>
          </a:p>
        </p:txBody>
      </p:sp>
      <p:sp>
        <p:nvSpPr>
          <p:cNvPr id="358" name="Google Shape;358;p10"/>
          <p:cNvSpPr txBox="1"/>
          <p:nvPr/>
        </p:nvSpPr>
        <p:spPr>
          <a:xfrm>
            <a:off x="4812792" y="2715768"/>
            <a:ext cx="2782824"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050"/>
              <a:buFont typeface="Calibri"/>
              <a:buNone/>
            </a:pPr>
            <a:r>
              <a:rPr lang="en-US" sz="1050" b="0" i="0" u="none" strike="noStrike" cap="none">
                <a:solidFill>
                  <a:srgbClr val="F4F7FB"/>
                </a:solidFill>
                <a:latin typeface="Calibri"/>
                <a:ea typeface="Calibri"/>
                <a:cs typeface="Calibri"/>
                <a:sym typeface="Calibri"/>
              </a:rPr>
              <a:t>Malware</a:t>
            </a:r>
            <a:endParaRPr sz="1050" b="0" i="0" u="none" strike="noStrike" cap="none">
              <a:solidFill>
                <a:schemeClr val="dk1"/>
              </a:solidFill>
              <a:latin typeface="Calibri"/>
              <a:ea typeface="Calibri"/>
              <a:cs typeface="Calibri"/>
              <a:sym typeface="Calibri"/>
            </a:endParaRPr>
          </a:p>
        </p:txBody>
      </p:sp>
      <p:sp>
        <p:nvSpPr>
          <p:cNvPr id="359" name="Google Shape;359;p10"/>
          <p:cNvSpPr txBox="1"/>
          <p:nvPr/>
        </p:nvSpPr>
        <p:spPr>
          <a:xfrm>
            <a:off x="4565904" y="3099816"/>
            <a:ext cx="2194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515A"/>
              </a:buClr>
              <a:buSzPts val="1050"/>
              <a:buFont typeface="Calibri"/>
              <a:buNone/>
            </a:pPr>
            <a:r>
              <a:rPr lang="en-US" sz="1050" b="1" i="0" u="none" strike="noStrike" cap="none">
                <a:solidFill>
                  <a:srgbClr val="E8515A"/>
                </a:solidFill>
                <a:latin typeface="Calibri"/>
                <a:ea typeface="Calibri"/>
                <a:cs typeface="Calibri"/>
                <a:sym typeface="Calibri"/>
              </a:rPr>
              <a:t>✕</a:t>
            </a:r>
            <a:endParaRPr sz="1050" b="0" i="0" u="none" strike="noStrike" cap="none">
              <a:solidFill>
                <a:schemeClr val="dk1"/>
              </a:solidFill>
              <a:latin typeface="Calibri"/>
              <a:ea typeface="Calibri"/>
              <a:cs typeface="Calibri"/>
              <a:sym typeface="Calibri"/>
            </a:endParaRPr>
          </a:p>
        </p:txBody>
      </p:sp>
      <p:sp>
        <p:nvSpPr>
          <p:cNvPr id="360" name="Google Shape;360;p10"/>
          <p:cNvSpPr txBox="1"/>
          <p:nvPr/>
        </p:nvSpPr>
        <p:spPr>
          <a:xfrm>
            <a:off x="4812792" y="3099816"/>
            <a:ext cx="2782824"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050"/>
              <a:buFont typeface="Calibri"/>
              <a:buNone/>
            </a:pPr>
            <a:r>
              <a:rPr lang="en-US" sz="1050" b="0" i="0" u="none" strike="noStrike" cap="none">
                <a:solidFill>
                  <a:srgbClr val="F4F7FB"/>
                </a:solidFill>
                <a:latin typeface="Calibri"/>
                <a:ea typeface="Calibri"/>
                <a:cs typeface="Calibri"/>
                <a:sym typeface="Calibri"/>
              </a:rPr>
              <a:t>C2 communication</a:t>
            </a:r>
            <a:endParaRPr sz="1050" b="0" i="0" u="none" strike="noStrike" cap="none">
              <a:solidFill>
                <a:schemeClr val="dk1"/>
              </a:solidFill>
              <a:latin typeface="Calibri"/>
              <a:ea typeface="Calibri"/>
              <a:cs typeface="Calibri"/>
              <a:sym typeface="Calibri"/>
            </a:endParaRPr>
          </a:p>
        </p:txBody>
      </p:sp>
      <p:sp>
        <p:nvSpPr>
          <p:cNvPr id="361" name="Google Shape;361;p10"/>
          <p:cNvSpPr txBox="1"/>
          <p:nvPr/>
        </p:nvSpPr>
        <p:spPr>
          <a:xfrm>
            <a:off x="4565904" y="3483864"/>
            <a:ext cx="2194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515A"/>
              </a:buClr>
              <a:buSzPts val="1050"/>
              <a:buFont typeface="Calibri"/>
              <a:buNone/>
            </a:pPr>
            <a:r>
              <a:rPr lang="en-US" sz="1050" b="1" i="0" u="none" strike="noStrike" cap="none">
                <a:solidFill>
                  <a:srgbClr val="E8515A"/>
                </a:solidFill>
                <a:latin typeface="Calibri"/>
                <a:ea typeface="Calibri"/>
                <a:cs typeface="Calibri"/>
                <a:sym typeface="Calibri"/>
              </a:rPr>
              <a:t>✕</a:t>
            </a:r>
            <a:endParaRPr sz="1050" b="0" i="0" u="none" strike="noStrike" cap="none">
              <a:solidFill>
                <a:schemeClr val="dk1"/>
              </a:solidFill>
              <a:latin typeface="Calibri"/>
              <a:ea typeface="Calibri"/>
              <a:cs typeface="Calibri"/>
              <a:sym typeface="Calibri"/>
            </a:endParaRPr>
          </a:p>
        </p:txBody>
      </p:sp>
      <p:sp>
        <p:nvSpPr>
          <p:cNvPr id="362" name="Google Shape;362;p10"/>
          <p:cNvSpPr txBox="1"/>
          <p:nvPr/>
        </p:nvSpPr>
        <p:spPr>
          <a:xfrm>
            <a:off x="4812792" y="3483864"/>
            <a:ext cx="2782824"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050"/>
              <a:buFont typeface="Calibri"/>
              <a:buNone/>
            </a:pPr>
            <a:r>
              <a:rPr lang="en-US" sz="1050" b="0" i="0" u="none" strike="noStrike" cap="none">
                <a:solidFill>
                  <a:srgbClr val="F4F7FB"/>
                </a:solidFill>
                <a:latin typeface="Calibri"/>
                <a:ea typeface="Calibri"/>
                <a:cs typeface="Calibri"/>
                <a:sym typeface="Calibri"/>
              </a:rPr>
              <a:t>Data exfiltration</a:t>
            </a:r>
            <a:endParaRPr sz="1050" b="0" i="0" u="none" strike="noStrike" cap="none">
              <a:solidFill>
                <a:schemeClr val="dk1"/>
              </a:solidFill>
              <a:latin typeface="Calibri"/>
              <a:ea typeface="Calibri"/>
              <a:cs typeface="Calibri"/>
              <a:sym typeface="Calibri"/>
            </a:endParaRPr>
          </a:p>
        </p:txBody>
      </p:sp>
      <p:sp>
        <p:nvSpPr>
          <p:cNvPr id="363" name="Google Shape;363;p10"/>
          <p:cNvSpPr txBox="1"/>
          <p:nvPr/>
        </p:nvSpPr>
        <p:spPr>
          <a:xfrm>
            <a:off x="4565904" y="3867912"/>
            <a:ext cx="2194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515A"/>
              </a:buClr>
              <a:buSzPts val="1050"/>
              <a:buFont typeface="Calibri"/>
              <a:buNone/>
            </a:pPr>
            <a:r>
              <a:rPr lang="en-US" sz="1050" b="1" i="0" u="none" strike="noStrike" cap="none">
                <a:solidFill>
                  <a:srgbClr val="E8515A"/>
                </a:solidFill>
                <a:latin typeface="Calibri"/>
                <a:ea typeface="Calibri"/>
                <a:cs typeface="Calibri"/>
                <a:sym typeface="Calibri"/>
              </a:rPr>
              <a:t>✕</a:t>
            </a:r>
            <a:endParaRPr sz="1050" b="0" i="0" u="none" strike="noStrike" cap="none">
              <a:solidFill>
                <a:schemeClr val="dk1"/>
              </a:solidFill>
              <a:latin typeface="Calibri"/>
              <a:ea typeface="Calibri"/>
              <a:cs typeface="Calibri"/>
              <a:sym typeface="Calibri"/>
            </a:endParaRPr>
          </a:p>
        </p:txBody>
      </p:sp>
      <p:sp>
        <p:nvSpPr>
          <p:cNvPr id="364" name="Google Shape;364;p10"/>
          <p:cNvSpPr txBox="1"/>
          <p:nvPr/>
        </p:nvSpPr>
        <p:spPr>
          <a:xfrm>
            <a:off x="4812792" y="3867912"/>
            <a:ext cx="2782824"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050"/>
              <a:buFont typeface="Calibri"/>
              <a:buNone/>
            </a:pPr>
            <a:r>
              <a:rPr lang="en-US" sz="1050" b="0" i="0" u="none" strike="noStrike" cap="none">
                <a:solidFill>
                  <a:srgbClr val="F4F7FB"/>
                </a:solidFill>
                <a:latin typeface="Calibri"/>
                <a:ea typeface="Calibri"/>
                <a:cs typeface="Calibri"/>
                <a:sym typeface="Calibri"/>
              </a:rPr>
              <a:t>DNS tunnelling</a:t>
            </a:r>
            <a:endParaRPr sz="1050" b="0" i="0" u="none" strike="noStrike" cap="none">
              <a:solidFill>
                <a:schemeClr val="dk1"/>
              </a:solidFill>
              <a:latin typeface="Calibri"/>
              <a:ea typeface="Calibri"/>
              <a:cs typeface="Calibri"/>
              <a:sym typeface="Calibri"/>
            </a:endParaRPr>
          </a:p>
        </p:txBody>
      </p:sp>
      <p:sp>
        <p:nvSpPr>
          <p:cNvPr id="365" name="Google Shape;365;p10"/>
          <p:cNvSpPr txBox="1"/>
          <p:nvPr/>
        </p:nvSpPr>
        <p:spPr>
          <a:xfrm>
            <a:off x="4565904" y="4251960"/>
            <a:ext cx="2194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515A"/>
              </a:buClr>
              <a:buSzPts val="1050"/>
              <a:buFont typeface="Calibri"/>
              <a:buNone/>
            </a:pPr>
            <a:r>
              <a:rPr lang="en-US" sz="1050" b="1" i="0" u="none" strike="noStrike" cap="none">
                <a:solidFill>
                  <a:srgbClr val="E8515A"/>
                </a:solidFill>
                <a:latin typeface="Calibri"/>
                <a:ea typeface="Calibri"/>
                <a:cs typeface="Calibri"/>
                <a:sym typeface="Calibri"/>
              </a:rPr>
              <a:t>✕</a:t>
            </a:r>
            <a:endParaRPr sz="1050" b="0" i="0" u="none" strike="noStrike" cap="none">
              <a:solidFill>
                <a:schemeClr val="dk1"/>
              </a:solidFill>
              <a:latin typeface="Calibri"/>
              <a:ea typeface="Calibri"/>
              <a:cs typeface="Calibri"/>
              <a:sym typeface="Calibri"/>
            </a:endParaRPr>
          </a:p>
        </p:txBody>
      </p:sp>
      <p:sp>
        <p:nvSpPr>
          <p:cNvPr id="366" name="Google Shape;366;p10"/>
          <p:cNvSpPr txBox="1"/>
          <p:nvPr/>
        </p:nvSpPr>
        <p:spPr>
          <a:xfrm>
            <a:off x="4812792" y="4251960"/>
            <a:ext cx="2782824"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050"/>
              <a:buFont typeface="Calibri"/>
              <a:buNone/>
            </a:pPr>
            <a:r>
              <a:rPr lang="en-US" sz="1050" b="0" i="0" u="none" strike="noStrike" cap="none">
                <a:solidFill>
                  <a:srgbClr val="F4F7FB"/>
                </a:solidFill>
                <a:latin typeface="Calibri"/>
                <a:ea typeface="Calibri"/>
                <a:cs typeface="Calibri"/>
                <a:sym typeface="Calibri"/>
              </a:rPr>
              <a:t>Attacker identity</a:t>
            </a:r>
            <a:endParaRPr sz="1050" b="0" i="0" u="none" strike="noStrike" cap="none">
              <a:solidFill>
                <a:schemeClr val="dk1"/>
              </a:solidFill>
              <a:latin typeface="Calibri"/>
              <a:ea typeface="Calibri"/>
              <a:cs typeface="Calibri"/>
              <a:sym typeface="Calibri"/>
            </a:endParaRPr>
          </a:p>
        </p:txBody>
      </p:sp>
      <p:sp>
        <p:nvSpPr>
          <p:cNvPr id="367" name="Google Shape;367;p10"/>
          <p:cNvSpPr txBox="1"/>
          <p:nvPr/>
        </p:nvSpPr>
        <p:spPr>
          <a:xfrm>
            <a:off x="4565904" y="4636008"/>
            <a:ext cx="2194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515A"/>
              </a:buClr>
              <a:buSzPts val="1050"/>
              <a:buFont typeface="Calibri"/>
              <a:buNone/>
            </a:pPr>
            <a:r>
              <a:rPr lang="en-US" sz="1050" b="1" i="0" u="none" strike="noStrike" cap="none">
                <a:solidFill>
                  <a:srgbClr val="E8515A"/>
                </a:solidFill>
                <a:latin typeface="Calibri"/>
                <a:ea typeface="Calibri"/>
                <a:cs typeface="Calibri"/>
                <a:sym typeface="Calibri"/>
              </a:rPr>
              <a:t>✕</a:t>
            </a:r>
            <a:endParaRPr sz="1050" b="0" i="0" u="none" strike="noStrike" cap="none">
              <a:solidFill>
                <a:schemeClr val="dk1"/>
              </a:solidFill>
              <a:latin typeface="Calibri"/>
              <a:ea typeface="Calibri"/>
              <a:cs typeface="Calibri"/>
              <a:sym typeface="Calibri"/>
            </a:endParaRPr>
          </a:p>
        </p:txBody>
      </p:sp>
      <p:sp>
        <p:nvSpPr>
          <p:cNvPr id="368" name="Google Shape;368;p10"/>
          <p:cNvSpPr txBox="1"/>
          <p:nvPr/>
        </p:nvSpPr>
        <p:spPr>
          <a:xfrm>
            <a:off x="4812792" y="4636008"/>
            <a:ext cx="2782824"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050"/>
              <a:buFont typeface="Calibri"/>
              <a:buNone/>
            </a:pPr>
            <a:r>
              <a:rPr lang="en-US" sz="1050" b="0" i="0" u="none" strike="noStrike" cap="none">
                <a:solidFill>
                  <a:srgbClr val="F4F7FB"/>
                </a:solidFill>
                <a:latin typeface="Calibri"/>
                <a:ea typeface="Calibri"/>
                <a:cs typeface="Calibri"/>
                <a:sym typeface="Calibri"/>
              </a:rPr>
              <a:t>Malicious intent</a:t>
            </a:r>
            <a:endParaRPr sz="1050" b="0" i="0" u="none" strike="noStrike" cap="none">
              <a:solidFill>
                <a:schemeClr val="dk1"/>
              </a:solidFill>
              <a:latin typeface="Calibri"/>
              <a:ea typeface="Calibri"/>
              <a:cs typeface="Calibri"/>
              <a:sym typeface="Calibri"/>
            </a:endParaRPr>
          </a:p>
        </p:txBody>
      </p:sp>
      <p:sp>
        <p:nvSpPr>
          <p:cNvPr id="369" name="Google Shape;369;p10"/>
          <p:cNvSpPr txBox="1"/>
          <p:nvPr/>
        </p:nvSpPr>
        <p:spPr>
          <a:xfrm>
            <a:off x="4565904" y="5020056"/>
            <a:ext cx="2194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515A"/>
              </a:buClr>
              <a:buSzPts val="1050"/>
              <a:buFont typeface="Calibri"/>
              <a:buNone/>
            </a:pPr>
            <a:r>
              <a:rPr lang="en-US" sz="1050" b="1" i="0" u="none" strike="noStrike" cap="none">
                <a:solidFill>
                  <a:srgbClr val="E8515A"/>
                </a:solidFill>
                <a:latin typeface="Calibri"/>
                <a:ea typeface="Calibri"/>
                <a:cs typeface="Calibri"/>
                <a:sym typeface="Calibri"/>
              </a:rPr>
              <a:t>✕</a:t>
            </a:r>
            <a:endParaRPr sz="1050" b="0" i="0" u="none" strike="noStrike" cap="none">
              <a:solidFill>
                <a:schemeClr val="dk1"/>
              </a:solidFill>
              <a:latin typeface="Calibri"/>
              <a:ea typeface="Calibri"/>
              <a:cs typeface="Calibri"/>
              <a:sym typeface="Calibri"/>
            </a:endParaRPr>
          </a:p>
        </p:txBody>
      </p:sp>
      <p:sp>
        <p:nvSpPr>
          <p:cNvPr id="370" name="Google Shape;370;p10"/>
          <p:cNvSpPr txBox="1"/>
          <p:nvPr/>
        </p:nvSpPr>
        <p:spPr>
          <a:xfrm>
            <a:off x="4812792" y="5020056"/>
            <a:ext cx="2782824"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7FB"/>
              </a:buClr>
              <a:buSzPts val="1050"/>
              <a:buFont typeface="Calibri"/>
              <a:buNone/>
            </a:pPr>
            <a:r>
              <a:rPr lang="en-US" sz="1050" b="0" i="0" u="none" strike="noStrike" cap="none">
                <a:solidFill>
                  <a:srgbClr val="F4F7FB"/>
                </a:solidFill>
                <a:latin typeface="Calibri"/>
                <a:ea typeface="Calibri"/>
                <a:cs typeface="Calibri"/>
                <a:sym typeface="Calibri"/>
              </a:rPr>
              <a:t>Beaconing (not confirmed)</a:t>
            </a:r>
            <a:endParaRPr sz="1050" b="0" i="0" u="none" strike="noStrike" cap="none">
              <a:solidFill>
                <a:schemeClr val="dk1"/>
              </a:solidFill>
              <a:latin typeface="Calibri"/>
              <a:ea typeface="Calibri"/>
              <a:cs typeface="Calibri"/>
              <a:sym typeface="Calibri"/>
            </a:endParaRPr>
          </a:p>
        </p:txBody>
      </p:sp>
      <p:sp>
        <p:nvSpPr>
          <p:cNvPr id="371" name="Google Shape;371;p10"/>
          <p:cNvSpPr/>
          <p:nvPr/>
        </p:nvSpPr>
        <p:spPr>
          <a:xfrm>
            <a:off x="8125968" y="1965960"/>
            <a:ext cx="3514344" cy="3611880"/>
          </a:xfrm>
          <a:prstGeom prst="roundRect">
            <a:avLst>
              <a:gd name="adj" fmla="val 2342"/>
            </a:avLst>
          </a:prstGeom>
          <a:solidFill>
            <a:srgbClr val="121B2E"/>
          </a:solidFill>
          <a:ln w="12700" cap="flat" cmpd="sng">
            <a:solidFill>
              <a:srgbClr val="2232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0"/>
          <p:cNvSpPr txBox="1"/>
          <p:nvPr/>
        </p:nvSpPr>
        <p:spPr>
          <a:xfrm>
            <a:off x="8354568" y="2130552"/>
            <a:ext cx="3057144"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RECOMMENDED ACTIONS</a:t>
            </a:r>
            <a:endParaRPr sz="1200" b="0" i="0" u="none" strike="noStrike" cap="none">
              <a:solidFill>
                <a:schemeClr val="dk1"/>
              </a:solidFill>
              <a:latin typeface="Calibri"/>
              <a:ea typeface="Calibri"/>
              <a:cs typeface="Calibri"/>
              <a:sym typeface="Calibri"/>
            </a:endParaRPr>
          </a:p>
        </p:txBody>
      </p:sp>
      <p:sp>
        <p:nvSpPr>
          <p:cNvPr id="373" name="Google Shape;373;p10"/>
          <p:cNvSpPr txBox="1"/>
          <p:nvPr/>
        </p:nvSpPr>
        <p:spPr>
          <a:xfrm>
            <a:off x="8354568" y="2521458"/>
            <a:ext cx="2194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000"/>
              <a:buFont typeface="Calibri"/>
              <a:buNone/>
            </a:pPr>
            <a:r>
              <a:rPr lang="en-US" sz="1000" b="1" i="0" u="none" strike="noStrike" cap="none" dirty="0">
                <a:solidFill>
                  <a:srgbClr val="F5A623"/>
                </a:solidFill>
                <a:latin typeface="Calibri"/>
                <a:ea typeface="Calibri"/>
                <a:cs typeface="Calibri"/>
                <a:sym typeface="Calibri"/>
              </a:rPr>
              <a:t>1</a:t>
            </a:r>
            <a:endParaRPr sz="1000" b="0" i="0" u="none" strike="noStrike" cap="none" dirty="0">
              <a:solidFill>
                <a:schemeClr val="dk1"/>
              </a:solidFill>
              <a:latin typeface="Calibri"/>
              <a:ea typeface="Calibri"/>
              <a:cs typeface="Calibri"/>
              <a:sym typeface="Calibri"/>
            </a:endParaRPr>
          </a:p>
        </p:txBody>
      </p:sp>
      <p:sp>
        <p:nvSpPr>
          <p:cNvPr id="374" name="Google Shape;374;p10"/>
          <p:cNvSpPr txBox="1"/>
          <p:nvPr/>
        </p:nvSpPr>
        <p:spPr>
          <a:xfrm>
            <a:off x="8628888" y="2468880"/>
            <a:ext cx="2764536" cy="347472"/>
          </a:xfrm>
          <a:prstGeom prst="rect">
            <a:avLst/>
          </a:prstGeom>
          <a:noFill/>
          <a:ln>
            <a:noFill/>
          </a:ln>
        </p:spPr>
        <p:txBody>
          <a:bodyPr spcFirstLastPara="1" wrap="square" lIns="0" tIns="0" rIns="0" bIns="0" anchor="ctr" anchorCtr="0">
            <a:noAutofit/>
          </a:bodyPr>
          <a:lstStyle/>
          <a:p>
            <a:pPr marL="0" marR="0" lvl="0" indent="0" algn="l" rtl="0">
              <a:lnSpc>
                <a:spcPct val="117346"/>
              </a:lnSpc>
              <a:spcBef>
                <a:spcPts val="0"/>
              </a:spcBef>
              <a:spcAft>
                <a:spcPts val="0"/>
              </a:spcAft>
              <a:buClr>
                <a:srgbClr val="F4F7FB"/>
              </a:buClr>
              <a:buSzPts val="980"/>
              <a:buFont typeface="Calibri"/>
              <a:buNone/>
            </a:pPr>
            <a:r>
              <a:rPr lang="en-US" sz="980" b="0" i="0" u="none" strike="noStrike" cap="none">
                <a:solidFill>
                  <a:srgbClr val="F4F7FB"/>
                </a:solidFill>
                <a:latin typeface="Calibri"/>
                <a:ea typeface="Calibri"/>
                <a:cs typeface="Calibri"/>
                <a:sym typeface="Calibri"/>
              </a:rPr>
              <a:t>Prioritize 10.10.0.33</a:t>
            </a:r>
            <a:endParaRPr sz="980" b="0" i="0" u="none" strike="noStrike" cap="none">
              <a:solidFill>
                <a:schemeClr val="dk1"/>
              </a:solidFill>
              <a:latin typeface="Calibri"/>
              <a:ea typeface="Calibri"/>
              <a:cs typeface="Calibri"/>
              <a:sym typeface="Calibri"/>
            </a:endParaRPr>
          </a:p>
        </p:txBody>
      </p:sp>
      <p:sp>
        <p:nvSpPr>
          <p:cNvPr id="375" name="Google Shape;375;p10"/>
          <p:cNvSpPr txBox="1"/>
          <p:nvPr/>
        </p:nvSpPr>
        <p:spPr>
          <a:xfrm>
            <a:off x="8354568" y="2894076"/>
            <a:ext cx="2194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000"/>
              <a:buFont typeface="Calibri"/>
              <a:buNone/>
            </a:pPr>
            <a:r>
              <a:rPr lang="en-US" sz="1000" b="1" i="0" u="none" strike="noStrike" cap="none" dirty="0">
                <a:solidFill>
                  <a:srgbClr val="F5A623"/>
                </a:solidFill>
                <a:latin typeface="Calibri"/>
                <a:ea typeface="Calibri"/>
                <a:cs typeface="Calibri"/>
                <a:sym typeface="Calibri"/>
              </a:rPr>
              <a:t>2</a:t>
            </a:r>
            <a:endParaRPr sz="1000" b="0" i="0" u="none" strike="noStrike" cap="none" dirty="0">
              <a:solidFill>
                <a:schemeClr val="dk1"/>
              </a:solidFill>
              <a:latin typeface="Calibri"/>
              <a:ea typeface="Calibri"/>
              <a:cs typeface="Calibri"/>
              <a:sym typeface="Calibri"/>
            </a:endParaRPr>
          </a:p>
        </p:txBody>
      </p:sp>
      <p:sp>
        <p:nvSpPr>
          <p:cNvPr id="376" name="Google Shape;376;p10"/>
          <p:cNvSpPr txBox="1"/>
          <p:nvPr/>
        </p:nvSpPr>
        <p:spPr>
          <a:xfrm>
            <a:off x="8628888" y="2848356"/>
            <a:ext cx="2764536" cy="347472"/>
          </a:xfrm>
          <a:prstGeom prst="rect">
            <a:avLst/>
          </a:prstGeom>
          <a:noFill/>
          <a:ln>
            <a:noFill/>
          </a:ln>
        </p:spPr>
        <p:txBody>
          <a:bodyPr spcFirstLastPara="1" wrap="square" lIns="0" tIns="0" rIns="0" bIns="0" anchor="ctr" anchorCtr="0">
            <a:noAutofit/>
          </a:bodyPr>
          <a:lstStyle/>
          <a:p>
            <a:pPr marL="0" marR="0" lvl="0" indent="0" algn="l" rtl="0">
              <a:lnSpc>
                <a:spcPct val="117346"/>
              </a:lnSpc>
              <a:spcBef>
                <a:spcPts val="0"/>
              </a:spcBef>
              <a:spcAft>
                <a:spcPts val="0"/>
              </a:spcAft>
              <a:buClr>
                <a:srgbClr val="F4F7FB"/>
              </a:buClr>
              <a:buSzPts val="980"/>
              <a:buFont typeface="Calibri"/>
              <a:buNone/>
            </a:pPr>
            <a:r>
              <a:rPr lang="en-US" sz="980" b="0" i="0" u="none" strike="noStrike" cap="none">
                <a:solidFill>
                  <a:srgbClr val="F4F7FB"/>
                </a:solidFill>
                <a:latin typeface="Calibri"/>
                <a:ea typeface="Calibri"/>
                <a:cs typeface="Calibri"/>
                <a:sym typeface="Calibri"/>
              </a:rPr>
              <a:t>Validate 18.184.26.60 communication</a:t>
            </a:r>
            <a:endParaRPr sz="980" b="0" i="0" u="none" strike="noStrike" cap="none">
              <a:solidFill>
                <a:schemeClr val="dk1"/>
              </a:solidFill>
              <a:latin typeface="Calibri"/>
              <a:ea typeface="Calibri"/>
              <a:cs typeface="Calibri"/>
              <a:sym typeface="Calibri"/>
            </a:endParaRPr>
          </a:p>
        </p:txBody>
      </p:sp>
      <p:sp>
        <p:nvSpPr>
          <p:cNvPr id="377" name="Google Shape;377;p10"/>
          <p:cNvSpPr txBox="1"/>
          <p:nvPr/>
        </p:nvSpPr>
        <p:spPr>
          <a:xfrm>
            <a:off x="8354568" y="3268980"/>
            <a:ext cx="2194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000"/>
              <a:buFont typeface="Calibri"/>
              <a:buNone/>
            </a:pPr>
            <a:r>
              <a:rPr lang="en-US" sz="1000" b="1" i="0" u="none" strike="noStrike" cap="none" dirty="0">
                <a:solidFill>
                  <a:srgbClr val="F5A623"/>
                </a:solidFill>
                <a:latin typeface="Calibri"/>
                <a:ea typeface="Calibri"/>
                <a:cs typeface="Calibri"/>
                <a:sym typeface="Calibri"/>
              </a:rPr>
              <a:t>3</a:t>
            </a:r>
            <a:endParaRPr sz="1000" b="0" i="0" u="none" strike="noStrike" cap="none" dirty="0">
              <a:solidFill>
                <a:schemeClr val="dk1"/>
              </a:solidFill>
              <a:latin typeface="Calibri"/>
              <a:ea typeface="Calibri"/>
              <a:cs typeface="Calibri"/>
              <a:sym typeface="Calibri"/>
            </a:endParaRPr>
          </a:p>
        </p:txBody>
      </p:sp>
      <p:sp>
        <p:nvSpPr>
          <p:cNvPr id="378" name="Google Shape;378;p10"/>
          <p:cNvSpPr txBox="1"/>
          <p:nvPr/>
        </p:nvSpPr>
        <p:spPr>
          <a:xfrm>
            <a:off x="8628888" y="3227832"/>
            <a:ext cx="2764536" cy="347472"/>
          </a:xfrm>
          <a:prstGeom prst="rect">
            <a:avLst/>
          </a:prstGeom>
          <a:noFill/>
          <a:ln>
            <a:noFill/>
          </a:ln>
        </p:spPr>
        <p:txBody>
          <a:bodyPr spcFirstLastPara="1" wrap="square" lIns="0" tIns="0" rIns="0" bIns="0" anchor="ctr" anchorCtr="0">
            <a:noAutofit/>
          </a:bodyPr>
          <a:lstStyle/>
          <a:p>
            <a:pPr marL="0" marR="0" lvl="0" indent="0" algn="l" rtl="0">
              <a:lnSpc>
                <a:spcPct val="117346"/>
              </a:lnSpc>
              <a:spcBef>
                <a:spcPts val="0"/>
              </a:spcBef>
              <a:spcAft>
                <a:spcPts val="0"/>
              </a:spcAft>
              <a:buClr>
                <a:srgbClr val="F4F7FB"/>
              </a:buClr>
              <a:buSzPts val="980"/>
              <a:buFont typeface="Calibri"/>
              <a:buNone/>
            </a:pPr>
            <a:r>
              <a:rPr lang="en-US" sz="980" b="0" i="0" u="none" strike="noStrike" cap="none" dirty="0">
                <a:solidFill>
                  <a:srgbClr val="F4F7FB"/>
                </a:solidFill>
                <a:latin typeface="Calibri"/>
                <a:ea typeface="Calibri"/>
                <a:cs typeface="Calibri"/>
                <a:sym typeface="Calibri"/>
              </a:rPr>
              <a:t>Review endpoint processes/connections</a:t>
            </a:r>
            <a:endParaRPr sz="980" b="0" i="0" u="none" strike="noStrike" cap="none" dirty="0">
              <a:solidFill>
                <a:schemeClr val="dk1"/>
              </a:solidFill>
              <a:latin typeface="Calibri"/>
              <a:ea typeface="Calibri"/>
              <a:cs typeface="Calibri"/>
              <a:sym typeface="Calibri"/>
            </a:endParaRPr>
          </a:p>
        </p:txBody>
      </p:sp>
      <p:sp>
        <p:nvSpPr>
          <p:cNvPr id="379" name="Google Shape;379;p10"/>
          <p:cNvSpPr txBox="1"/>
          <p:nvPr/>
        </p:nvSpPr>
        <p:spPr>
          <a:xfrm>
            <a:off x="8354568" y="3651821"/>
            <a:ext cx="2194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000"/>
              <a:buFont typeface="Calibri"/>
              <a:buNone/>
            </a:pPr>
            <a:r>
              <a:rPr lang="en-US" sz="1000" b="1" i="0" u="none" strike="noStrike" cap="none" dirty="0">
                <a:solidFill>
                  <a:srgbClr val="F5A623"/>
                </a:solidFill>
                <a:latin typeface="Calibri"/>
                <a:ea typeface="Calibri"/>
                <a:cs typeface="Calibri"/>
                <a:sym typeface="Calibri"/>
              </a:rPr>
              <a:t>4</a:t>
            </a:r>
            <a:endParaRPr sz="1000" b="0" i="0" u="none" strike="noStrike" cap="none" dirty="0">
              <a:solidFill>
                <a:schemeClr val="dk1"/>
              </a:solidFill>
              <a:latin typeface="Calibri"/>
              <a:ea typeface="Calibri"/>
              <a:cs typeface="Calibri"/>
              <a:sym typeface="Calibri"/>
            </a:endParaRPr>
          </a:p>
        </p:txBody>
      </p:sp>
      <p:sp>
        <p:nvSpPr>
          <p:cNvPr id="380" name="Google Shape;380;p10"/>
          <p:cNvSpPr txBox="1"/>
          <p:nvPr/>
        </p:nvSpPr>
        <p:spPr>
          <a:xfrm>
            <a:off x="8628888" y="3607308"/>
            <a:ext cx="2764536" cy="347472"/>
          </a:xfrm>
          <a:prstGeom prst="rect">
            <a:avLst/>
          </a:prstGeom>
          <a:noFill/>
          <a:ln>
            <a:noFill/>
          </a:ln>
        </p:spPr>
        <p:txBody>
          <a:bodyPr spcFirstLastPara="1" wrap="square" lIns="0" tIns="0" rIns="0" bIns="0" anchor="ctr" anchorCtr="0">
            <a:noAutofit/>
          </a:bodyPr>
          <a:lstStyle/>
          <a:p>
            <a:pPr marL="0" marR="0" lvl="0" indent="0" algn="l" rtl="0">
              <a:lnSpc>
                <a:spcPct val="117346"/>
              </a:lnSpc>
              <a:spcBef>
                <a:spcPts val="0"/>
              </a:spcBef>
              <a:spcAft>
                <a:spcPts val="0"/>
              </a:spcAft>
              <a:buClr>
                <a:srgbClr val="F4F7FB"/>
              </a:buClr>
              <a:buSzPts val="980"/>
              <a:buFont typeface="Calibri"/>
              <a:buNone/>
            </a:pPr>
            <a:r>
              <a:rPr lang="en-US" sz="980" b="0" i="0" u="none" strike="noStrike" cap="none">
                <a:solidFill>
                  <a:srgbClr val="F4F7FB"/>
                </a:solidFill>
                <a:latin typeface="Calibri"/>
                <a:ea typeface="Calibri"/>
                <a:cs typeface="Calibri"/>
                <a:sym typeface="Calibri"/>
              </a:rPr>
              <a:t>Investigate DNS queries and domains</a:t>
            </a:r>
            <a:endParaRPr sz="980" b="0" i="0" u="none" strike="noStrike" cap="none">
              <a:solidFill>
                <a:schemeClr val="dk1"/>
              </a:solidFill>
              <a:latin typeface="Calibri"/>
              <a:ea typeface="Calibri"/>
              <a:cs typeface="Calibri"/>
              <a:sym typeface="Calibri"/>
            </a:endParaRPr>
          </a:p>
        </p:txBody>
      </p:sp>
      <p:sp>
        <p:nvSpPr>
          <p:cNvPr id="381" name="Google Shape;381;p10"/>
          <p:cNvSpPr txBox="1"/>
          <p:nvPr/>
        </p:nvSpPr>
        <p:spPr>
          <a:xfrm>
            <a:off x="8354568" y="4031297"/>
            <a:ext cx="2194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000"/>
              <a:buFont typeface="Calibri"/>
              <a:buNone/>
            </a:pPr>
            <a:r>
              <a:rPr lang="en-US" sz="1000" b="1" i="0" u="none" strike="noStrike" cap="none">
                <a:solidFill>
                  <a:srgbClr val="F5A623"/>
                </a:solidFill>
                <a:latin typeface="Calibri"/>
                <a:ea typeface="Calibri"/>
                <a:cs typeface="Calibri"/>
                <a:sym typeface="Calibri"/>
              </a:rPr>
              <a:t>5</a:t>
            </a:r>
            <a:endParaRPr sz="1000" b="0" i="0" u="none" strike="noStrike" cap="none">
              <a:solidFill>
                <a:schemeClr val="dk1"/>
              </a:solidFill>
              <a:latin typeface="Calibri"/>
              <a:ea typeface="Calibri"/>
              <a:cs typeface="Calibri"/>
              <a:sym typeface="Calibri"/>
            </a:endParaRPr>
          </a:p>
        </p:txBody>
      </p:sp>
      <p:sp>
        <p:nvSpPr>
          <p:cNvPr id="382" name="Google Shape;382;p10"/>
          <p:cNvSpPr txBox="1"/>
          <p:nvPr/>
        </p:nvSpPr>
        <p:spPr>
          <a:xfrm>
            <a:off x="8628888" y="3986784"/>
            <a:ext cx="2764536" cy="347472"/>
          </a:xfrm>
          <a:prstGeom prst="rect">
            <a:avLst/>
          </a:prstGeom>
          <a:noFill/>
          <a:ln>
            <a:noFill/>
          </a:ln>
        </p:spPr>
        <p:txBody>
          <a:bodyPr spcFirstLastPara="1" wrap="square" lIns="0" tIns="0" rIns="0" bIns="0" anchor="ctr" anchorCtr="0">
            <a:noAutofit/>
          </a:bodyPr>
          <a:lstStyle/>
          <a:p>
            <a:pPr marL="0" marR="0" lvl="0" indent="0" algn="l" rtl="0">
              <a:lnSpc>
                <a:spcPct val="117346"/>
              </a:lnSpc>
              <a:spcBef>
                <a:spcPts val="0"/>
              </a:spcBef>
              <a:spcAft>
                <a:spcPts val="0"/>
              </a:spcAft>
              <a:buClr>
                <a:srgbClr val="F4F7FB"/>
              </a:buClr>
              <a:buSzPts val="980"/>
              <a:buFont typeface="Calibri"/>
              <a:buNone/>
            </a:pPr>
            <a:r>
              <a:rPr lang="en-US" sz="980" b="0" i="0" u="none" strike="noStrike" cap="none" dirty="0">
                <a:solidFill>
                  <a:srgbClr val="F4F7FB"/>
                </a:solidFill>
                <a:latin typeface="Calibri"/>
                <a:ea typeface="Calibri"/>
                <a:cs typeface="Calibri"/>
                <a:sym typeface="Calibri"/>
              </a:rPr>
              <a:t>Correlate security/system logs</a:t>
            </a:r>
            <a:endParaRPr sz="980" b="0" i="0" u="none" strike="noStrike" cap="none" dirty="0">
              <a:solidFill>
                <a:schemeClr val="dk1"/>
              </a:solidFill>
              <a:latin typeface="Calibri"/>
              <a:ea typeface="Calibri"/>
              <a:cs typeface="Calibri"/>
              <a:sym typeface="Calibri"/>
            </a:endParaRPr>
          </a:p>
        </p:txBody>
      </p:sp>
      <p:sp>
        <p:nvSpPr>
          <p:cNvPr id="383" name="Google Shape;383;p10"/>
          <p:cNvSpPr txBox="1"/>
          <p:nvPr/>
        </p:nvSpPr>
        <p:spPr>
          <a:xfrm>
            <a:off x="8354568" y="4407408"/>
            <a:ext cx="2194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000"/>
              <a:buFont typeface="Calibri"/>
              <a:buNone/>
            </a:pPr>
            <a:r>
              <a:rPr lang="en-US" sz="1000" b="1" i="0" u="none" strike="noStrike" cap="none">
                <a:solidFill>
                  <a:srgbClr val="F5A623"/>
                </a:solidFill>
                <a:latin typeface="Calibri"/>
                <a:ea typeface="Calibri"/>
                <a:cs typeface="Calibri"/>
                <a:sym typeface="Calibri"/>
              </a:rPr>
              <a:t>6</a:t>
            </a:r>
            <a:endParaRPr sz="1000" b="0" i="0" u="none" strike="noStrike" cap="none">
              <a:solidFill>
                <a:schemeClr val="dk1"/>
              </a:solidFill>
              <a:latin typeface="Calibri"/>
              <a:ea typeface="Calibri"/>
              <a:cs typeface="Calibri"/>
              <a:sym typeface="Calibri"/>
            </a:endParaRPr>
          </a:p>
        </p:txBody>
      </p:sp>
      <p:sp>
        <p:nvSpPr>
          <p:cNvPr id="384" name="Google Shape;384;p10"/>
          <p:cNvSpPr txBox="1"/>
          <p:nvPr/>
        </p:nvSpPr>
        <p:spPr>
          <a:xfrm>
            <a:off x="8628888" y="4366260"/>
            <a:ext cx="2764536" cy="347472"/>
          </a:xfrm>
          <a:prstGeom prst="rect">
            <a:avLst/>
          </a:prstGeom>
          <a:noFill/>
          <a:ln>
            <a:noFill/>
          </a:ln>
        </p:spPr>
        <p:txBody>
          <a:bodyPr spcFirstLastPara="1" wrap="square" lIns="0" tIns="0" rIns="0" bIns="0" anchor="ctr" anchorCtr="0">
            <a:noAutofit/>
          </a:bodyPr>
          <a:lstStyle/>
          <a:p>
            <a:pPr marL="0" marR="0" lvl="0" indent="0" algn="l" rtl="0">
              <a:lnSpc>
                <a:spcPct val="117346"/>
              </a:lnSpc>
              <a:spcBef>
                <a:spcPts val="0"/>
              </a:spcBef>
              <a:spcAft>
                <a:spcPts val="0"/>
              </a:spcAft>
              <a:buClr>
                <a:srgbClr val="F4F7FB"/>
              </a:buClr>
              <a:buSzPts val="980"/>
              <a:buFont typeface="Calibri"/>
              <a:buNone/>
            </a:pPr>
            <a:r>
              <a:rPr lang="en-US" sz="980" b="0" i="0" u="none" strike="noStrike" cap="none">
                <a:solidFill>
                  <a:srgbClr val="F4F7FB"/>
                </a:solidFill>
                <a:latin typeface="Calibri"/>
                <a:ea typeface="Calibri"/>
                <a:cs typeface="Calibri"/>
                <a:sym typeface="Calibri"/>
              </a:rPr>
              <a:t>Use approved threat intelligence</a:t>
            </a:r>
            <a:endParaRPr sz="980" b="0" i="0" u="none" strike="noStrike" cap="none">
              <a:solidFill>
                <a:schemeClr val="dk1"/>
              </a:solidFill>
              <a:latin typeface="Calibri"/>
              <a:ea typeface="Calibri"/>
              <a:cs typeface="Calibri"/>
              <a:sym typeface="Calibri"/>
            </a:endParaRPr>
          </a:p>
        </p:txBody>
      </p:sp>
      <p:sp>
        <p:nvSpPr>
          <p:cNvPr id="385" name="Google Shape;385;p10"/>
          <p:cNvSpPr txBox="1"/>
          <p:nvPr/>
        </p:nvSpPr>
        <p:spPr>
          <a:xfrm>
            <a:off x="8354568" y="4788091"/>
            <a:ext cx="2194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000"/>
              <a:buFont typeface="Calibri"/>
              <a:buNone/>
            </a:pPr>
            <a:r>
              <a:rPr lang="en-US" sz="1000" b="1" i="0" u="none" strike="noStrike" cap="none">
                <a:solidFill>
                  <a:srgbClr val="F5A623"/>
                </a:solidFill>
                <a:latin typeface="Calibri"/>
                <a:ea typeface="Calibri"/>
                <a:cs typeface="Calibri"/>
                <a:sym typeface="Calibri"/>
              </a:rPr>
              <a:t>7</a:t>
            </a:r>
            <a:endParaRPr sz="1000" b="0" i="0" u="none" strike="noStrike" cap="none">
              <a:solidFill>
                <a:schemeClr val="dk1"/>
              </a:solidFill>
              <a:latin typeface="Calibri"/>
              <a:ea typeface="Calibri"/>
              <a:cs typeface="Calibri"/>
              <a:sym typeface="Calibri"/>
            </a:endParaRPr>
          </a:p>
        </p:txBody>
      </p:sp>
      <p:sp>
        <p:nvSpPr>
          <p:cNvPr id="386" name="Google Shape;386;p10"/>
          <p:cNvSpPr txBox="1"/>
          <p:nvPr/>
        </p:nvSpPr>
        <p:spPr>
          <a:xfrm>
            <a:off x="8628888" y="4745736"/>
            <a:ext cx="2764536" cy="347472"/>
          </a:xfrm>
          <a:prstGeom prst="rect">
            <a:avLst/>
          </a:prstGeom>
          <a:noFill/>
          <a:ln>
            <a:noFill/>
          </a:ln>
        </p:spPr>
        <p:txBody>
          <a:bodyPr spcFirstLastPara="1" wrap="square" lIns="0" tIns="0" rIns="0" bIns="0" anchor="ctr" anchorCtr="0">
            <a:noAutofit/>
          </a:bodyPr>
          <a:lstStyle/>
          <a:p>
            <a:pPr marL="0" marR="0" lvl="0" indent="0" algn="l" rtl="0">
              <a:lnSpc>
                <a:spcPct val="117346"/>
              </a:lnSpc>
              <a:spcBef>
                <a:spcPts val="0"/>
              </a:spcBef>
              <a:spcAft>
                <a:spcPts val="0"/>
              </a:spcAft>
              <a:buClr>
                <a:srgbClr val="F4F7FB"/>
              </a:buClr>
              <a:buSzPts val="980"/>
              <a:buFont typeface="Calibri"/>
              <a:buNone/>
            </a:pPr>
            <a:r>
              <a:rPr lang="en-US" sz="980" b="0" i="0" u="none" strike="noStrike" cap="none" dirty="0">
                <a:solidFill>
                  <a:srgbClr val="F4F7FB"/>
                </a:solidFill>
                <a:latin typeface="Calibri"/>
                <a:ea typeface="Calibri"/>
                <a:cs typeface="Calibri"/>
                <a:sym typeface="Calibri"/>
              </a:rPr>
              <a:t>Compare against known-good baseline</a:t>
            </a:r>
            <a:endParaRPr sz="980" b="0" i="0" u="none" strike="noStrike" cap="none" dirty="0">
              <a:solidFill>
                <a:schemeClr val="dk1"/>
              </a:solidFill>
              <a:latin typeface="Calibri"/>
              <a:ea typeface="Calibri"/>
              <a:cs typeface="Calibri"/>
              <a:sym typeface="Calibri"/>
            </a:endParaRPr>
          </a:p>
        </p:txBody>
      </p:sp>
      <p:sp>
        <p:nvSpPr>
          <p:cNvPr id="387" name="Google Shape;387;p10"/>
          <p:cNvSpPr txBox="1"/>
          <p:nvPr/>
        </p:nvSpPr>
        <p:spPr>
          <a:xfrm>
            <a:off x="8354568" y="5175504"/>
            <a:ext cx="21945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000"/>
              <a:buFont typeface="Calibri"/>
              <a:buNone/>
            </a:pPr>
            <a:r>
              <a:rPr lang="en-US" sz="1000" b="1" i="0" u="none" strike="noStrike" cap="none">
                <a:solidFill>
                  <a:srgbClr val="F5A623"/>
                </a:solidFill>
                <a:latin typeface="Calibri"/>
                <a:ea typeface="Calibri"/>
                <a:cs typeface="Calibri"/>
                <a:sym typeface="Calibri"/>
              </a:rPr>
              <a:t>8</a:t>
            </a:r>
            <a:endParaRPr sz="1000" b="0" i="0" u="none" strike="noStrike" cap="none">
              <a:solidFill>
                <a:schemeClr val="dk1"/>
              </a:solidFill>
              <a:latin typeface="Calibri"/>
              <a:ea typeface="Calibri"/>
              <a:cs typeface="Calibri"/>
              <a:sym typeface="Calibri"/>
            </a:endParaRPr>
          </a:p>
        </p:txBody>
      </p:sp>
      <p:sp>
        <p:nvSpPr>
          <p:cNvPr id="388" name="Google Shape;388;p10"/>
          <p:cNvSpPr txBox="1"/>
          <p:nvPr/>
        </p:nvSpPr>
        <p:spPr>
          <a:xfrm>
            <a:off x="8628888" y="5125212"/>
            <a:ext cx="2764536" cy="347472"/>
          </a:xfrm>
          <a:prstGeom prst="rect">
            <a:avLst/>
          </a:prstGeom>
          <a:noFill/>
          <a:ln>
            <a:noFill/>
          </a:ln>
        </p:spPr>
        <p:txBody>
          <a:bodyPr spcFirstLastPara="1" wrap="square" lIns="0" tIns="0" rIns="0" bIns="0" anchor="ctr" anchorCtr="0">
            <a:noAutofit/>
          </a:bodyPr>
          <a:lstStyle/>
          <a:p>
            <a:pPr marL="0" marR="0" lvl="0" indent="0" algn="l" rtl="0">
              <a:lnSpc>
                <a:spcPct val="117346"/>
              </a:lnSpc>
              <a:spcBef>
                <a:spcPts val="0"/>
              </a:spcBef>
              <a:spcAft>
                <a:spcPts val="0"/>
              </a:spcAft>
              <a:buClr>
                <a:srgbClr val="F4F7FB"/>
              </a:buClr>
              <a:buSzPts val="980"/>
              <a:buFont typeface="Calibri"/>
              <a:buNone/>
            </a:pPr>
            <a:r>
              <a:rPr lang="en-US" sz="980" b="0" i="0" u="none" strike="noStrike" cap="none">
                <a:solidFill>
                  <a:srgbClr val="F4F7FB"/>
                </a:solidFill>
                <a:latin typeface="Calibri"/>
                <a:ea typeface="Calibri"/>
                <a:cs typeface="Calibri"/>
                <a:sym typeface="Calibri"/>
              </a:rPr>
              <a:t>Continue heightened monitoring</a:t>
            </a:r>
            <a:endParaRPr sz="980" b="0" i="0" u="none" strike="noStrike" cap="none">
              <a:solidFill>
                <a:schemeClr val="dk1"/>
              </a:solidFill>
              <a:latin typeface="Calibri"/>
              <a:ea typeface="Calibri"/>
              <a:cs typeface="Calibri"/>
              <a:sym typeface="Calibri"/>
            </a:endParaRPr>
          </a:p>
        </p:txBody>
      </p:sp>
      <p:sp>
        <p:nvSpPr>
          <p:cNvPr id="389" name="Google Shape;389;p10"/>
          <p:cNvSpPr/>
          <p:nvPr/>
        </p:nvSpPr>
        <p:spPr>
          <a:xfrm>
            <a:off x="548640" y="5742432"/>
            <a:ext cx="9052560" cy="566928"/>
          </a:xfrm>
          <a:prstGeom prst="roundRect">
            <a:avLst>
              <a:gd name="adj" fmla="val 12903"/>
            </a:avLst>
          </a:prstGeom>
          <a:solidFill>
            <a:srgbClr val="0E1626"/>
          </a:solidFill>
          <a:ln w="9525" cap="flat" cmpd="sng">
            <a:solidFill>
              <a:srgbClr val="1A25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0"/>
          <p:cNvSpPr txBox="1"/>
          <p:nvPr/>
        </p:nvSpPr>
        <p:spPr>
          <a:xfrm>
            <a:off x="777240" y="5742432"/>
            <a:ext cx="8595360" cy="566928"/>
          </a:xfrm>
          <a:prstGeom prst="rect">
            <a:avLst/>
          </a:prstGeom>
          <a:noFill/>
          <a:ln>
            <a:noFill/>
          </a:ln>
        </p:spPr>
        <p:txBody>
          <a:bodyPr spcFirstLastPara="1" wrap="square" lIns="0" tIns="0" rIns="0" bIns="0" anchor="ctr" anchorCtr="0">
            <a:noAutofit/>
          </a:bodyPr>
          <a:lstStyle/>
          <a:p>
            <a:pPr marL="0" marR="0" lvl="0" indent="0" algn="l" rtl="0">
              <a:lnSpc>
                <a:spcPct val="118181"/>
              </a:lnSpc>
              <a:spcBef>
                <a:spcPts val="0"/>
              </a:spcBef>
              <a:spcAft>
                <a:spcPts val="0"/>
              </a:spcAft>
              <a:buClr>
                <a:srgbClr val="94A3BE"/>
              </a:buClr>
              <a:buSzPts val="1100"/>
              <a:buFont typeface="Calibri"/>
              <a:buNone/>
            </a:pPr>
            <a:r>
              <a:rPr lang="en-US" sz="1100" b="0" i="1" u="none" strike="noStrike" cap="none">
                <a:solidFill>
                  <a:srgbClr val="94A3BE"/>
                </a:solidFill>
                <a:latin typeface="Calibri"/>
                <a:ea typeface="Calibri"/>
                <a:cs typeface="Calibri"/>
                <a:sym typeface="Calibri"/>
              </a:rPr>
              <a:t>Investigation-relevant activity was identified, but confirmed compromise was not established from available packet metadata alone.</a:t>
            </a:r>
            <a:endParaRPr sz="1100" b="0" i="0" u="none" strike="noStrike" cap="none">
              <a:solidFill>
                <a:schemeClr val="dk1"/>
              </a:solidFill>
              <a:latin typeface="Calibri"/>
              <a:ea typeface="Calibri"/>
              <a:cs typeface="Calibri"/>
              <a:sym typeface="Calibri"/>
            </a:endParaRPr>
          </a:p>
        </p:txBody>
      </p:sp>
      <p:sp>
        <p:nvSpPr>
          <p:cNvPr id="391" name="Google Shape;391;p10"/>
          <p:cNvSpPr/>
          <p:nvPr/>
        </p:nvSpPr>
        <p:spPr>
          <a:xfrm>
            <a:off x="9738360" y="5742432"/>
            <a:ext cx="1901952" cy="566928"/>
          </a:xfrm>
          <a:prstGeom prst="roundRect">
            <a:avLst>
              <a:gd name="adj" fmla="val 12903"/>
            </a:avLst>
          </a:prstGeom>
          <a:solidFill>
            <a:srgbClr val="3A2E14"/>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0"/>
          <p:cNvSpPr txBox="1"/>
          <p:nvPr/>
        </p:nvSpPr>
        <p:spPr>
          <a:xfrm>
            <a:off x="9738360" y="5742432"/>
            <a:ext cx="1901952" cy="566928"/>
          </a:xfrm>
          <a:prstGeom prst="rect">
            <a:avLst/>
          </a:prstGeom>
          <a:noFill/>
          <a:ln>
            <a:noFill/>
          </a:ln>
        </p:spPr>
        <p:txBody>
          <a:bodyPr spcFirstLastPara="1" wrap="square" lIns="0" tIns="0" rIns="0" bIns="0" anchor="ctr" anchorCtr="0">
            <a:noAutofit/>
          </a:bodyPr>
          <a:lstStyle/>
          <a:p>
            <a:pPr marL="0" marR="0" lvl="0" indent="0" algn="ctr" rtl="0">
              <a:lnSpc>
                <a:spcPct val="118181"/>
              </a:lnSpc>
              <a:spcBef>
                <a:spcPts val="0"/>
              </a:spcBef>
              <a:spcAft>
                <a:spcPts val="0"/>
              </a:spcAft>
              <a:buClr>
                <a:srgbClr val="F5A623"/>
              </a:buClr>
              <a:buSzPts val="1100"/>
              <a:buFont typeface="Calibri"/>
              <a:buNone/>
            </a:pPr>
            <a:r>
              <a:rPr lang="en-US" sz="1100" b="1" i="0" u="none" strike="noStrike" cap="none">
                <a:solidFill>
                  <a:srgbClr val="F5A623"/>
                </a:solidFill>
                <a:latin typeface="Calibri"/>
                <a:ea typeface="Calibri"/>
                <a:cs typeface="Calibri"/>
                <a:sym typeface="Calibri"/>
              </a:rPr>
              <a:t>INVESTIGATION</a:t>
            </a:r>
            <a:endParaRPr sz="1100" b="0" i="0" u="none" strike="noStrike" cap="none">
              <a:solidFill>
                <a:schemeClr val="dk1"/>
              </a:solidFill>
              <a:latin typeface="Calibri"/>
              <a:ea typeface="Calibri"/>
              <a:cs typeface="Calibri"/>
              <a:sym typeface="Calibri"/>
            </a:endParaRPr>
          </a:p>
          <a:p>
            <a:pPr marL="0" marR="0" lvl="0" indent="0" algn="ctr" rtl="0">
              <a:lnSpc>
                <a:spcPct val="118181"/>
              </a:lnSpc>
              <a:spcBef>
                <a:spcPts val="0"/>
              </a:spcBef>
              <a:spcAft>
                <a:spcPts val="0"/>
              </a:spcAft>
              <a:buClr>
                <a:srgbClr val="F5A623"/>
              </a:buClr>
              <a:buSzPts val="1100"/>
              <a:buFont typeface="Calibri"/>
              <a:buNone/>
            </a:pPr>
            <a:r>
              <a:rPr lang="en-US" sz="1100" b="1" i="0" u="none" strike="noStrike" cap="none">
                <a:solidFill>
                  <a:srgbClr val="F5A623"/>
                </a:solidFill>
                <a:latin typeface="Calibri"/>
                <a:ea typeface="Calibri"/>
                <a:cs typeface="Calibri"/>
                <a:sym typeface="Calibri"/>
              </a:rPr>
              <a:t>REQUIRED</a:t>
            </a:r>
            <a:endParaRPr sz="1100" b="0" i="0" u="none" strike="noStrike" cap="none">
              <a:solidFill>
                <a:schemeClr val="dk1"/>
              </a:solidFill>
              <a:latin typeface="Calibri"/>
              <a:ea typeface="Calibri"/>
              <a:cs typeface="Calibri"/>
              <a:sym typeface="Calibri"/>
            </a:endParaRPr>
          </a:p>
        </p:txBody>
      </p:sp>
      <p:sp>
        <p:nvSpPr>
          <p:cNvPr id="4" name="TextBox 3">
            <a:extLst>
              <a:ext uri="{FF2B5EF4-FFF2-40B4-BE49-F238E27FC236}">
                <a16:creationId xmlns:a16="http://schemas.microsoft.com/office/drawing/2014/main" id="{D6484C1F-9904-90A7-7A31-443C875A693C}"/>
              </a:ext>
            </a:extLst>
          </p:cNvPr>
          <p:cNvSpPr txBox="1"/>
          <p:nvPr/>
        </p:nvSpPr>
        <p:spPr>
          <a:xfrm>
            <a:off x="11183814" y="6485488"/>
            <a:ext cx="765809" cy="230832"/>
          </a:xfrm>
          <a:prstGeom prst="rect">
            <a:avLst/>
          </a:prstGeom>
          <a:noFill/>
        </p:spPr>
        <p:txBody>
          <a:bodyPr wrap="square">
            <a:spAutoFit/>
          </a:bodyPr>
          <a:lstStyle/>
          <a:p>
            <a:pPr marL="0" marR="0" lvl="0" indent="0" algn="r" rtl="0">
              <a:spcBef>
                <a:spcPts val="0"/>
              </a:spcBef>
              <a:spcAft>
                <a:spcPts val="0"/>
              </a:spcAft>
              <a:buClr>
                <a:srgbClr val="5E6E8C"/>
              </a:buClr>
              <a:buSzPts val="900"/>
              <a:buFont typeface="Calibri"/>
              <a:buNone/>
            </a:pPr>
            <a:r>
              <a:rPr lang="en-US" sz="900" b="0" i="0" u="none" strike="noStrike" cap="none" dirty="0">
                <a:solidFill>
                  <a:srgbClr val="5E6E8C"/>
                </a:solidFill>
                <a:latin typeface="Calibri"/>
                <a:ea typeface="Calibri"/>
                <a:cs typeface="Calibri"/>
                <a:sym typeface="Calibri"/>
              </a:rPr>
              <a:t>08 / 09</a:t>
            </a:r>
            <a:endParaRPr lang="en-US" sz="900" b="0" i="0" u="none" strike="noStrike" cap="none" dirty="0">
              <a:solidFill>
                <a:schemeClr val="dk1"/>
              </a:solidFill>
              <a:latin typeface="Calibri"/>
              <a:ea typeface="Calibri"/>
              <a:cs typeface="Calibri"/>
              <a:sym typeface="Calibri"/>
            </a:endParaRPr>
          </a:p>
        </p:txBody>
      </p:sp>
      <p:sp>
        <p:nvSpPr>
          <p:cNvPr id="6" name="TextBox 5">
            <a:extLst>
              <a:ext uri="{FF2B5EF4-FFF2-40B4-BE49-F238E27FC236}">
                <a16:creationId xmlns:a16="http://schemas.microsoft.com/office/drawing/2014/main" id="{D7CD0E55-60B3-CE3E-D699-6D426A475AAA}"/>
              </a:ext>
            </a:extLst>
          </p:cNvPr>
          <p:cNvSpPr txBox="1"/>
          <p:nvPr/>
        </p:nvSpPr>
        <p:spPr>
          <a:xfrm>
            <a:off x="288828" y="6516307"/>
            <a:ext cx="6097464" cy="230832"/>
          </a:xfrm>
          <a:prstGeom prst="rect">
            <a:avLst/>
          </a:prstGeom>
          <a:noFill/>
        </p:spPr>
        <p:txBody>
          <a:bodyPr wrap="square">
            <a:spAutoFit/>
          </a:bodyPr>
          <a:lstStyle/>
          <a:p>
            <a:pPr marL="0" marR="0" lvl="0" indent="0" algn="l" rtl="0">
              <a:spcBef>
                <a:spcPts val="0"/>
              </a:spcBef>
              <a:spcAft>
                <a:spcPts val="0"/>
              </a:spcAft>
              <a:buClr>
                <a:srgbClr val="5E6E8C"/>
              </a:buClr>
              <a:buSzPts val="900"/>
              <a:buFont typeface="Calibri"/>
              <a:buNone/>
            </a:pPr>
            <a:r>
              <a:rPr lang="en-US" sz="900" b="0" i="0" u="none" strike="noStrike" cap="none" dirty="0">
                <a:solidFill>
                  <a:srgbClr val="5E6E8C"/>
                </a:solidFill>
                <a:latin typeface="Calibri"/>
                <a:ea typeface="Calibri"/>
                <a:cs typeface="Calibri"/>
                <a:sym typeface="Calibri"/>
              </a:rPr>
              <a:t>AI-POWERED PCAP ANALYSIS &amp; THREAT DETECTION</a:t>
            </a:r>
            <a:endParaRPr lang="en-US" sz="9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640080"/>
          </a:xfrm>
          <a:prstGeom prst="rect">
            <a:avLst/>
          </a:prstGeom>
          <a:noFill/>
        </p:spPr>
        <p:txBody>
          <a:bodyPr wrap="square" lIns="0" tIns="0" rIns="0" bIns="0" anchor="t">
            <a:spAutoFit/>
          </a:bodyPr>
          <a:lstStyle/>
          <a:p>
            <a:pPr algn="l"/>
            <a:r>
              <a:rPr sz="3000" b="1" i="0">
                <a:solidFill>
                  <a:srgbClr val="F4F7FB"/>
                </a:solidFill>
                <a:latin typeface="Calibri"/>
              </a:rPr>
              <a:t>Lessons Learned &amp; Conclusion</a:t>
            </a:r>
          </a:p>
        </p:txBody>
      </p:sp>
      <p:sp>
        <p:nvSpPr>
          <p:cNvPr id="3" name="Rounded Rectangle 2"/>
          <p:cNvSpPr/>
          <p:nvPr/>
        </p:nvSpPr>
        <p:spPr>
          <a:xfrm>
            <a:off x="548640" y="1078992"/>
            <a:ext cx="3514039" cy="1481328"/>
          </a:xfrm>
          <a:prstGeom prst="roundRect">
            <a:avLst>
              <a:gd name="adj" fmla="val 5555"/>
            </a:avLst>
          </a:prstGeom>
          <a:solidFill>
            <a:srgbClr val="121B2E"/>
          </a:solidFill>
          <a:ln w="12700">
            <a:solidFill>
              <a:srgbClr val="223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68095" y="1234440"/>
            <a:ext cx="420624" cy="420624"/>
          </a:xfrm>
          <a:prstGeom prst="ellipse">
            <a:avLst/>
          </a:prstGeom>
          <a:solidFill>
            <a:srgbClr val="163244"/>
          </a:solidFill>
          <a:ln w="12700">
            <a:solidFill>
              <a:srgbClr val="35C6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5" y="1225296"/>
            <a:ext cx="420624" cy="420624"/>
          </a:xfrm>
          <a:prstGeom prst="rect">
            <a:avLst/>
          </a:prstGeom>
          <a:noFill/>
        </p:spPr>
        <p:txBody>
          <a:bodyPr wrap="square" lIns="0" tIns="0" rIns="0" bIns="0" anchor="ctr">
            <a:spAutoFit/>
          </a:bodyPr>
          <a:lstStyle/>
          <a:p>
            <a:pPr algn="ctr"/>
            <a:r>
              <a:rPr sz="1500" b="1" i="0">
                <a:solidFill>
                  <a:srgbClr val="35C6F4"/>
                </a:solidFill>
                <a:latin typeface="Calibri"/>
              </a:rPr>
              <a:t>▤</a:t>
            </a:r>
          </a:p>
        </p:txBody>
      </p:sp>
      <p:sp>
        <p:nvSpPr>
          <p:cNvPr id="6" name="TextBox 5"/>
          <p:cNvSpPr txBox="1"/>
          <p:nvPr/>
        </p:nvSpPr>
        <p:spPr>
          <a:xfrm>
            <a:off x="1325880" y="1261872"/>
            <a:ext cx="2553919" cy="237744"/>
          </a:xfrm>
          <a:prstGeom prst="rect">
            <a:avLst/>
          </a:prstGeom>
          <a:noFill/>
        </p:spPr>
        <p:txBody>
          <a:bodyPr wrap="square" lIns="0" tIns="0" rIns="0" bIns="0" anchor="t">
            <a:spAutoFit/>
          </a:bodyPr>
          <a:lstStyle/>
          <a:p>
            <a:pPr algn="l"/>
            <a:r>
              <a:rPr sz="900" b="1" i="0" spc="120">
                <a:solidFill>
                  <a:srgbClr val="F5A623"/>
                </a:solidFill>
                <a:latin typeface="Calibri"/>
              </a:rPr>
              <a:t>LESSON 1</a:t>
            </a:r>
          </a:p>
        </p:txBody>
      </p:sp>
      <p:sp>
        <p:nvSpPr>
          <p:cNvPr id="7" name="TextBox 6"/>
          <p:cNvSpPr txBox="1"/>
          <p:nvPr/>
        </p:nvSpPr>
        <p:spPr>
          <a:xfrm>
            <a:off x="777240" y="1682495"/>
            <a:ext cx="3056839" cy="310896"/>
          </a:xfrm>
          <a:prstGeom prst="rect">
            <a:avLst/>
          </a:prstGeom>
          <a:noFill/>
        </p:spPr>
        <p:txBody>
          <a:bodyPr wrap="square" lIns="0" tIns="0" rIns="0" bIns="0" anchor="t">
            <a:spAutoFit/>
          </a:bodyPr>
          <a:lstStyle/>
          <a:p>
            <a:pPr algn="l"/>
            <a:r>
              <a:rPr sz="1400" b="1" i="0">
                <a:solidFill>
                  <a:srgbClr val="F4F7FB"/>
                </a:solidFill>
                <a:latin typeface="Calibri"/>
              </a:rPr>
              <a:t>Data Validation</a:t>
            </a:r>
          </a:p>
        </p:txBody>
      </p:sp>
      <p:sp>
        <p:nvSpPr>
          <p:cNvPr id="8" name="TextBox 7"/>
          <p:cNvSpPr txBox="1"/>
          <p:nvPr/>
        </p:nvSpPr>
        <p:spPr>
          <a:xfrm>
            <a:off x="777240" y="2011680"/>
            <a:ext cx="3056839" cy="457200"/>
          </a:xfrm>
          <a:prstGeom prst="rect">
            <a:avLst/>
          </a:prstGeom>
          <a:noFill/>
        </p:spPr>
        <p:txBody>
          <a:bodyPr wrap="square" lIns="0" tIns="0" rIns="0" bIns="0" anchor="t">
            <a:spAutoFit/>
          </a:bodyPr>
          <a:lstStyle/>
          <a:p>
            <a:pPr algn="l">
              <a:lnSpc>
                <a:spcPts val="1300"/>
              </a:lnSpc>
            </a:pPr>
            <a:r>
              <a:rPr sz="1050" b="0" i="0">
                <a:solidFill>
                  <a:srgbClr val="94A3BE"/>
                </a:solidFill>
                <a:latin typeface="Calibri"/>
              </a:rPr>
              <a:t>Reliable analysis depends on correctly structured, validated traffic data.</a:t>
            </a:r>
          </a:p>
        </p:txBody>
      </p:sp>
      <p:sp>
        <p:nvSpPr>
          <p:cNvPr id="9" name="Rounded Rectangle 8"/>
          <p:cNvSpPr/>
          <p:nvPr/>
        </p:nvSpPr>
        <p:spPr>
          <a:xfrm>
            <a:off x="4336999" y="1078992"/>
            <a:ext cx="3514039" cy="1481328"/>
          </a:xfrm>
          <a:prstGeom prst="roundRect">
            <a:avLst>
              <a:gd name="adj" fmla="val 5555"/>
            </a:avLst>
          </a:prstGeom>
          <a:solidFill>
            <a:srgbClr val="121B2E"/>
          </a:solidFill>
          <a:ln w="12700">
            <a:solidFill>
              <a:srgbClr val="223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556455" y="1234440"/>
            <a:ext cx="420624" cy="420624"/>
          </a:xfrm>
          <a:prstGeom prst="ellipse">
            <a:avLst/>
          </a:prstGeom>
          <a:solidFill>
            <a:srgbClr val="163244"/>
          </a:solidFill>
          <a:ln w="12700">
            <a:solidFill>
              <a:srgbClr val="35C6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56455" y="1234440"/>
            <a:ext cx="420624" cy="420624"/>
          </a:xfrm>
          <a:prstGeom prst="rect">
            <a:avLst/>
          </a:prstGeom>
          <a:noFill/>
        </p:spPr>
        <p:txBody>
          <a:bodyPr wrap="square" lIns="0" tIns="0" rIns="0" bIns="0" anchor="ctr">
            <a:spAutoFit/>
          </a:bodyPr>
          <a:lstStyle/>
          <a:p>
            <a:pPr algn="ctr"/>
            <a:r>
              <a:rPr sz="1500" b="1" i="0" dirty="0">
                <a:solidFill>
                  <a:srgbClr val="35C6F4"/>
                </a:solidFill>
                <a:latin typeface="Calibri"/>
              </a:rPr>
              <a:t>◉</a:t>
            </a:r>
          </a:p>
        </p:txBody>
      </p:sp>
      <p:sp>
        <p:nvSpPr>
          <p:cNvPr id="12" name="TextBox 11"/>
          <p:cNvSpPr txBox="1"/>
          <p:nvPr/>
        </p:nvSpPr>
        <p:spPr>
          <a:xfrm>
            <a:off x="5114239" y="1261872"/>
            <a:ext cx="2553919" cy="237744"/>
          </a:xfrm>
          <a:prstGeom prst="rect">
            <a:avLst/>
          </a:prstGeom>
          <a:noFill/>
        </p:spPr>
        <p:txBody>
          <a:bodyPr wrap="square" lIns="0" tIns="0" rIns="0" bIns="0" anchor="t">
            <a:spAutoFit/>
          </a:bodyPr>
          <a:lstStyle/>
          <a:p>
            <a:pPr algn="l"/>
            <a:r>
              <a:rPr sz="900" b="1" i="0" spc="120">
                <a:solidFill>
                  <a:srgbClr val="F5A623"/>
                </a:solidFill>
                <a:latin typeface="Calibri"/>
              </a:rPr>
              <a:t>LESSON 2</a:t>
            </a:r>
          </a:p>
        </p:txBody>
      </p:sp>
      <p:sp>
        <p:nvSpPr>
          <p:cNvPr id="13" name="TextBox 12"/>
          <p:cNvSpPr txBox="1"/>
          <p:nvPr/>
        </p:nvSpPr>
        <p:spPr>
          <a:xfrm>
            <a:off x="4565599" y="1682495"/>
            <a:ext cx="3056839" cy="310896"/>
          </a:xfrm>
          <a:prstGeom prst="rect">
            <a:avLst/>
          </a:prstGeom>
          <a:noFill/>
        </p:spPr>
        <p:txBody>
          <a:bodyPr wrap="square" lIns="0" tIns="0" rIns="0" bIns="0" anchor="t">
            <a:spAutoFit/>
          </a:bodyPr>
          <a:lstStyle/>
          <a:p>
            <a:pPr algn="l"/>
            <a:r>
              <a:rPr sz="1400" b="1" i="0">
                <a:solidFill>
                  <a:srgbClr val="F4F7FB"/>
                </a:solidFill>
                <a:latin typeface="Calibri"/>
              </a:rPr>
              <a:t>AI Accelerates Analysis</a:t>
            </a:r>
          </a:p>
        </p:txBody>
      </p:sp>
      <p:sp>
        <p:nvSpPr>
          <p:cNvPr id="14" name="TextBox 13"/>
          <p:cNvSpPr txBox="1"/>
          <p:nvPr/>
        </p:nvSpPr>
        <p:spPr>
          <a:xfrm>
            <a:off x="4565599" y="2011680"/>
            <a:ext cx="3056839" cy="457200"/>
          </a:xfrm>
          <a:prstGeom prst="rect">
            <a:avLst/>
          </a:prstGeom>
          <a:noFill/>
        </p:spPr>
        <p:txBody>
          <a:bodyPr wrap="square" lIns="0" tIns="0" rIns="0" bIns="0" anchor="t">
            <a:spAutoFit/>
          </a:bodyPr>
          <a:lstStyle/>
          <a:p>
            <a:pPr algn="l">
              <a:lnSpc>
                <a:spcPts val="1300"/>
              </a:lnSpc>
            </a:pPr>
            <a:r>
              <a:rPr sz="1050" b="0" i="0">
                <a:solidFill>
                  <a:srgbClr val="94A3BE"/>
                </a:solidFill>
                <a:latin typeface="Calibri"/>
              </a:rPr>
              <a:t>AI helped identify patterns, relationships, and investigation priorities efficiently.</a:t>
            </a:r>
          </a:p>
        </p:txBody>
      </p:sp>
      <p:sp>
        <p:nvSpPr>
          <p:cNvPr id="15" name="Rounded Rectangle 14"/>
          <p:cNvSpPr/>
          <p:nvPr/>
        </p:nvSpPr>
        <p:spPr>
          <a:xfrm>
            <a:off x="8125358" y="1078992"/>
            <a:ext cx="3514039" cy="1481328"/>
          </a:xfrm>
          <a:prstGeom prst="roundRect">
            <a:avLst>
              <a:gd name="adj" fmla="val 5555"/>
            </a:avLst>
          </a:prstGeom>
          <a:solidFill>
            <a:srgbClr val="121B2E"/>
          </a:solidFill>
          <a:ln w="12700">
            <a:solidFill>
              <a:srgbClr val="223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344814" y="1234440"/>
            <a:ext cx="420624" cy="420624"/>
          </a:xfrm>
          <a:prstGeom prst="ellipse">
            <a:avLst/>
          </a:prstGeom>
          <a:solidFill>
            <a:srgbClr val="163244"/>
          </a:solidFill>
          <a:ln w="12700">
            <a:solidFill>
              <a:srgbClr val="35C6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44814" y="1225296"/>
            <a:ext cx="420624" cy="420624"/>
          </a:xfrm>
          <a:prstGeom prst="rect">
            <a:avLst/>
          </a:prstGeom>
          <a:noFill/>
        </p:spPr>
        <p:txBody>
          <a:bodyPr wrap="square" lIns="0" tIns="0" rIns="0" bIns="0" anchor="ctr">
            <a:spAutoFit/>
          </a:bodyPr>
          <a:lstStyle/>
          <a:p>
            <a:pPr algn="ctr"/>
            <a:r>
              <a:rPr sz="1500" b="1" i="0">
                <a:solidFill>
                  <a:srgbClr val="35C6F4"/>
                </a:solidFill>
                <a:latin typeface="Calibri"/>
              </a:rPr>
              <a:t>✓</a:t>
            </a:r>
          </a:p>
        </p:txBody>
      </p:sp>
      <p:sp>
        <p:nvSpPr>
          <p:cNvPr id="18" name="TextBox 17"/>
          <p:cNvSpPr txBox="1"/>
          <p:nvPr/>
        </p:nvSpPr>
        <p:spPr>
          <a:xfrm>
            <a:off x="8902598" y="1261872"/>
            <a:ext cx="2553919" cy="237744"/>
          </a:xfrm>
          <a:prstGeom prst="rect">
            <a:avLst/>
          </a:prstGeom>
          <a:noFill/>
        </p:spPr>
        <p:txBody>
          <a:bodyPr wrap="square" lIns="0" tIns="0" rIns="0" bIns="0" anchor="t">
            <a:spAutoFit/>
          </a:bodyPr>
          <a:lstStyle/>
          <a:p>
            <a:pPr algn="l"/>
            <a:r>
              <a:rPr sz="900" b="1" i="0" spc="120">
                <a:solidFill>
                  <a:srgbClr val="F5A623"/>
                </a:solidFill>
                <a:latin typeface="Calibri"/>
              </a:rPr>
              <a:t>LESSON 3</a:t>
            </a:r>
          </a:p>
        </p:txBody>
      </p:sp>
      <p:sp>
        <p:nvSpPr>
          <p:cNvPr id="19" name="TextBox 18"/>
          <p:cNvSpPr txBox="1"/>
          <p:nvPr/>
        </p:nvSpPr>
        <p:spPr>
          <a:xfrm>
            <a:off x="8353958" y="1682495"/>
            <a:ext cx="3056839" cy="310896"/>
          </a:xfrm>
          <a:prstGeom prst="rect">
            <a:avLst/>
          </a:prstGeom>
          <a:noFill/>
        </p:spPr>
        <p:txBody>
          <a:bodyPr wrap="square" lIns="0" tIns="0" rIns="0" bIns="0" anchor="t">
            <a:spAutoFit/>
          </a:bodyPr>
          <a:lstStyle/>
          <a:p>
            <a:pPr algn="l"/>
            <a:r>
              <a:rPr sz="1400" b="1" i="0">
                <a:solidFill>
                  <a:srgbClr val="F4F7FB"/>
                </a:solidFill>
                <a:latin typeface="Calibri"/>
              </a:rPr>
              <a:t>Verify AI Results</a:t>
            </a:r>
          </a:p>
        </p:txBody>
      </p:sp>
      <p:sp>
        <p:nvSpPr>
          <p:cNvPr id="20" name="TextBox 19"/>
          <p:cNvSpPr txBox="1"/>
          <p:nvPr/>
        </p:nvSpPr>
        <p:spPr>
          <a:xfrm>
            <a:off x="8353958" y="2011680"/>
            <a:ext cx="3056839" cy="457200"/>
          </a:xfrm>
          <a:prstGeom prst="rect">
            <a:avLst/>
          </a:prstGeom>
          <a:noFill/>
        </p:spPr>
        <p:txBody>
          <a:bodyPr wrap="square" lIns="0" tIns="0" rIns="0" bIns="0" anchor="t">
            <a:spAutoFit/>
          </a:bodyPr>
          <a:lstStyle/>
          <a:p>
            <a:pPr algn="l">
              <a:lnSpc>
                <a:spcPts val="1300"/>
              </a:lnSpc>
            </a:pPr>
            <a:r>
              <a:rPr sz="1050" b="0" i="0">
                <a:solidFill>
                  <a:srgbClr val="94A3BE"/>
                </a:solidFill>
                <a:latin typeface="Calibri"/>
              </a:rPr>
              <a:t>AI observations must be checked against the dataset and statistical analysis.</a:t>
            </a:r>
          </a:p>
        </p:txBody>
      </p:sp>
      <p:sp>
        <p:nvSpPr>
          <p:cNvPr id="21" name="Rounded Rectangle 20"/>
          <p:cNvSpPr/>
          <p:nvPr/>
        </p:nvSpPr>
        <p:spPr>
          <a:xfrm>
            <a:off x="2443276" y="2724912"/>
            <a:ext cx="3514039" cy="1481328"/>
          </a:xfrm>
          <a:prstGeom prst="roundRect">
            <a:avLst>
              <a:gd name="adj" fmla="val 5555"/>
            </a:avLst>
          </a:prstGeom>
          <a:solidFill>
            <a:srgbClr val="121B2E"/>
          </a:solidFill>
          <a:ln w="12700">
            <a:solidFill>
              <a:srgbClr val="223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662732" y="2880360"/>
            <a:ext cx="420624" cy="420624"/>
          </a:xfrm>
          <a:prstGeom prst="ellipse">
            <a:avLst/>
          </a:prstGeom>
          <a:solidFill>
            <a:srgbClr val="3A2E14"/>
          </a:solidFill>
          <a:ln w="127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662732" y="2871216"/>
            <a:ext cx="420624" cy="420624"/>
          </a:xfrm>
          <a:prstGeom prst="rect">
            <a:avLst/>
          </a:prstGeom>
          <a:noFill/>
        </p:spPr>
        <p:txBody>
          <a:bodyPr wrap="square" lIns="0" tIns="0" rIns="0" bIns="0" anchor="ctr">
            <a:spAutoFit/>
          </a:bodyPr>
          <a:lstStyle/>
          <a:p>
            <a:pPr algn="ctr"/>
            <a:r>
              <a:rPr sz="1500" b="1" i="0">
                <a:solidFill>
                  <a:srgbClr val="F5A623"/>
                </a:solidFill>
                <a:latin typeface="Calibri"/>
              </a:rPr>
              <a:t>≠</a:t>
            </a:r>
          </a:p>
        </p:txBody>
      </p:sp>
      <p:sp>
        <p:nvSpPr>
          <p:cNvPr id="24" name="TextBox 23"/>
          <p:cNvSpPr txBox="1"/>
          <p:nvPr/>
        </p:nvSpPr>
        <p:spPr>
          <a:xfrm>
            <a:off x="3220516" y="2907792"/>
            <a:ext cx="2553919" cy="237744"/>
          </a:xfrm>
          <a:prstGeom prst="rect">
            <a:avLst/>
          </a:prstGeom>
          <a:noFill/>
        </p:spPr>
        <p:txBody>
          <a:bodyPr wrap="square" lIns="0" tIns="0" rIns="0" bIns="0" anchor="t">
            <a:spAutoFit/>
          </a:bodyPr>
          <a:lstStyle/>
          <a:p>
            <a:pPr algn="l"/>
            <a:r>
              <a:rPr sz="900" b="1" i="0" spc="120">
                <a:solidFill>
                  <a:srgbClr val="F5A623"/>
                </a:solidFill>
                <a:latin typeface="Calibri"/>
              </a:rPr>
              <a:t>LESSON 4</a:t>
            </a:r>
          </a:p>
        </p:txBody>
      </p:sp>
      <p:sp>
        <p:nvSpPr>
          <p:cNvPr id="25" name="TextBox 24"/>
          <p:cNvSpPr txBox="1"/>
          <p:nvPr/>
        </p:nvSpPr>
        <p:spPr>
          <a:xfrm>
            <a:off x="2671876" y="3328416"/>
            <a:ext cx="3056839" cy="310896"/>
          </a:xfrm>
          <a:prstGeom prst="rect">
            <a:avLst/>
          </a:prstGeom>
          <a:noFill/>
        </p:spPr>
        <p:txBody>
          <a:bodyPr wrap="square" lIns="0" tIns="0" rIns="0" bIns="0" anchor="t">
            <a:spAutoFit/>
          </a:bodyPr>
          <a:lstStyle/>
          <a:p>
            <a:pPr algn="l"/>
            <a:r>
              <a:rPr sz="1400" b="1" i="0">
                <a:solidFill>
                  <a:srgbClr val="F4F7FB"/>
                </a:solidFill>
                <a:latin typeface="Calibri"/>
              </a:rPr>
              <a:t>Unusual ≠ Malicious</a:t>
            </a:r>
          </a:p>
        </p:txBody>
      </p:sp>
      <p:sp>
        <p:nvSpPr>
          <p:cNvPr id="26" name="TextBox 25"/>
          <p:cNvSpPr txBox="1"/>
          <p:nvPr/>
        </p:nvSpPr>
        <p:spPr>
          <a:xfrm>
            <a:off x="2671876" y="3657600"/>
            <a:ext cx="3056839" cy="457200"/>
          </a:xfrm>
          <a:prstGeom prst="rect">
            <a:avLst/>
          </a:prstGeom>
          <a:noFill/>
        </p:spPr>
        <p:txBody>
          <a:bodyPr wrap="square" lIns="0" tIns="0" rIns="0" bIns="0" anchor="t">
            <a:spAutoFit/>
          </a:bodyPr>
          <a:lstStyle/>
          <a:p>
            <a:pPr algn="l">
              <a:lnSpc>
                <a:spcPts val="1300"/>
              </a:lnSpc>
            </a:pPr>
            <a:r>
              <a:rPr sz="1050" b="0" i="0">
                <a:solidFill>
                  <a:srgbClr val="94A3BE"/>
                </a:solidFill>
                <a:latin typeface="Calibri"/>
              </a:rPr>
              <a:t>Unusual behaviour must be validated before being classified as an attack.</a:t>
            </a:r>
          </a:p>
        </p:txBody>
      </p:sp>
      <p:sp>
        <p:nvSpPr>
          <p:cNvPr id="27" name="Rounded Rectangle 26"/>
          <p:cNvSpPr/>
          <p:nvPr/>
        </p:nvSpPr>
        <p:spPr>
          <a:xfrm>
            <a:off x="6231636" y="2724912"/>
            <a:ext cx="3514039" cy="1481328"/>
          </a:xfrm>
          <a:prstGeom prst="roundRect">
            <a:avLst>
              <a:gd name="adj" fmla="val 5555"/>
            </a:avLst>
          </a:prstGeom>
          <a:solidFill>
            <a:srgbClr val="121B2E"/>
          </a:solidFill>
          <a:ln w="12700">
            <a:solidFill>
              <a:srgbClr val="223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451092" y="2880360"/>
            <a:ext cx="420624" cy="420624"/>
          </a:xfrm>
          <a:prstGeom prst="ellipse">
            <a:avLst/>
          </a:prstGeom>
          <a:solidFill>
            <a:srgbClr val="163244"/>
          </a:solidFill>
          <a:ln w="12700">
            <a:solidFill>
              <a:srgbClr val="35C6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51092" y="2871216"/>
            <a:ext cx="420624" cy="420624"/>
          </a:xfrm>
          <a:prstGeom prst="rect">
            <a:avLst/>
          </a:prstGeom>
          <a:noFill/>
        </p:spPr>
        <p:txBody>
          <a:bodyPr wrap="square" lIns="0" tIns="0" rIns="0" bIns="0" anchor="ctr">
            <a:spAutoFit/>
          </a:bodyPr>
          <a:lstStyle/>
          <a:p>
            <a:pPr algn="ctr"/>
            <a:r>
              <a:rPr sz="1500" b="1" i="0">
                <a:solidFill>
                  <a:srgbClr val="35C6F4"/>
                </a:solidFill>
                <a:latin typeface="Calibri"/>
              </a:rPr>
              <a:t>▦</a:t>
            </a:r>
          </a:p>
        </p:txBody>
      </p:sp>
      <p:sp>
        <p:nvSpPr>
          <p:cNvPr id="30" name="TextBox 29"/>
          <p:cNvSpPr txBox="1"/>
          <p:nvPr/>
        </p:nvSpPr>
        <p:spPr>
          <a:xfrm>
            <a:off x="7008876" y="2907792"/>
            <a:ext cx="2553919" cy="237744"/>
          </a:xfrm>
          <a:prstGeom prst="rect">
            <a:avLst/>
          </a:prstGeom>
          <a:noFill/>
        </p:spPr>
        <p:txBody>
          <a:bodyPr wrap="square" lIns="0" tIns="0" rIns="0" bIns="0" anchor="t">
            <a:spAutoFit/>
          </a:bodyPr>
          <a:lstStyle/>
          <a:p>
            <a:pPr algn="l"/>
            <a:r>
              <a:rPr sz="900" b="1" i="0" spc="120">
                <a:solidFill>
                  <a:srgbClr val="F5A623"/>
                </a:solidFill>
                <a:latin typeface="Calibri"/>
              </a:rPr>
              <a:t>LESSON 5</a:t>
            </a:r>
          </a:p>
        </p:txBody>
      </p:sp>
      <p:sp>
        <p:nvSpPr>
          <p:cNvPr id="31" name="TextBox 30"/>
          <p:cNvSpPr txBox="1"/>
          <p:nvPr/>
        </p:nvSpPr>
        <p:spPr>
          <a:xfrm>
            <a:off x="6460236" y="3328416"/>
            <a:ext cx="3056839" cy="310896"/>
          </a:xfrm>
          <a:prstGeom prst="rect">
            <a:avLst/>
          </a:prstGeom>
          <a:noFill/>
        </p:spPr>
        <p:txBody>
          <a:bodyPr wrap="square" lIns="0" tIns="0" rIns="0" bIns="0" anchor="t">
            <a:spAutoFit/>
          </a:bodyPr>
          <a:lstStyle/>
          <a:p>
            <a:pPr algn="l"/>
            <a:r>
              <a:rPr sz="1400" b="1" i="0">
                <a:solidFill>
                  <a:srgbClr val="F4F7FB"/>
                </a:solidFill>
                <a:latin typeface="Calibri"/>
              </a:rPr>
              <a:t>Visualization Helps</a:t>
            </a:r>
          </a:p>
        </p:txBody>
      </p:sp>
      <p:sp>
        <p:nvSpPr>
          <p:cNvPr id="32" name="TextBox 31"/>
          <p:cNvSpPr txBox="1"/>
          <p:nvPr/>
        </p:nvSpPr>
        <p:spPr>
          <a:xfrm>
            <a:off x="6460236" y="3657600"/>
            <a:ext cx="3056839" cy="457200"/>
          </a:xfrm>
          <a:prstGeom prst="rect">
            <a:avLst/>
          </a:prstGeom>
          <a:noFill/>
        </p:spPr>
        <p:txBody>
          <a:bodyPr wrap="square" lIns="0" tIns="0" rIns="0" bIns="0" anchor="t">
            <a:spAutoFit/>
          </a:bodyPr>
          <a:lstStyle/>
          <a:p>
            <a:pPr algn="l">
              <a:lnSpc>
                <a:spcPts val="1300"/>
              </a:lnSpc>
            </a:pPr>
            <a:r>
              <a:rPr sz="1050" b="0" i="0">
                <a:solidFill>
                  <a:srgbClr val="94A3BE"/>
                </a:solidFill>
                <a:latin typeface="Calibri"/>
              </a:rPr>
              <a:t>Visuals make complex relationships, anomalies, and timelines easier to understand.</a:t>
            </a:r>
          </a:p>
        </p:txBody>
      </p:sp>
      <p:sp>
        <p:nvSpPr>
          <p:cNvPr id="33" name="Rounded Rectangle 32"/>
          <p:cNvSpPr/>
          <p:nvPr/>
        </p:nvSpPr>
        <p:spPr>
          <a:xfrm>
            <a:off x="548640" y="4434840"/>
            <a:ext cx="11091672" cy="777240"/>
          </a:xfrm>
          <a:prstGeom prst="roundRect">
            <a:avLst>
              <a:gd name="adj" fmla="val 10588"/>
            </a:avLst>
          </a:prstGeom>
          <a:solidFill>
            <a:srgbClr val="0E1626"/>
          </a:solidFill>
          <a:ln w="9525">
            <a:solidFill>
              <a:srgbClr val="1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68680" y="4434840"/>
            <a:ext cx="10451592" cy="777240"/>
          </a:xfrm>
          <a:prstGeom prst="rect">
            <a:avLst/>
          </a:prstGeom>
          <a:noFill/>
        </p:spPr>
        <p:txBody>
          <a:bodyPr wrap="square" lIns="0" tIns="0" rIns="0" bIns="0" anchor="ctr">
            <a:spAutoFit/>
          </a:bodyPr>
          <a:lstStyle/>
          <a:p>
            <a:pPr algn="ctr">
              <a:lnSpc>
                <a:spcPts val="1800"/>
              </a:lnSpc>
            </a:pPr>
            <a:r>
              <a:rPr sz="1450" b="1" i="1">
                <a:solidFill>
                  <a:srgbClr val="35C6F4"/>
                </a:solidFill>
                <a:latin typeface="Calibri"/>
              </a:rPr>
              <a:t>“AI can accelerate cybersecurity investigation, but analyst verification and additional evidence are required before confirming compromise.”</a:t>
            </a:r>
          </a:p>
        </p:txBody>
      </p:sp>
      <p:sp>
        <p:nvSpPr>
          <p:cNvPr id="35" name="Rounded Rectangle 34"/>
          <p:cNvSpPr/>
          <p:nvPr/>
        </p:nvSpPr>
        <p:spPr>
          <a:xfrm>
            <a:off x="4498848" y="5376671"/>
            <a:ext cx="3200400" cy="457200"/>
          </a:xfrm>
          <a:prstGeom prst="roundRect">
            <a:avLst>
              <a:gd name="adj" fmla="val 50000"/>
            </a:avLst>
          </a:prstGeom>
          <a:solidFill>
            <a:srgbClr val="3A2E14"/>
          </a:solidFill>
          <a:ln w="127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498848" y="5376671"/>
            <a:ext cx="3200400" cy="457200"/>
          </a:xfrm>
          <a:prstGeom prst="rect">
            <a:avLst/>
          </a:prstGeom>
          <a:noFill/>
        </p:spPr>
        <p:txBody>
          <a:bodyPr wrap="square" lIns="0" tIns="0" rIns="0" bIns="0" anchor="ctr">
            <a:spAutoFit/>
          </a:bodyPr>
          <a:lstStyle/>
          <a:p>
            <a:pPr algn="ctr"/>
            <a:r>
              <a:rPr sz="1150" b="1" i="0" spc="50">
                <a:solidFill>
                  <a:srgbClr val="F5A623"/>
                </a:solidFill>
                <a:latin typeface="Calibri"/>
              </a:rPr>
              <a:t>FINAL TAKEAWAY:  INVESTIGATION REQUIRED</a:t>
            </a:r>
          </a:p>
        </p:txBody>
      </p:sp>
      <p:sp>
        <p:nvSpPr>
          <p:cNvPr id="37" name="TextBox 36"/>
          <p:cNvSpPr txBox="1"/>
          <p:nvPr/>
        </p:nvSpPr>
        <p:spPr>
          <a:xfrm>
            <a:off x="548640" y="6565392"/>
            <a:ext cx="6400800" cy="256032"/>
          </a:xfrm>
          <a:prstGeom prst="rect">
            <a:avLst/>
          </a:prstGeom>
          <a:noFill/>
        </p:spPr>
        <p:txBody>
          <a:bodyPr wrap="square" lIns="0" tIns="0" rIns="0" bIns="0" anchor="t">
            <a:spAutoFit/>
          </a:bodyPr>
          <a:lstStyle/>
          <a:p>
            <a:pPr algn="l"/>
            <a:r>
              <a:rPr sz="900" b="0" i="0" spc="100">
                <a:solidFill>
                  <a:srgbClr val="5E6E8C"/>
                </a:solidFill>
                <a:latin typeface="Calibri"/>
              </a:rPr>
              <a:t>AI-POWERED PCAP ANALYSIS &amp; THREAT DETECTION</a:t>
            </a:r>
          </a:p>
        </p:txBody>
      </p:sp>
      <p:sp>
        <p:nvSpPr>
          <p:cNvPr id="38" name="TextBox 37"/>
          <p:cNvSpPr txBox="1"/>
          <p:nvPr/>
        </p:nvSpPr>
        <p:spPr>
          <a:xfrm>
            <a:off x="10972800" y="6565392"/>
            <a:ext cx="667512" cy="256032"/>
          </a:xfrm>
          <a:prstGeom prst="rect">
            <a:avLst/>
          </a:prstGeom>
          <a:noFill/>
        </p:spPr>
        <p:txBody>
          <a:bodyPr wrap="square" lIns="0" tIns="0" rIns="0" bIns="0" anchor="t">
            <a:spAutoFit/>
          </a:bodyPr>
          <a:lstStyle/>
          <a:p>
            <a:pPr algn="r"/>
            <a:r>
              <a:rPr sz="900" b="0" i="0">
                <a:solidFill>
                  <a:srgbClr val="5E6E8C"/>
                </a:solidFill>
                <a:latin typeface="Calibri"/>
              </a:rPr>
              <a:t>09 / 09</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1078</Words>
  <Application>Microsoft Office PowerPoint</Application>
  <PresentationFormat>Widescreen</PresentationFormat>
  <Paragraphs>274</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Suraj Somkuwar</dc:creator>
  <cp:lastModifiedBy>Suraj Somkuwar</cp:lastModifiedBy>
  <cp:revision>9</cp:revision>
  <dcterms:modified xsi:type="dcterms:W3CDTF">2026-09-06T15:39:50Z</dcterms:modified>
</cp:coreProperties>
</file>